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4.svg" ContentType="image/svg+xml"/>
  <Override PartName="/ppt/media/image42.svg" ContentType="image/svg+xml"/>
  <Override PartName="/ppt/media/image4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64" r:id="rId1"/>
    <p:sldMasterId id="2147483994" r:id="rId2"/>
  </p:sldMasterIdLst>
  <p:notesMasterIdLst>
    <p:notesMasterId r:id="rId19"/>
  </p:notesMasterIdLst>
  <p:handoutMasterIdLst>
    <p:handoutMasterId r:id="rId20"/>
  </p:handoutMasterIdLst>
  <p:sldIdLst>
    <p:sldId id="397" r:id="rId3"/>
    <p:sldId id="398" r:id="rId4"/>
    <p:sldId id="430" r:id="rId5"/>
    <p:sldId id="400" r:id="rId6"/>
    <p:sldId id="401" r:id="rId7"/>
    <p:sldId id="388" r:id="rId8"/>
    <p:sldId id="402" r:id="rId9"/>
    <p:sldId id="403" r:id="rId10"/>
    <p:sldId id="391" r:id="rId11"/>
    <p:sldId id="404" r:id="rId12"/>
    <p:sldId id="414" r:id="rId13"/>
    <p:sldId id="420" r:id="rId14"/>
    <p:sldId id="421" r:id="rId15"/>
    <p:sldId id="417" r:id="rId16"/>
    <p:sldId id="429" r:id="rId17"/>
    <p:sldId id="407" r:id="rId18"/>
  </p:sldIdLst>
  <p:sldSz cx="12192000" cy="6858000"/>
  <p:notesSz cx="6858000" cy="12192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TB Omega UI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TB Omega UI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TB Omega UI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TB Omega UI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TB Omega UI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TB Omega UI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TB Omega UI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TB Omega UI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TB Omega UI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50">
          <p15:clr>
            <a:srgbClr val="A4A3A4"/>
          </p15:clr>
        </p15:guide>
        <p15:guide id="2" pos="7446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pos="1164" userDrawn="1">
          <p15:clr>
            <a:srgbClr val="A4A3A4"/>
          </p15:clr>
        </p15:guide>
        <p15:guide id="5" orient="horz" pos="867">
          <p15:clr>
            <a:srgbClr val="A4A3A4"/>
          </p15:clr>
        </p15:guide>
        <p15:guide id="6" pos="4815" userDrawn="1">
          <p15:clr>
            <a:srgbClr val="A4A3A4"/>
          </p15:clr>
        </p15:guide>
        <p15:guide id="7" orient="horz" pos="3997">
          <p15:clr>
            <a:srgbClr val="A4A3A4"/>
          </p15:clr>
        </p15:guide>
        <p15:guide id="8" orient="horz" pos="436">
          <p15:clr>
            <a:srgbClr val="A4A3A4"/>
          </p15:clr>
        </p15:guide>
        <p15:guide id="9" orient="horz" pos="232">
          <p15:clr>
            <a:srgbClr val="A4A3A4"/>
          </p15:clr>
        </p15:guide>
        <p15:guide id="10" pos="5087" userDrawn="1">
          <p15:clr>
            <a:srgbClr val="A4A3A4"/>
          </p15:clr>
        </p15:guide>
        <p15:guide id="11" orient="horz" pos="3181" userDrawn="1">
          <p15:clr>
            <a:srgbClr val="A4A3A4"/>
          </p15:clr>
        </p15:guide>
        <p15:guide id="12" orient="horz" pos="3861" userDrawn="1">
          <p15:clr>
            <a:srgbClr val="A4A3A4"/>
          </p15:clr>
        </p15:guide>
        <p15:guide id="13" pos="5019" userDrawn="1">
          <p15:clr>
            <a:srgbClr val="A4A3A4"/>
          </p15:clr>
        </p15:guide>
        <p15:guide id="15" orient="horz" pos="3135" userDrawn="1">
          <p15:clr>
            <a:srgbClr val="A4A3A4"/>
          </p15:clr>
        </p15:guide>
        <p15:guide id="16" orient="horz" pos="3974" userDrawn="1">
          <p15:clr>
            <a:srgbClr val="A4A3A4"/>
          </p15:clr>
        </p15:guide>
        <p15:guide id="17" pos="259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p188="http://schemas.microsoft.com/office/powerpoint/2018/8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2896"/>
    <a:srgbClr val="ACB6C3"/>
    <a:srgbClr val="F5C482"/>
    <a:srgbClr val="AE895E"/>
    <a:srgbClr val="6B7683"/>
    <a:srgbClr val="00AAFF"/>
    <a:srgbClr val="F8F8F8"/>
    <a:srgbClr val="1E4BD2"/>
    <a:srgbClr val="F3F7FA"/>
    <a:srgbClr val="EAED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74" autoAdjust="0"/>
    <p:restoredTop sz="95331" autoAdjust="0"/>
  </p:normalViewPr>
  <p:slideViewPr>
    <p:cSldViewPr snapToGrid="0" snapToObjects="1" showGuides="1">
      <p:cViewPr varScale="1">
        <p:scale>
          <a:sx n="86" d="100"/>
          <a:sy n="86" d="100"/>
        </p:scale>
        <p:origin x="224" y="696"/>
      </p:cViewPr>
      <p:guideLst>
        <p:guide orient="horz" pos="550"/>
        <p:guide pos="7446"/>
        <p:guide pos="3840"/>
        <p:guide pos="1164"/>
        <p:guide orient="horz" pos="867"/>
        <p:guide pos="4815"/>
        <p:guide orient="horz" pos="3997"/>
        <p:guide orient="horz" pos="436"/>
        <p:guide orient="horz" pos="232"/>
        <p:guide pos="5087"/>
        <p:guide orient="horz" pos="3181"/>
        <p:guide orient="horz" pos="3861"/>
        <p:guide pos="5019"/>
        <p:guide orient="horz" pos="3135"/>
        <p:guide orient="horz" pos="3974"/>
        <p:guide pos="259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50" d="100"/>
          <a:sy n="50" d="100"/>
        </p:scale>
        <p:origin x="3126" y="4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8E014921-C934-42E1-933D-CB1866EFEB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D57C898-1BD9-4D09-8BD1-2BFFBB82B6B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431AC8C-4A91-4075-AF26-427289660DCD}" type="datetimeFigureOut">
              <a:rPr lang="ru-RU"/>
              <a:pPr>
                <a:defRPr/>
              </a:pPr>
              <a:t>29.10.2026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AE33006-127F-4E87-9188-1B37E46B132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90CDEA1-6713-4D90-9372-601C2F41D9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6E1A57-165D-417A-BD05-3F3080FCA2B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тки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t>ПРОВЕРИТЬ: описание и цели проекта сформулированы по материалам «Международная отчётность» (цель специализации) и документу ШОиФД (кандидаты, fast-track на стажировку).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тки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t>ЗАГЛУШКИ: средние значения по х запускам, прирост знаний и CoR — данных нет в присланных материалах.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ru-US" dirty="0"/>
          </a:p>
        </p:txBody>
      </p:sp>
    </p:spTree>
    <p:extLst>
      <p:ext uri="{BB962C8B-B14F-4D97-AF65-F5344CB8AC3E}">
        <p14:creationId xmlns:p14="http://schemas.microsoft.com/office/powerpoint/2010/main" val="109797976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4205239-7293-44CC-A745-1A3C9A97AF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Line [Figma 9043:6352]" descr="Line. градиент в обводке">
            <a:extLst>
              <a:ext uri="{FF2B5EF4-FFF2-40B4-BE49-F238E27FC236}">
                <a16:creationId xmlns:a16="http://schemas.microsoft.com/office/drawing/2014/main" id="{2F42EBB4-5A52-45AA-9A2F-7E98BDDDEE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78325"/>
            <a:ext cx="121920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Line [Figma 9043:6353]" descr="Line. градиент в обводке">
            <a:extLst>
              <a:ext uri="{FF2B5EF4-FFF2-40B4-BE49-F238E27FC236}">
                <a16:creationId xmlns:a16="http://schemas.microsoft.com/office/drawing/2014/main" id="{9DB53208-2B32-44D6-949D-8A09B2C402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2406650"/>
            <a:ext cx="12188825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66" y="2423641"/>
            <a:ext cx="5437198" cy="2402359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000"/>
              </a:lnSpc>
              <a:defRPr sz="4000" spc="-150" baseline="0">
                <a:solidFill>
                  <a:schemeClr val="tx1"/>
                </a:solidFill>
                <a:latin typeface="VTB Omega UI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три строчки</a:t>
            </a:r>
            <a:br>
              <a:rPr lang="ru-RU" dirty="0"/>
            </a:br>
            <a:r>
              <a:rPr lang="ru-RU" dirty="0"/>
              <a:t>для образца</a:t>
            </a:r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9A16CF99-F442-4A44-B3EF-6F103B54E17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>
          <a:xfrm>
            <a:off x="371475" y="368300"/>
            <a:ext cx="1827494" cy="319213"/>
          </a:xfrm>
          <a:prstGeom prst="rect">
            <a:avLst/>
          </a:prstGeom>
        </p:spPr>
      </p:pic>
      <p:sp>
        <p:nvSpPr>
          <p:cNvPr id="11" name="Rectangle 240662521 [Figma 9887:63708]">
            <a:extLst>
              <a:ext uri="{FF2B5EF4-FFF2-40B4-BE49-F238E27FC236}">
                <a16:creationId xmlns:a16="http://schemas.microsoft.com/office/drawing/2014/main" id="{D17B948A-C879-4014-822C-489FE967D402}"/>
              </a:ext>
            </a:extLst>
          </p:cNvPr>
          <p:cNvSpPr/>
          <p:nvPr userDrawn="1"/>
        </p:nvSpPr>
        <p:spPr>
          <a:xfrm>
            <a:off x="380990" y="5930752"/>
            <a:ext cx="25399" cy="546086"/>
          </a:xfrm>
          <a:prstGeom prst="roundRect">
            <a:avLst>
              <a:gd name="adj" fmla="val 50001"/>
            </a:avLst>
          </a:prstGeom>
          <a:solidFill>
            <a:srgbClr val="1E4B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500F2E23-8BF1-4208-8B85-553A5800A1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73" y="6040283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accent3"/>
                </a:solidFill>
                <a:latin typeface="VTB Omega UI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6807F705-F8F9-40EB-AF4D-B91B8C60D0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8674" y="6247288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ACB6C3"/>
                </a:solidFill>
                <a:latin typeface="VTB Omega UI"/>
              </a:defRPr>
            </a:lvl1pPr>
          </a:lstStyle>
          <a:p>
            <a:pPr lvl="0"/>
            <a:r>
              <a:rPr lang="ru-RU" dirty="0"/>
              <a:t>Месяц 2000</a:t>
            </a:r>
          </a:p>
        </p:txBody>
      </p:sp>
    </p:spTree>
    <p:extLst>
      <p:ext uri="{BB962C8B-B14F-4D97-AF65-F5344CB8AC3E}">
        <p14:creationId xmlns:p14="http://schemas.microsoft.com/office/powerpoint/2010/main" val="4099897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baseline="0">
                <a:effectLst/>
                <a:latin typeface="VTB Omega UI"/>
              </a:defRPr>
            </a:lvl1pPr>
          </a:lstStyle>
          <a:p>
            <a:r>
              <a:rPr lang="ru-RU" dirty="0"/>
              <a:t>таблица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F3D2157-8889-45C3-9EEB-E6CE7315C1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660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4205239-7293-44CC-A745-1A3C9A97AF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Line [Figma 9043:6352]" descr="Line. градиент в обводке">
            <a:extLst>
              <a:ext uri="{FF2B5EF4-FFF2-40B4-BE49-F238E27FC236}">
                <a16:creationId xmlns:a16="http://schemas.microsoft.com/office/drawing/2014/main" id="{2F42EBB4-5A52-45AA-9A2F-7E98BDDDEE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78325"/>
            <a:ext cx="121920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Line [Figma 9043:6353]" descr="Line. градиент в обводке">
            <a:extLst>
              <a:ext uri="{FF2B5EF4-FFF2-40B4-BE49-F238E27FC236}">
                <a16:creationId xmlns:a16="http://schemas.microsoft.com/office/drawing/2014/main" id="{9DB53208-2B32-44D6-949D-8A09B2C402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2406650"/>
            <a:ext cx="12188825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66" y="2423641"/>
            <a:ext cx="5437198" cy="2402359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000"/>
              </a:lnSpc>
              <a:defRPr sz="4000" spc="-150" baseline="0">
                <a:solidFill>
                  <a:schemeClr val="tx1"/>
                </a:solidFill>
                <a:latin typeface="VTB Omega UI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три строчки</a:t>
            </a:r>
            <a:br>
              <a:rPr lang="ru-RU" dirty="0"/>
            </a:br>
            <a:r>
              <a:rPr lang="ru-RU" dirty="0"/>
              <a:t>для образца</a:t>
            </a:r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9A16CF99-F442-4A44-B3EF-6F103B54E17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>
          <a:xfrm>
            <a:off x="371475" y="368300"/>
            <a:ext cx="1827494" cy="319213"/>
          </a:xfrm>
          <a:prstGeom prst="rect">
            <a:avLst/>
          </a:prstGeom>
        </p:spPr>
      </p:pic>
      <p:sp>
        <p:nvSpPr>
          <p:cNvPr id="11" name="Rectangle 240662521 [Figma 9887:63708]">
            <a:extLst>
              <a:ext uri="{FF2B5EF4-FFF2-40B4-BE49-F238E27FC236}">
                <a16:creationId xmlns:a16="http://schemas.microsoft.com/office/drawing/2014/main" id="{D17B948A-C879-4014-822C-489FE967D402}"/>
              </a:ext>
            </a:extLst>
          </p:cNvPr>
          <p:cNvSpPr/>
          <p:nvPr userDrawn="1"/>
        </p:nvSpPr>
        <p:spPr>
          <a:xfrm>
            <a:off x="380990" y="5930752"/>
            <a:ext cx="25399" cy="546086"/>
          </a:xfrm>
          <a:prstGeom prst="roundRect">
            <a:avLst>
              <a:gd name="adj" fmla="val 50001"/>
            </a:avLst>
          </a:prstGeom>
          <a:solidFill>
            <a:srgbClr val="1E4B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500F2E23-8BF1-4208-8B85-553A5800A1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73" y="6040283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accent3"/>
                </a:solidFill>
                <a:latin typeface="VTB Omega UI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6807F705-F8F9-40EB-AF4D-B91B8C60D0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8674" y="6247288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Omega UI"/>
              </a:defRPr>
            </a:lvl1pPr>
          </a:lstStyle>
          <a:p>
            <a:pPr lvl="0"/>
            <a:r>
              <a:rPr lang="ru-RU" dirty="0"/>
              <a:t>Месяц 2000</a:t>
            </a:r>
          </a:p>
        </p:txBody>
      </p:sp>
    </p:spTree>
    <p:extLst>
      <p:ext uri="{BB962C8B-B14F-4D97-AF65-F5344CB8AC3E}">
        <p14:creationId xmlns:p14="http://schemas.microsoft.com/office/powerpoint/2010/main" val="4099897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baseline="0">
                <a:effectLst/>
                <a:latin typeface="VTB Omega UI"/>
              </a:defRPr>
            </a:lvl1pPr>
          </a:lstStyle>
          <a:p>
            <a:r>
              <a:rPr lang="ru-RU" dirty="0"/>
              <a:t>таблица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F3D2157-8889-45C3-9EEB-E6CE7315C1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6605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7DAC755-8DEA-4172-AF51-921CF824A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8450" y="6270625"/>
            <a:ext cx="463550" cy="587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00">
                <a:solidFill>
                  <a:srgbClr val="ACB6C3"/>
                </a:solidFill>
                <a:latin typeface="VTB Omega UI"/>
              </a:defRPr>
            </a:lvl1pPr>
          </a:lstStyle>
          <a:p>
            <a:pPr>
              <a:defRPr/>
            </a:pPr>
            <a:fld id="{FCD04C69-8FC8-4C03-8ACF-0472C4A98B9D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3993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Omega UI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Omega UI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Omega UI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Omega UI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Omega UI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Omega UI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Omega UI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Omega UI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7DAC755-8DEA-4172-AF51-921CF824A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8450" y="6270625"/>
            <a:ext cx="463550" cy="587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00">
                <a:solidFill>
                  <a:srgbClr val="6B7683"/>
                </a:solidFill>
                <a:latin typeface="VTB Omega UI"/>
              </a:defRPr>
            </a:lvl1pPr>
          </a:lstStyle>
          <a:p>
            <a:pPr>
              <a:defRPr/>
            </a:pPr>
            <a:fld id="{FCD04C69-8FC8-4C03-8ACF-0472C4A98B9D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5" r:id="rId1"/>
    <p:sldLayoutId id="2147483996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Omega UI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Omega UI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Omega UI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Omega UI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Omega UI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Omega UI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Omega UI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Omega UI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svg"/><Relationship Id="rId7" Type="http://schemas.openxmlformats.org/officeDocument/2006/relationships/image" Target="../media/image17.svg"/><Relationship Id="rId8" Type="http://schemas.openxmlformats.org/officeDocument/2006/relationships/image" Target="../media/image18.svg"/><Relationship Id="rId9" Type="http://schemas.openxmlformats.org/officeDocument/2006/relationships/image" Target="../media/image19.svg"/><Relationship Id="rId10" Type="http://schemas.openxmlformats.org/officeDocument/2006/relationships/image" Target="../media/image20.svg"/><Relationship Id="rId11" Type="http://schemas.openxmlformats.org/officeDocument/2006/relationships/image" Target="../media/image21.svg"/><Relationship Id="rId12" Type="http://schemas.openxmlformats.org/officeDocument/2006/relationships/image" Target="../media/image22.svg"/><Relationship Id="rId13" Type="http://schemas.openxmlformats.org/officeDocument/2006/relationships/image" Target="../media/image23.svg"/><Relationship Id="rId14" Type="http://schemas.openxmlformats.org/officeDocument/2006/relationships/image" Target="../media/image24.svg"/><Relationship Id="rId15" Type="http://schemas.openxmlformats.org/officeDocument/2006/relationships/image" Target="../media/image25.svg"/><Relationship Id="rId16" Type="http://schemas.openxmlformats.org/officeDocument/2006/relationships/image" Target="../media/image26.svg"/><Relationship Id="rId17" Type="http://schemas.openxmlformats.org/officeDocument/2006/relationships/image" Target="../media/image27.svg"/><Relationship Id="rId18" Type="http://schemas.openxmlformats.org/officeDocument/2006/relationships/image" Target="../media/image28.svg"/><Relationship Id="rId19" Type="http://schemas.openxmlformats.org/officeDocument/2006/relationships/image" Target="../media/image29.svg"/><Relationship Id="rId20" Type="http://schemas.openxmlformats.org/officeDocument/2006/relationships/image" Target="../media/image3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9.jp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svg"/><Relationship Id="rId6" Type="http://schemas.openxmlformats.org/officeDocument/2006/relationships/image" Target="../media/image4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"/>
          <p:cNvSpPr txBox="1"/>
          <p:nvPr/>
        </p:nvSpPr>
        <p:spPr>
          <a:xfrm>
            <a:off x="520700" y="6007100"/>
            <a:ext cx="41910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ru-RU" sz="1250" dirty="0">
                <a:solidFill>
                  <a:srgbClr val="0A2896"/>
                </a:solidFill>
                <a:latin typeface="VTB Omega UI"/>
              </a:rPr>
              <a:t>Предложение для обсуждения</a:t>
            </a:r>
          </a:p>
          <a:p>
            <a:pPr algn="l">
              <a:lnSpc>
                <a:spcPts val="1500"/>
              </a:lnSpc>
            </a:pPr>
            <a:r>
              <a:rPr lang="ru-RU" sz="1250" dirty="0">
                <a:solidFill>
                  <a:srgbClr val="1C1C1C"/>
                </a:solidFill>
                <a:latin typeface="VTB Omega UI"/>
              </a:rPr>
              <a:t>Октябрь 2026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313497F-1BFE-DCA2-F5FF-4D1E91B4BFB4}"/>
              </a:ext>
            </a:extLst>
          </p:cNvPr>
          <p:cNvSpPr/>
          <p:nvPr/>
        </p:nvSpPr>
        <p:spPr>
          <a:xfrm rot="1151342">
            <a:off x="6299703" y="-1321003"/>
            <a:ext cx="2359548" cy="1023666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FA51A40-52AE-1564-C99C-B60058B85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94230"/>
            <a:ext cx="7614405" cy="7620672"/>
          </a:xfrm>
          <a:prstGeom prst="rect">
            <a:avLst/>
          </a:prstGeom>
        </p:spPr>
      </p:pic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72C55C6C-C8A5-4D83-B0A0-6BD5765E9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870" y="2879694"/>
            <a:ext cx="6848288" cy="1094486"/>
          </a:xfrm>
        </p:spPr>
        <p:txBody>
          <a:bodyPr wrap="square" lIns="0" tIns="0" rIns="0" bIns="0" anchor="t"/>
          <a:lstStyle/>
          <a:p>
            <a:pPr>
              <a:lnSpc>
                <a:spcPts val="2889"/>
              </a:lnSpc>
            </a:pPr>
            <a:r>
              <a:rPr lang="ru-RU" sz="2800" dirty="0">
                <a:solidFill>
                  <a:srgbClr val="000000"/>
                </a:solidFill>
              </a:rPr>
              <a:t>Школа отчётности и финансовых данных 2.0: образовательная программа для стажёров банка в 2027 г.</a:t>
            </a:r>
          </a:p>
        </p:txBody>
      </p:sp>
    </p:spTree>
    <p:extLst>
      <p:ext uri="{BB962C8B-B14F-4D97-AF65-F5344CB8AC3E}">
        <p14:creationId xmlns:p14="http://schemas.microsoft.com/office/powerpoint/2010/main" val="1014151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85A43172-339A-4CCC-86BB-D02E8A58B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370686"/>
            <a:ext cx="8681086" cy="1051713"/>
          </a:xfrm>
        </p:spPr>
        <p:txBody>
          <a:bodyPr wrap="square" lIns="0" tIns="0" rIns="0" bIns="0" anchor="t">
            <a:normAutofit fontScale="90000"/>
          </a:bodyPr>
          <a:lstStyle/>
          <a:p>
            <a:pPr>
              <a:lnSpc>
                <a:spcPts val="3100"/>
              </a:lnSpc>
            </a:pPr>
            <a:r>
              <a:rPr sz="2800" dirty="0" err="1">
                <a:solidFill>
                  <a:srgbClr val="0A2896"/>
                </a:solidFill>
                <a:latin typeface="+mj-lt"/>
              </a:rPr>
              <a:t>Изменения</a:t>
            </a:r>
            <a:r>
              <a:rPr sz="2800" dirty="0">
                <a:solidFill>
                  <a:srgbClr val="0A2896"/>
                </a:solidFill>
                <a:latin typeface="+mj-lt"/>
              </a:rPr>
              <a:t> </a:t>
            </a:r>
            <a:r>
              <a:rPr sz="2800" dirty="0" err="1">
                <a:solidFill>
                  <a:srgbClr val="0A2896"/>
                </a:solidFill>
                <a:latin typeface="+mj-lt"/>
              </a:rPr>
              <a:t>в</a:t>
            </a:r>
            <a:r>
              <a:rPr sz="2800" dirty="0">
                <a:solidFill>
                  <a:srgbClr val="0A2896"/>
                </a:solidFill>
                <a:latin typeface="+mj-lt"/>
              </a:rPr>
              <a:t> </a:t>
            </a:r>
            <a:r>
              <a:rPr sz="2800" dirty="0" err="1">
                <a:solidFill>
                  <a:srgbClr val="0A2896"/>
                </a:solidFill>
                <a:latin typeface="+mj-lt"/>
              </a:rPr>
              <a:t>трудовом</a:t>
            </a:r>
            <a:r>
              <a:rPr sz="2800" dirty="0">
                <a:solidFill>
                  <a:srgbClr val="0A2896"/>
                </a:solidFill>
                <a:latin typeface="+mj-lt"/>
              </a:rPr>
              <a:t> </a:t>
            </a:r>
            <a:r>
              <a:rPr sz="2800" dirty="0" err="1">
                <a:solidFill>
                  <a:srgbClr val="0A2896"/>
                </a:solidFill>
                <a:latin typeface="+mj-lt"/>
              </a:rPr>
              <a:t>законодательстве</a:t>
            </a:r>
            <a:r>
              <a:rPr sz="2800" dirty="0">
                <a:solidFill>
                  <a:srgbClr val="0A2896"/>
                </a:solidFill>
                <a:latin typeface="+mj-lt"/>
              </a:rPr>
              <a:t> РФ </a:t>
            </a:r>
            <a:r>
              <a:rPr sz="2800" dirty="0" err="1">
                <a:solidFill>
                  <a:srgbClr val="0A2896"/>
                </a:solidFill>
                <a:latin typeface="+mj-lt"/>
              </a:rPr>
              <a:t>приводят</a:t>
            </a:r>
            <a:r>
              <a:rPr sz="2800" dirty="0">
                <a:solidFill>
                  <a:srgbClr val="0A2896"/>
                </a:solidFill>
                <a:latin typeface="+mj-lt"/>
              </a:rPr>
              <a:t> </a:t>
            </a:r>
            <a:r>
              <a:rPr sz="2800" dirty="0" err="1">
                <a:solidFill>
                  <a:srgbClr val="0A2896"/>
                </a:solidFill>
                <a:latin typeface="+mj-lt"/>
              </a:rPr>
              <a:t>к</a:t>
            </a:r>
            <a:r>
              <a:rPr sz="2800" dirty="0">
                <a:solidFill>
                  <a:srgbClr val="0A2896"/>
                </a:solidFill>
                <a:latin typeface="+mj-lt"/>
              </a:rPr>
              <a:t> </a:t>
            </a:r>
            <a:r>
              <a:rPr sz="2800" dirty="0" err="1">
                <a:solidFill>
                  <a:srgbClr val="0A2896"/>
                </a:solidFill>
                <a:latin typeface="+mj-lt"/>
              </a:rPr>
              <a:t>трансформации</a:t>
            </a:r>
            <a:r>
              <a:rPr sz="2800" dirty="0">
                <a:solidFill>
                  <a:srgbClr val="0A2896"/>
                </a:solidFill>
                <a:latin typeface="+mj-lt"/>
              </a:rPr>
              <a:t> </a:t>
            </a:r>
            <a:r>
              <a:rPr sz="2800" dirty="0" err="1">
                <a:solidFill>
                  <a:srgbClr val="0A2896"/>
                </a:solidFill>
                <a:latin typeface="+mj-lt"/>
              </a:rPr>
              <a:t>модели</a:t>
            </a:r>
            <a:r>
              <a:rPr sz="2800" dirty="0">
                <a:solidFill>
                  <a:srgbClr val="0A2896"/>
                </a:solidFill>
                <a:latin typeface="+mj-lt"/>
              </a:rPr>
              <a:t> </a:t>
            </a:r>
            <a:r>
              <a:rPr sz="2800" dirty="0" err="1">
                <a:solidFill>
                  <a:srgbClr val="0A2896"/>
                </a:solidFill>
                <a:latin typeface="+mj-lt"/>
              </a:rPr>
              <a:t>стажировки</a:t>
            </a:r>
            <a:r>
              <a:rPr sz="2800" dirty="0">
                <a:solidFill>
                  <a:srgbClr val="0A2896"/>
                </a:solidFill>
                <a:latin typeface="+mj-lt"/>
              </a:rPr>
              <a:t> </a:t>
            </a:r>
            <a:r>
              <a:rPr sz="2800" dirty="0" err="1">
                <a:solidFill>
                  <a:srgbClr val="0A2896"/>
                </a:solidFill>
                <a:latin typeface="+mj-lt"/>
              </a:rPr>
              <a:t>в</a:t>
            </a:r>
            <a:r>
              <a:rPr sz="2800" dirty="0">
                <a:solidFill>
                  <a:srgbClr val="0A2896"/>
                </a:solidFill>
                <a:latin typeface="+mj-lt"/>
              </a:rPr>
              <a:t> </a:t>
            </a:r>
            <a:r>
              <a:rPr sz="2800" dirty="0" err="1">
                <a:solidFill>
                  <a:srgbClr val="0A2896"/>
                </a:solidFill>
                <a:latin typeface="+mj-lt"/>
              </a:rPr>
              <a:t>банке</a:t>
            </a:r>
            <a:r>
              <a:rPr sz="2800" dirty="0">
                <a:solidFill>
                  <a:srgbClr val="0A2896"/>
                </a:solidFill>
                <a:latin typeface="+mj-lt"/>
              </a:rPr>
              <a:t> </a:t>
            </a:r>
            <a:r>
              <a:rPr sz="2800" dirty="0" err="1">
                <a:solidFill>
                  <a:srgbClr val="0A2896"/>
                </a:solidFill>
                <a:latin typeface="+mj-lt"/>
              </a:rPr>
              <a:t>в</a:t>
            </a:r>
            <a:r>
              <a:rPr sz="2800" dirty="0">
                <a:solidFill>
                  <a:srgbClr val="0A2896"/>
                </a:solidFill>
                <a:latin typeface="+mj-lt"/>
              </a:rPr>
              <a:t> 2027 </a:t>
            </a:r>
            <a:r>
              <a:rPr sz="2800" dirty="0" err="1">
                <a:solidFill>
                  <a:srgbClr val="0A2896"/>
                </a:solidFill>
                <a:latin typeface="+mj-lt"/>
              </a:rPr>
              <a:t>году</a:t>
            </a:r>
            <a:endParaRPr sz="2800" dirty="0">
              <a:solidFill>
                <a:srgbClr val="0A2896"/>
              </a:solidFill>
              <a:latin typeface="+mj-lt"/>
            </a:endParaRP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8A1335D-0971-44DA-9021-3CE509D3773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E9794C1B-C881-42F5-9B4F-0D6130829943}" type="slidenum">
              <a:rPr lang="ru-RU" smtClean="0"/>
              <a:pPr>
                <a:defRPr/>
              </a:pPr>
              <a:t>2</a:t>
            </a:fld>
            <a:endParaRPr lang="ru-RU" dirty="0"/>
          </a:p>
        </p:txBody>
      </p:sp>
      <p:sp>
        <p:nvSpPr>
          <p:cNvPr id="10" name="Подзаголовок"/>
          <p:cNvSpPr txBox="1"/>
          <p:nvPr/>
        </p:nvSpPr>
        <p:spPr>
          <a:xfrm>
            <a:off x="381000" y="1663700"/>
            <a:ext cx="8890000" cy="574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sz="1900" dirty="0" err="1">
                <a:latin typeface="VTB Omega UI"/>
              </a:rPr>
              <a:t>В</a:t>
            </a:r>
            <a:r>
              <a:rPr sz="1900" dirty="0">
                <a:latin typeface="VTB Omega UI"/>
              </a:rPr>
              <a:t> 2027 </a:t>
            </a:r>
            <a:r>
              <a:rPr sz="1900" dirty="0" err="1">
                <a:latin typeface="VTB Omega UI"/>
              </a:rPr>
              <a:t>году</a:t>
            </a:r>
            <a:r>
              <a:rPr sz="1900" dirty="0">
                <a:latin typeface="VTB Omega UI"/>
              </a:rPr>
              <a:t> </a:t>
            </a:r>
            <a:r>
              <a:rPr sz="1900" dirty="0" err="1">
                <a:latin typeface="VTB Omega UI"/>
              </a:rPr>
              <a:t>планируется</a:t>
            </a:r>
            <a:r>
              <a:rPr sz="1900" dirty="0">
                <a:latin typeface="VTB Omega UI"/>
              </a:rPr>
              <a:t> </a:t>
            </a:r>
            <a:r>
              <a:rPr sz="1900" dirty="0" err="1">
                <a:latin typeface="VTB Omega UI"/>
              </a:rPr>
              <a:t>зачисление</a:t>
            </a:r>
            <a:r>
              <a:rPr sz="1900" dirty="0">
                <a:latin typeface="VTB Omega UI"/>
              </a:rPr>
              <a:t> </a:t>
            </a:r>
            <a:r>
              <a:rPr sz="1900" dirty="0" err="1">
                <a:latin typeface="VTB Omega UI"/>
              </a:rPr>
              <a:t>стажеров</a:t>
            </a:r>
            <a:endParaRPr lang="ru-RU" sz="1900" dirty="0"/>
          </a:p>
          <a:p>
            <a:pPr algn="l">
              <a:lnSpc>
                <a:spcPts val="2300"/>
              </a:lnSpc>
            </a:pPr>
            <a:r>
              <a:rPr sz="1900" dirty="0" err="1">
                <a:latin typeface="VTB Omega UI"/>
              </a:rPr>
              <a:t>на</a:t>
            </a:r>
            <a:r>
              <a:rPr sz="1900" dirty="0">
                <a:latin typeface="VTB Omega UI"/>
              </a:rPr>
              <a:t> </a:t>
            </a:r>
            <a:r>
              <a:rPr sz="1900" dirty="0" err="1">
                <a:latin typeface="VTB Omega UI"/>
              </a:rPr>
              <a:t>образовательную</a:t>
            </a:r>
            <a:r>
              <a:rPr sz="1900" dirty="0">
                <a:latin typeface="VTB Omega UI"/>
              </a:rPr>
              <a:t> </a:t>
            </a:r>
            <a:r>
              <a:rPr sz="1900" dirty="0" err="1">
                <a:latin typeface="VTB Omega UI"/>
              </a:rPr>
              <a:t>программу</a:t>
            </a:r>
            <a:r>
              <a:rPr sz="1900" dirty="0">
                <a:latin typeface="VTB Omega UI"/>
              </a:rPr>
              <a:t> ДПО ВТБ </a:t>
            </a:r>
            <a:r>
              <a:rPr sz="1900" dirty="0" err="1">
                <a:latin typeface="VTB Omega UI"/>
              </a:rPr>
              <a:t>х</a:t>
            </a:r>
            <a:r>
              <a:rPr sz="1900" dirty="0">
                <a:latin typeface="VTB Omega UI"/>
              </a:rPr>
              <a:t> </a:t>
            </a:r>
            <a:r>
              <a:rPr sz="1900" dirty="0" err="1">
                <a:latin typeface="VTB Omega UI"/>
              </a:rPr>
              <a:t>Финансовый</a:t>
            </a:r>
            <a:r>
              <a:rPr sz="1900" dirty="0">
                <a:latin typeface="VTB Omega UI"/>
              </a:rPr>
              <a:t> </a:t>
            </a:r>
            <a:r>
              <a:rPr sz="1900" dirty="0" err="1">
                <a:latin typeface="VTB Omega UI"/>
              </a:rPr>
              <a:t>университет</a:t>
            </a:r>
            <a:endParaRPr sz="1900" dirty="0">
              <a:latin typeface="VTB Omega UI"/>
            </a:endParaRPr>
          </a:p>
        </p:txBody>
      </p:sp>
      <p:sp>
        <p:nvSpPr>
          <p:cNvPr id="11" name="Сноска"/>
          <p:cNvSpPr txBox="1"/>
          <p:nvPr/>
        </p:nvSpPr>
        <p:spPr>
          <a:xfrm>
            <a:off x="381000" y="6286500"/>
            <a:ext cx="8890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40"/>
              </a:lnSpc>
            </a:pPr>
            <a:r>
              <a:rPr sz="950">
                <a:solidFill>
                  <a:srgbClr val="4A5361"/>
                </a:solidFill>
                <a:latin typeface="VTB Omega UI"/>
              </a:rPr>
              <a:t>* Школа отчетности и финансовых данных</a:t>
            </a:r>
          </a:p>
        </p:txBody>
      </p:sp>
      <p:sp>
        <p:nvSpPr>
          <p:cNvPr id="12" name="Карточка"/>
          <p:cNvSpPr/>
          <p:nvPr/>
        </p:nvSpPr>
        <p:spPr>
          <a:xfrm>
            <a:off x="381000" y="3962400"/>
            <a:ext cx="3725333" cy="2222500"/>
          </a:xfrm>
          <a:prstGeom prst="roundRect">
            <a:avLst>
              <a:gd name="adj" fmla="val 3428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Текст"/>
          <p:cNvSpPr txBox="1"/>
          <p:nvPr/>
        </p:nvSpPr>
        <p:spPr>
          <a:xfrm>
            <a:off x="622300" y="4178300"/>
            <a:ext cx="324273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dirty="0" err="1">
                <a:solidFill>
                  <a:srgbClr val="1C1C1C"/>
                </a:solidFill>
                <a:latin typeface="VTB Omega UI Medium"/>
              </a:rPr>
              <a:t>Работа</a:t>
            </a:r>
            <a:endParaRPr sz="1800" dirty="0">
              <a:solidFill>
                <a:srgbClr val="1C1C1C"/>
              </a:solidFill>
              <a:latin typeface="VTB Omega UI Medium"/>
            </a:endParaRPr>
          </a:p>
        </p:txBody>
      </p:sp>
      <p:sp>
        <p:nvSpPr>
          <p:cNvPr id="14" name="Текст"/>
          <p:cNvSpPr txBox="1"/>
          <p:nvPr/>
        </p:nvSpPr>
        <p:spPr>
          <a:xfrm>
            <a:off x="622300" y="4470400"/>
            <a:ext cx="3242733" cy="1473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ts val="1700"/>
              </a:lnSpc>
            </a:pPr>
            <a:r>
              <a:rPr sz="1400">
                <a:solidFill>
                  <a:srgbClr val="3A4250"/>
                </a:solidFill>
                <a:latin typeface="VTB Omega UI"/>
              </a:rPr>
              <a:t>Выполнение трудовой функции в подразделениях банка</a:t>
            </a:r>
          </a:p>
        </p:txBody>
      </p:sp>
      <p:sp>
        <p:nvSpPr>
          <p:cNvPr id="15" name="Карточка"/>
          <p:cNvSpPr/>
          <p:nvPr/>
        </p:nvSpPr>
        <p:spPr>
          <a:xfrm>
            <a:off x="4233333" y="3962400"/>
            <a:ext cx="3725333" cy="2222500"/>
          </a:xfrm>
          <a:prstGeom prst="roundRect">
            <a:avLst>
              <a:gd name="adj" fmla="val 3428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Текст"/>
          <p:cNvSpPr txBox="1"/>
          <p:nvPr/>
        </p:nvSpPr>
        <p:spPr>
          <a:xfrm>
            <a:off x="4474633" y="4178300"/>
            <a:ext cx="324273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>
                <a:solidFill>
                  <a:srgbClr val="1C1C1C"/>
                </a:solidFill>
                <a:latin typeface="VTB Omega UI Medium"/>
              </a:rPr>
              <a:t>Развитие</a:t>
            </a:r>
          </a:p>
        </p:txBody>
      </p:sp>
      <p:sp>
        <p:nvSpPr>
          <p:cNvPr id="17" name="Текст"/>
          <p:cNvSpPr txBox="1"/>
          <p:nvPr/>
        </p:nvSpPr>
        <p:spPr>
          <a:xfrm>
            <a:off x="4474633" y="4470400"/>
            <a:ext cx="3242733" cy="1473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ts val="1700"/>
              </a:lnSpc>
            </a:pPr>
            <a:r>
              <a:rPr sz="1400">
                <a:solidFill>
                  <a:srgbClr val="3A4250"/>
                </a:solidFill>
                <a:latin typeface="VTB Omega UI"/>
              </a:rPr>
              <a:t>Система наставничества и поддержки для быстрой адаптации в должности</a:t>
            </a:r>
          </a:p>
        </p:txBody>
      </p:sp>
      <p:sp>
        <p:nvSpPr>
          <p:cNvPr id="18" name="Карточка"/>
          <p:cNvSpPr/>
          <p:nvPr/>
        </p:nvSpPr>
        <p:spPr>
          <a:xfrm>
            <a:off x="8085666" y="3962400"/>
            <a:ext cx="3725333" cy="2222500"/>
          </a:xfrm>
          <a:prstGeom prst="roundRect">
            <a:avLst>
              <a:gd name="adj" fmla="val 3428"/>
            </a:avLst>
          </a:prstGeom>
          <a:gradFill rotWithShape="1">
            <a:gsLst>
              <a:gs pos="0">
                <a:srgbClr val="1E4BD2"/>
              </a:gs>
              <a:gs pos="100000">
                <a:srgbClr val="86BFF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Текст"/>
          <p:cNvSpPr txBox="1"/>
          <p:nvPr/>
        </p:nvSpPr>
        <p:spPr>
          <a:xfrm>
            <a:off x="8326966" y="4178300"/>
            <a:ext cx="324273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dirty="0" err="1">
                <a:solidFill>
                  <a:srgbClr val="FFFFFF"/>
                </a:solidFill>
                <a:latin typeface="VTB Omega UI Medium"/>
              </a:rPr>
              <a:t>Обучение</a:t>
            </a:r>
            <a:endParaRPr sz="1800" dirty="0">
              <a:solidFill>
                <a:srgbClr val="FFFFFF"/>
              </a:solidFill>
              <a:latin typeface="VTB Omega UI Medium"/>
            </a:endParaRPr>
          </a:p>
        </p:txBody>
      </p:sp>
      <p:sp>
        <p:nvSpPr>
          <p:cNvPr id="20" name="Текст"/>
          <p:cNvSpPr txBox="1"/>
          <p:nvPr/>
        </p:nvSpPr>
        <p:spPr>
          <a:xfrm>
            <a:off x="8326966" y="4470400"/>
            <a:ext cx="3242733" cy="1473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ts val="1700"/>
              </a:lnSpc>
            </a:pPr>
            <a:r>
              <a:rPr sz="1400">
                <a:solidFill>
                  <a:srgbClr val="FFFFFF"/>
                </a:solidFill>
                <a:latin typeface="VTB Omega UI"/>
              </a:rPr>
              <a:t>Образовательная программа от ВТБ Образование на основе подхода ШОиФД*: онлайн-курсы и лекции лидеров банка</a:t>
            </a:r>
          </a:p>
        </p:txBody>
      </p:sp>
    </p:spTree>
    <p:extLst>
      <p:ext uri="{BB962C8B-B14F-4D97-AF65-F5344CB8AC3E}">
        <p14:creationId xmlns:p14="http://schemas.microsoft.com/office/powerpoint/2010/main" val="414027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85A43172-339A-4CCC-86BB-D02E8A58B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370687"/>
            <a:ext cx="9154800" cy="1188682"/>
          </a:xfrm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3100"/>
              </a:lnSpc>
            </a:pPr>
            <a:r>
              <a:rPr lang="ru-RU" sz="2800" dirty="0">
                <a:solidFill>
                  <a:srgbClr val="0A2896"/>
                </a:solidFill>
              </a:rPr>
              <a:t>Школа отчетности и финансовых данных</a:t>
            </a:r>
            <a:r>
              <a:rPr sz="2800" dirty="0">
                <a:solidFill>
                  <a:srgbClr val="0A2896"/>
                </a:solidFill>
              </a:rPr>
              <a:t> — </a:t>
            </a:r>
            <a:r>
              <a:rPr sz="2800" dirty="0" err="1">
                <a:solidFill>
                  <a:srgbClr val="0A2896"/>
                </a:solidFill>
              </a:rPr>
              <a:t>совместный</a:t>
            </a:r>
            <a:r>
              <a:rPr sz="2800" dirty="0">
                <a:solidFill>
                  <a:srgbClr val="0A2896"/>
                </a:solidFill>
              </a:rPr>
              <a:t> </a:t>
            </a:r>
            <a:r>
              <a:rPr sz="2800" dirty="0" err="1">
                <a:solidFill>
                  <a:srgbClr val="0A2896"/>
                </a:solidFill>
              </a:rPr>
              <a:t>образовательный</a:t>
            </a:r>
            <a:r>
              <a:rPr sz="2800" dirty="0">
                <a:solidFill>
                  <a:srgbClr val="0A2896"/>
                </a:solidFill>
              </a:rPr>
              <a:t> </a:t>
            </a:r>
            <a:r>
              <a:rPr sz="2800" dirty="0" err="1">
                <a:solidFill>
                  <a:srgbClr val="0A2896"/>
                </a:solidFill>
              </a:rPr>
              <a:t>проект</a:t>
            </a:r>
            <a:r>
              <a:rPr sz="2800" dirty="0">
                <a:solidFill>
                  <a:srgbClr val="0A2896"/>
                </a:solidFill>
              </a:rPr>
              <a:t> ВТБ </a:t>
            </a:r>
            <a:r>
              <a:rPr sz="2800" dirty="0" err="1">
                <a:solidFill>
                  <a:srgbClr val="0A2896"/>
                </a:solidFill>
              </a:rPr>
              <a:t>Образование</a:t>
            </a:r>
            <a:r>
              <a:rPr sz="2800" dirty="0">
                <a:solidFill>
                  <a:srgbClr val="0A2896"/>
                </a:solidFill>
              </a:rPr>
              <a:t> </a:t>
            </a:r>
            <a:r>
              <a:rPr sz="2800" dirty="0" err="1">
                <a:solidFill>
                  <a:srgbClr val="0A2896"/>
                </a:solidFill>
              </a:rPr>
              <a:t>и</a:t>
            </a:r>
            <a:r>
              <a:rPr sz="2800" dirty="0">
                <a:solidFill>
                  <a:srgbClr val="0A2896"/>
                </a:solidFill>
              </a:rPr>
              <a:t> </a:t>
            </a:r>
            <a:r>
              <a:rPr sz="2800" dirty="0" err="1">
                <a:solidFill>
                  <a:srgbClr val="0A2896"/>
                </a:solidFill>
              </a:rPr>
              <a:t>Финансового</a:t>
            </a:r>
            <a:r>
              <a:rPr sz="2800" dirty="0">
                <a:solidFill>
                  <a:srgbClr val="0A2896"/>
                </a:solidFill>
              </a:rPr>
              <a:t> </a:t>
            </a:r>
            <a:r>
              <a:rPr sz="2800" dirty="0" err="1">
                <a:solidFill>
                  <a:srgbClr val="0A2896"/>
                </a:solidFill>
              </a:rPr>
              <a:t>департамента</a:t>
            </a:r>
            <a:endParaRPr sz="2800" dirty="0">
              <a:solidFill>
                <a:srgbClr val="0A2896"/>
              </a:solidFill>
            </a:endParaRP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8A1335D-0971-44DA-9021-3CE509D3773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E9794C1B-C881-42F5-9B4F-0D6130829943}" type="slidenum">
              <a:rPr lang="ru-RU" smtClean="0"/>
              <a:pPr>
                <a:defRPr/>
              </a:pPr>
              <a:t>3</a:t>
            </a:fld>
            <a:endParaRPr lang="ru-RU" dirty="0"/>
          </a:p>
        </p:txBody>
      </p:sp>
      <p:sp>
        <p:nvSpPr>
          <p:cNvPr id="10" name="Подзаголовок"/>
          <p:cNvSpPr txBox="1"/>
          <p:nvPr/>
        </p:nvSpPr>
        <p:spPr>
          <a:xfrm>
            <a:off x="381000" y="1686369"/>
            <a:ext cx="9907970" cy="574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ru-RU" sz="1900" dirty="0">
                <a:latin typeface="VTB Omega UI"/>
              </a:rPr>
              <a:t>Онлайн-интенсивы</a:t>
            </a:r>
            <a:r>
              <a:rPr sz="1900" dirty="0">
                <a:latin typeface="VTB Omega UI"/>
              </a:rPr>
              <a:t> </a:t>
            </a:r>
            <a:r>
              <a:rPr lang="ru-RU" sz="1900" dirty="0">
                <a:latin typeface="VTB Omega UI"/>
              </a:rPr>
              <a:t>от </a:t>
            </a:r>
            <a:r>
              <a:rPr sz="1900" dirty="0" err="1">
                <a:latin typeface="VTB Omega UI"/>
              </a:rPr>
              <a:t>лидеров</a:t>
            </a:r>
            <a:r>
              <a:rPr sz="1900" dirty="0">
                <a:latin typeface="VTB Omega UI"/>
              </a:rPr>
              <a:t> </a:t>
            </a:r>
            <a:r>
              <a:rPr sz="1900" dirty="0" err="1">
                <a:latin typeface="VTB Omega UI"/>
              </a:rPr>
              <a:t>банка</a:t>
            </a:r>
            <a:r>
              <a:rPr sz="1900" dirty="0">
                <a:latin typeface="VTB Omega UI"/>
              </a:rPr>
              <a:t> </a:t>
            </a:r>
            <a:r>
              <a:rPr sz="1900" dirty="0" err="1">
                <a:latin typeface="VTB Omega UI"/>
              </a:rPr>
              <a:t>для</a:t>
            </a:r>
            <a:r>
              <a:rPr sz="1900" dirty="0">
                <a:latin typeface="VTB Omega UI"/>
              </a:rPr>
              <a:t> </a:t>
            </a:r>
            <a:r>
              <a:rPr sz="1900" dirty="0" err="1">
                <a:latin typeface="VTB Omega UI"/>
              </a:rPr>
              <a:t>студентов</a:t>
            </a:r>
            <a:r>
              <a:rPr sz="1900" dirty="0">
                <a:latin typeface="VTB Omega UI"/>
              </a:rPr>
              <a:t> </a:t>
            </a:r>
            <a:r>
              <a:rPr sz="1900" dirty="0" err="1">
                <a:latin typeface="VTB Omega UI"/>
              </a:rPr>
              <a:t>и</a:t>
            </a:r>
            <a:r>
              <a:rPr sz="1900" dirty="0">
                <a:latin typeface="VTB Omega UI"/>
              </a:rPr>
              <a:t> </a:t>
            </a:r>
            <a:r>
              <a:rPr sz="1900" dirty="0" err="1">
                <a:latin typeface="VTB Omega UI"/>
              </a:rPr>
              <a:t>молодых</a:t>
            </a:r>
            <a:r>
              <a:rPr sz="1900" dirty="0">
                <a:latin typeface="VTB Omega UI"/>
              </a:rPr>
              <a:t> </a:t>
            </a:r>
            <a:r>
              <a:rPr sz="1900" dirty="0" err="1">
                <a:latin typeface="VTB Omega UI"/>
              </a:rPr>
              <a:t>специалистов</a:t>
            </a:r>
            <a:r>
              <a:rPr sz="1900" dirty="0">
                <a:latin typeface="VTB Omega UI"/>
              </a:rPr>
              <a:t>. х </a:t>
            </a:r>
            <a:r>
              <a:rPr sz="1900" dirty="0" err="1">
                <a:latin typeface="VTB Omega UI"/>
              </a:rPr>
              <a:t>запусков</a:t>
            </a:r>
            <a:r>
              <a:rPr sz="1900" dirty="0">
                <a:latin typeface="VTB Omega UI"/>
              </a:rPr>
              <a:t> </a:t>
            </a:r>
            <a:r>
              <a:rPr sz="1900" dirty="0" err="1">
                <a:latin typeface="VTB Omega UI"/>
              </a:rPr>
              <a:t>с</a:t>
            </a:r>
            <a:r>
              <a:rPr sz="1900" dirty="0">
                <a:latin typeface="VTB Omega UI"/>
              </a:rPr>
              <a:t> 2023 </a:t>
            </a:r>
            <a:r>
              <a:rPr sz="1900" dirty="0" err="1">
                <a:latin typeface="VTB Omega UI"/>
              </a:rPr>
              <a:t>года</a:t>
            </a:r>
            <a:r>
              <a:rPr sz="1900" dirty="0">
                <a:latin typeface="VTB Omega UI"/>
              </a:rPr>
              <a:t>, </a:t>
            </a:r>
            <a:r>
              <a:rPr sz="1900" dirty="0" err="1">
                <a:latin typeface="VTB Omega UI"/>
              </a:rPr>
              <a:t>более</a:t>
            </a:r>
            <a:r>
              <a:rPr sz="1900" dirty="0">
                <a:latin typeface="VTB Omega UI"/>
              </a:rPr>
              <a:t> х ххх </a:t>
            </a:r>
            <a:r>
              <a:rPr sz="1900" dirty="0" err="1">
                <a:latin typeface="VTB Omega UI"/>
              </a:rPr>
              <a:t>уникальных</a:t>
            </a:r>
            <a:r>
              <a:rPr sz="1900" dirty="0">
                <a:latin typeface="VTB Omega UI"/>
              </a:rPr>
              <a:t> </a:t>
            </a:r>
            <a:r>
              <a:rPr sz="1900" dirty="0" err="1">
                <a:latin typeface="VTB Omega UI"/>
              </a:rPr>
              <a:t>участников</a:t>
            </a:r>
            <a:endParaRPr sz="1900" dirty="0">
              <a:latin typeface="VTB Omega UI"/>
            </a:endParaRPr>
          </a:p>
        </p:txBody>
      </p:sp>
      <p:sp>
        <p:nvSpPr>
          <p:cNvPr id="11" name="Карточка"/>
          <p:cNvSpPr/>
          <p:nvPr/>
        </p:nvSpPr>
        <p:spPr>
          <a:xfrm>
            <a:off x="381000" y="2781300"/>
            <a:ext cx="2762250" cy="3403600"/>
          </a:xfrm>
          <a:prstGeom prst="roundRect">
            <a:avLst>
              <a:gd name="adj" fmla="val 4651"/>
            </a:avLst>
          </a:prstGeom>
          <a:gradFill rotWithShape="1">
            <a:gsLst>
              <a:gs pos="0">
                <a:srgbClr val="1E4BD2"/>
              </a:gs>
              <a:gs pos="100000">
                <a:srgbClr val="86BFF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Текст"/>
          <p:cNvSpPr txBox="1"/>
          <p:nvPr/>
        </p:nvSpPr>
        <p:spPr>
          <a:xfrm>
            <a:off x="622300" y="2984500"/>
            <a:ext cx="160191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dirty="0" err="1">
                <a:solidFill>
                  <a:srgbClr val="FFFFFF"/>
                </a:solidFill>
                <a:latin typeface="VTB Omega UI Medium"/>
              </a:rPr>
              <a:t>Цели</a:t>
            </a:r>
            <a:r>
              <a:rPr dirty="0">
                <a:solidFill>
                  <a:srgbClr val="FFFFFF"/>
                </a:solidFill>
                <a:latin typeface="VTB Omega UI Medium"/>
              </a:rPr>
              <a:t> </a:t>
            </a:r>
            <a:r>
              <a:rPr dirty="0" err="1">
                <a:solidFill>
                  <a:srgbClr val="FFFFFF"/>
                </a:solidFill>
                <a:latin typeface="VTB Omega UI Medium"/>
              </a:rPr>
              <a:t>проекта</a:t>
            </a:r>
            <a:endParaRPr dirty="0">
              <a:solidFill>
                <a:srgbClr val="FFFFFF"/>
              </a:solidFill>
              <a:latin typeface="VTB Omega UI Medium"/>
            </a:endParaRPr>
          </a:p>
        </p:txBody>
      </p:sp>
      <p:sp>
        <p:nvSpPr>
          <p:cNvPr id="13" name="Текст"/>
          <p:cNvSpPr txBox="1"/>
          <p:nvPr/>
        </p:nvSpPr>
        <p:spPr>
          <a:xfrm>
            <a:off x="622300" y="4242886"/>
            <a:ext cx="2289712" cy="17261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7800" indent="-177800" algn="l">
              <a:buClr>
                <a:srgbClr val="FFFFFF"/>
              </a:buClr>
              <a:buFont typeface="Arial"/>
              <a:buChar char="•"/>
            </a:pPr>
            <a:r>
              <a:rPr sz="1200" dirty="0" err="1">
                <a:solidFill>
                  <a:srgbClr val="FFFFFF"/>
                </a:solidFill>
                <a:latin typeface="VTB Omega UI"/>
              </a:rPr>
              <a:t>Развитие</a:t>
            </a:r>
            <a:r>
              <a:rPr lang="ru-RU" sz="1200" dirty="0">
                <a:solidFill>
                  <a:srgbClr val="FFFFFF"/>
                </a:solidFill>
                <a:latin typeface="VTB Omega UI"/>
              </a:rPr>
              <a:t> у студентов финансово-экономических вузов </a:t>
            </a:r>
            <a:r>
              <a:rPr sz="1200" dirty="0">
                <a:solidFill>
                  <a:srgbClr val="FFFFFF"/>
                </a:solidFill>
                <a:latin typeface="VTB Omega UI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VTB Omega UI"/>
              </a:rPr>
              <a:t>прикладных</a:t>
            </a:r>
            <a:r>
              <a:rPr sz="1200" dirty="0">
                <a:solidFill>
                  <a:srgbClr val="FFFFFF"/>
                </a:solidFill>
                <a:latin typeface="VTB Omega UI"/>
              </a:rPr>
              <a:t> </a:t>
            </a:r>
            <a:r>
              <a:rPr lang="ru-RU" sz="1200" dirty="0">
                <a:solidFill>
                  <a:srgbClr val="FFFFFF"/>
                </a:solidFill>
                <a:latin typeface="VTB Omega UI"/>
              </a:rPr>
              <a:t>навыков финансиста</a:t>
            </a:r>
            <a:endParaRPr sz="1200" dirty="0">
              <a:solidFill>
                <a:srgbClr val="FFFFFF"/>
              </a:solidFill>
              <a:latin typeface="VTB Omega UI"/>
            </a:endParaRPr>
          </a:p>
          <a:p>
            <a:pPr marL="177800" indent="-177800" algn="l">
              <a:spcBef>
                <a:spcPts val="500"/>
              </a:spcBef>
              <a:buClr>
                <a:srgbClr val="FFFFFF"/>
              </a:buClr>
              <a:buFont typeface="Arial"/>
              <a:buChar char="•"/>
            </a:pPr>
            <a:r>
              <a:rPr lang="ru-RU" sz="1200" dirty="0">
                <a:solidFill>
                  <a:srgbClr val="FFFFFF"/>
                </a:solidFill>
                <a:latin typeface="VTB Omega UI"/>
              </a:rPr>
              <a:t>Дополнительные кандидаты для воронки на стажировки Юниор и РОСТ</a:t>
            </a:r>
            <a:endParaRPr sz="1200" dirty="0">
              <a:solidFill>
                <a:srgbClr val="FFFFFF"/>
              </a:solidFill>
              <a:latin typeface="VTB Omega UI"/>
            </a:endParaRPr>
          </a:p>
        </p:txBody>
      </p:sp>
      <p:sp>
        <p:nvSpPr>
          <p:cNvPr id="14" name="Карточка"/>
          <p:cNvSpPr/>
          <p:nvPr/>
        </p:nvSpPr>
        <p:spPr>
          <a:xfrm>
            <a:off x="3270250" y="2781300"/>
            <a:ext cx="2762250" cy="1638300"/>
          </a:xfrm>
          <a:prstGeom prst="roundRect">
            <a:avLst>
              <a:gd name="adj" fmla="val 4651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Цифра"/>
          <p:cNvSpPr txBox="1"/>
          <p:nvPr/>
        </p:nvSpPr>
        <p:spPr>
          <a:xfrm>
            <a:off x="3511550" y="3004071"/>
            <a:ext cx="227965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dirty="0">
                <a:solidFill>
                  <a:srgbClr val="0A2896"/>
                </a:solidFill>
                <a:latin typeface="VTB Omega UI"/>
              </a:rPr>
              <a:t>хх ххх+</a:t>
            </a:r>
          </a:p>
        </p:txBody>
      </p:sp>
      <p:sp>
        <p:nvSpPr>
          <p:cNvPr id="16" name="Текст"/>
          <p:cNvSpPr txBox="1"/>
          <p:nvPr/>
        </p:nvSpPr>
        <p:spPr>
          <a:xfrm>
            <a:off x="3511550" y="3785513"/>
            <a:ext cx="2279650" cy="43088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400" dirty="0" err="1">
                <a:solidFill>
                  <a:srgbClr val="3A4250"/>
                </a:solidFill>
                <a:latin typeface="VTB Omega UI"/>
              </a:rPr>
              <a:t>Регистраций</a:t>
            </a:r>
            <a:r>
              <a:rPr sz="1400" dirty="0">
                <a:solidFill>
                  <a:srgbClr val="3A4250"/>
                </a:solidFill>
                <a:latin typeface="VTB Omega UI"/>
              </a:rPr>
              <a:t> </a:t>
            </a:r>
            <a:r>
              <a:rPr sz="1400" dirty="0" err="1">
                <a:solidFill>
                  <a:srgbClr val="3A4250"/>
                </a:solidFill>
                <a:latin typeface="VTB Omega UI"/>
              </a:rPr>
              <a:t>на</a:t>
            </a:r>
            <a:r>
              <a:rPr sz="1400" dirty="0">
                <a:solidFill>
                  <a:srgbClr val="3A4250"/>
                </a:solidFill>
                <a:latin typeface="VTB Omega UI"/>
              </a:rPr>
              <a:t> </a:t>
            </a:r>
            <a:r>
              <a:rPr sz="1400" dirty="0" err="1">
                <a:solidFill>
                  <a:srgbClr val="3A4250"/>
                </a:solidFill>
                <a:latin typeface="VTB Omega UI"/>
              </a:rPr>
              <a:t>все</a:t>
            </a:r>
            <a:r>
              <a:rPr sz="1400" dirty="0">
                <a:solidFill>
                  <a:srgbClr val="3A4250"/>
                </a:solidFill>
                <a:latin typeface="VTB Omega UI"/>
              </a:rPr>
              <a:t> </a:t>
            </a:r>
            <a:r>
              <a:rPr sz="1400" dirty="0" err="1">
                <a:solidFill>
                  <a:srgbClr val="3A4250"/>
                </a:solidFill>
                <a:latin typeface="VTB Omega UI"/>
              </a:rPr>
              <a:t>запуски</a:t>
            </a:r>
            <a:endParaRPr sz="1400" dirty="0">
              <a:solidFill>
                <a:srgbClr val="3A4250"/>
              </a:solidFill>
              <a:latin typeface="VTB Omega UI"/>
            </a:endParaRPr>
          </a:p>
        </p:txBody>
      </p:sp>
      <p:sp>
        <p:nvSpPr>
          <p:cNvPr id="17" name="Карточка"/>
          <p:cNvSpPr/>
          <p:nvPr/>
        </p:nvSpPr>
        <p:spPr>
          <a:xfrm>
            <a:off x="6159500" y="2781300"/>
            <a:ext cx="2762250" cy="1638300"/>
          </a:xfrm>
          <a:prstGeom prst="roundRect">
            <a:avLst>
              <a:gd name="adj" fmla="val 4651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Карточка"/>
          <p:cNvSpPr/>
          <p:nvPr/>
        </p:nvSpPr>
        <p:spPr>
          <a:xfrm>
            <a:off x="9048750" y="2781300"/>
            <a:ext cx="2762250" cy="1638300"/>
          </a:xfrm>
          <a:prstGeom prst="roundRect">
            <a:avLst>
              <a:gd name="adj" fmla="val 4651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Цифра"/>
          <p:cNvSpPr txBox="1"/>
          <p:nvPr/>
        </p:nvSpPr>
        <p:spPr>
          <a:xfrm>
            <a:off x="9290050" y="3004071"/>
            <a:ext cx="2279650" cy="602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715"/>
              </a:lnSpc>
            </a:pPr>
            <a:r>
              <a:rPr sz="4200" dirty="0">
                <a:solidFill>
                  <a:srgbClr val="0A2896"/>
                </a:solidFill>
                <a:latin typeface="VTB Omega UI"/>
              </a:rPr>
              <a:t>хх</a:t>
            </a:r>
            <a:endParaRPr sz="1845" dirty="0">
              <a:solidFill>
                <a:srgbClr val="0A2896"/>
              </a:solidFill>
              <a:latin typeface="VTB Omega UI"/>
            </a:endParaRPr>
          </a:p>
        </p:txBody>
      </p:sp>
      <p:sp>
        <p:nvSpPr>
          <p:cNvPr id="22" name="Текст"/>
          <p:cNvSpPr txBox="1"/>
          <p:nvPr/>
        </p:nvSpPr>
        <p:spPr>
          <a:xfrm>
            <a:off x="9290050" y="3997297"/>
            <a:ext cx="2279650" cy="206403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ts val="1700"/>
              </a:lnSpc>
            </a:pPr>
            <a:r>
              <a:rPr lang="ru-RU" sz="1400" dirty="0">
                <a:solidFill>
                  <a:srgbClr val="3A4250"/>
                </a:solidFill>
                <a:latin typeface="VTB Omega UI"/>
              </a:rPr>
              <a:t>Стран</a:t>
            </a:r>
            <a:endParaRPr sz="1400" dirty="0">
              <a:solidFill>
                <a:srgbClr val="3A4250"/>
              </a:solidFill>
              <a:latin typeface="VTB Omega UI"/>
            </a:endParaRPr>
          </a:p>
        </p:txBody>
      </p:sp>
      <p:sp>
        <p:nvSpPr>
          <p:cNvPr id="24" name="Цифра"/>
          <p:cNvSpPr txBox="1"/>
          <p:nvPr/>
        </p:nvSpPr>
        <p:spPr>
          <a:xfrm>
            <a:off x="6400800" y="3000173"/>
            <a:ext cx="227965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542"/>
              </a:lnSpc>
            </a:pPr>
            <a:r>
              <a:rPr sz="3950" dirty="0">
                <a:solidFill>
                  <a:srgbClr val="0A2896"/>
                </a:solidFill>
                <a:latin typeface="VTB Omega UI"/>
              </a:rPr>
              <a:t>хх </a:t>
            </a:r>
            <a:r>
              <a:rPr sz="1777" dirty="0" err="1">
                <a:solidFill>
                  <a:srgbClr val="0A2896"/>
                </a:solidFill>
                <a:latin typeface="VTB Omega UI"/>
              </a:rPr>
              <a:t>из</a:t>
            </a:r>
            <a:r>
              <a:rPr sz="3950" dirty="0">
                <a:solidFill>
                  <a:srgbClr val="0A2896"/>
                </a:solidFill>
                <a:latin typeface="VTB Omega UI"/>
              </a:rPr>
              <a:t> хх</a:t>
            </a:r>
          </a:p>
        </p:txBody>
      </p:sp>
      <p:sp>
        <p:nvSpPr>
          <p:cNvPr id="25" name="Текст"/>
          <p:cNvSpPr txBox="1"/>
          <p:nvPr/>
        </p:nvSpPr>
        <p:spPr>
          <a:xfrm>
            <a:off x="6400800" y="4012970"/>
            <a:ext cx="2279650" cy="206403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ts val="1700"/>
              </a:lnSpc>
            </a:pPr>
            <a:r>
              <a:rPr lang="ru-RU" sz="1400" dirty="0">
                <a:solidFill>
                  <a:srgbClr val="3A4250"/>
                </a:solidFill>
                <a:latin typeface="VTB Omega UI"/>
              </a:rPr>
              <a:t>Р</a:t>
            </a:r>
            <a:r>
              <a:rPr sz="1400" dirty="0" err="1">
                <a:solidFill>
                  <a:srgbClr val="3A4250"/>
                </a:solidFill>
                <a:latin typeface="VTB Omega UI"/>
              </a:rPr>
              <a:t>егионов</a:t>
            </a:r>
            <a:r>
              <a:rPr sz="1400" dirty="0">
                <a:solidFill>
                  <a:srgbClr val="3A4250"/>
                </a:solidFill>
                <a:latin typeface="VTB Omega UI"/>
              </a:rPr>
              <a:t> РФ</a:t>
            </a:r>
          </a:p>
        </p:txBody>
      </p:sp>
      <p:sp>
        <p:nvSpPr>
          <p:cNvPr id="26" name="Карточка"/>
          <p:cNvSpPr/>
          <p:nvPr/>
        </p:nvSpPr>
        <p:spPr>
          <a:xfrm>
            <a:off x="3270250" y="4546600"/>
            <a:ext cx="2762250" cy="1638300"/>
          </a:xfrm>
          <a:prstGeom prst="roundRect">
            <a:avLst>
              <a:gd name="adj" fmla="val 4651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Цифра"/>
          <p:cNvSpPr txBox="1"/>
          <p:nvPr/>
        </p:nvSpPr>
        <p:spPr>
          <a:xfrm>
            <a:off x="3511550" y="4739944"/>
            <a:ext cx="2279650" cy="6576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520"/>
              </a:lnSpc>
            </a:pPr>
            <a:r>
              <a:rPr sz="4200" dirty="0">
                <a:solidFill>
                  <a:srgbClr val="0A2896"/>
                </a:solidFill>
                <a:latin typeface="VTB Omega UI"/>
              </a:rPr>
              <a:t>ххх+</a:t>
            </a:r>
          </a:p>
        </p:txBody>
      </p:sp>
      <p:sp>
        <p:nvSpPr>
          <p:cNvPr id="28" name="Текст"/>
          <p:cNvSpPr txBox="1"/>
          <p:nvPr/>
        </p:nvSpPr>
        <p:spPr>
          <a:xfrm>
            <a:off x="3511550" y="5762597"/>
            <a:ext cx="2279650" cy="206403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ts val="1700"/>
              </a:lnSpc>
            </a:pPr>
            <a:r>
              <a:rPr sz="1400" dirty="0" err="1">
                <a:solidFill>
                  <a:srgbClr val="3A4250"/>
                </a:solidFill>
                <a:latin typeface="VTB Omega UI"/>
              </a:rPr>
              <a:t>Вузов</a:t>
            </a:r>
            <a:endParaRPr sz="1400" dirty="0">
              <a:solidFill>
                <a:srgbClr val="3A4250"/>
              </a:solidFill>
              <a:latin typeface="VTB Omega UI"/>
            </a:endParaRPr>
          </a:p>
        </p:txBody>
      </p:sp>
      <p:sp>
        <p:nvSpPr>
          <p:cNvPr id="29" name="Карточка"/>
          <p:cNvSpPr/>
          <p:nvPr/>
        </p:nvSpPr>
        <p:spPr>
          <a:xfrm>
            <a:off x="6159500" y="4546600"/>
            <a:ext cx="2762250" cy="1638300"/>
          </a:xfrm>
          <a:prstGeom prst="roundRect">
            <a:avLst>
              <a:gd name="adj" fmla="val 4651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Цифра"/>
          <p:cNvSpPr txBox="1"/>
          <p:nvPr/>
        </p:nvSpPr>
        <p:spPr>
          <a:xfrm>
            <a:off x="6400800" y="4739946"/>
            <a:ext cx="2279650" cy="6576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520"/>
              </a:lnSpc>
            </a:pPr>
            <a:r>
              <a:rPr sz="4200" dirty="0">
                <a:solidFill>
                  <a:srgbClr val="0A2896"/>
                </a:solidFill>
                <a:latin typeface="VTB Omega UI"/>
              </a:rPr>
              <a:t>х ххх</a:t>
            </a:r>
          </a:p>
        </p:txBody>
      </p:sp>
      <p:sp>
        <p:nvSpPr>
          <p:cNvPr id="32" name="Карточка"/>
          <p:cNvSpPr/>
          <p:nvPr/>
        </p:nvSpPr>
        <p:spPr>
          <a:xfrm>
            <a:off x="9048750" y="4546600"/>
            <a:ext cx="2762250" cy="1638300"/>
          </a:xfrm>
          <a:prstGeom prst="roundRect">
            <a:avLst>
              <a:gd name="adj" fmla="val 4651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Цифра"/>
          <p:cNvSpPr txBox="1"/>
          <p:nvPr/>
        </p:nvSpPr>
        <p:spPr>
          <a:xfrm>
            <a:off x="9290050" y="4739945"/>
            <a:ext cx="2279650" cy="6576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520"/>
              </a:lnSpc>
            </a:pPr>
            <a:r>
              <a:rPr lang="ru-RU" sz="4200" dirty="0">
                <a:solidFill>
                  <a:srgbClr val="0A2896"/>
                </a:solidFill>
              </a:rPr>
              <a:t>хх</a:t>
            </a:r>
            <a:endParaRPr sz="4200" dirty="0">
              <a:solidFill>
                <a:srgbClr val="0A2896"/>
              </a:solidFill>
              <a:latin typeface="VTB Omega UI"/>
            </a:endParaRPr>
          </a:p>
        </p:txBody>
      </p:sp>
      <p:sp>
        <p:nvSpPr>
          <p:cNvPr id="34" name="Текст"/>
          <p:cNvSpPr txBox="1"/>
          <p:nvPr/>
        </p:nvSpPr>
        <p:spPr>
          <a:xfrm>
            <a:off x="9290050" y="5544588"/>
            <a:ext cx="2279650" cy="42441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ts val="1700"/>
              </a:lnSpc>
            </a:pPr>
            <a:r>
              <a:rPr sz="1400">
                <a:solidFill>
                  <a:srgbClr val="3A4250"/>
                </a:solidFill>
                <a:latin typeface="VTB Omega UI"/>
              </a:rPr>
              <a:t>Участников</a:t>
            </a:r>
            <a:r>
              <a:rPr sz="1400" dirty="0">
                <a:solidFill>
                  <a:srgbClr val="3A4250"/>
                </a:solidFill>
                <a:latin typeface="VTB Omega UI"/>
              </a:rPr>
              <a:t> </a:t>
            </a:r>
            <a:r>
              <a:rPr sz="1400" dirty="0" err="1">
                <a:solidFill>
                  <a:srgbClr val="3A4250"/>
                </a:solidFill>
                <a:latin typeface="VTB Omega UI"/>
              </a:rPr>
              <a:t>трудоустроено</a:t>
            </a:r>
            <a:r>
              <a:rPr sz="1400" dirty="0">
                <a:solidFill>
                  <a:srgbClr val="3A4250"/>
                </a:solidFill>
                <a:latin typeface="VTB Omega UI"/>
              </a:rPr>
              <a:t> </a:t>
            </a:r>
            <a:r>
              <a:rPr sz="1400" dirty="0" err="1">
                <a:solidFill>
                  <a:srgbClr val="3A4250"/>
                </a:solidFill>
                <a:latin typeface="VTB Omega UI"/>
              </a:rPr>
              <a:t>в</a:t>
            </a:r>
            <a:r>
              <a:rPr sz="1400" dirty="0">
                <a:solidFill>
                  <a:srgbClr val="3A4250"/>
                </a:solidFill>
                <a:latin typeface="VTB Omega UI"/>
              </a:rPr>
              <a:t> ВТБ</a:t>
            </a:r>
          </a:p>
        </p:txBody>
      </p:sp>
      <p:sp>
        <p:nvSpPr>
          <p:cNvPr id="2" name="Текст">
            <a:extLst>
              <a:ext uri="{FF2B5EF4-FFF2-40B4-BE49-F238E27FC236}">
                <a16:creationId xmlns:a16="http://schemas.microsoft.com/office/drawing/2014/main" id="{0C33FD6C-C8EA-87A2-452D-7310B4C83902}"/>
              </a:ext>
            </a:extLst>
          </p:cNvPr>
          <p:cNvSpPr txBox="1"/>
          <p:nvPr/>
        </p:nvSpPr>
        <p:spPr>
          <a:xfrm>
            <a:off x="6404346" y="5544588"/>
            <a:ext cx="2279650" cy="42441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ts val="1700"/>
              </a:lnSpc>
            </a:pPr>
            <a:r>
              <a:rPr lang="ru-RU" sz="1400" dirty="0">
                <a:solidFill>
                  <a:srgbClr val="3A4250"/>
                </a:solidFill>
                <a:latin typeface="VTB Omega UI"/>
              </a:rPr>
              <a:t>Кандидатов </a:t>
            </a:r>
          </a:p>
          <a:p>
            <a:pPr algn="l">
              <a:lnSpc>
                <a:spcPts val="1700"/>
              </a:lnSpc>
            </a:pPr>
            <a:r>
              <a:rPr lang="ru-RU" sz="1400" dirty="0">
                <a:solidFill>
                  <a:srgbClr val="3A4250"/>
                </a:solidFill>
                <a:latin typeface="VTB Omega UI"/>
              </a:rPr>
              <a:t>на вакансии</a:t>
            </a:r>
            <a:endParaRPr sz="1400" dirty="0">
              <a:solidFill>
                <a:srgbClr val="3A4250"/>
              </a:solidFill>
              <a:latin typeface="VTB Omega UI"/>
            </a:endParaRPr>
          </a:p>
        </p:txBody>
      </p:sp>
    </p:spTree>
    <p:extLst>
      <p:ext uri="{BB962C8B-B14F-4D97-AF65-F5344CB8AC3E}">
        <p14:creationId xmlns:p14="http://schemas.microsoft.com/office/powerpoint/2010/main" val="4249884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85A43172-339A-4CCC-86BB-D02E8A58B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normAutofit fontScale="90000"/>
          </a:bodyPr>
          <a:lstStyle/>
          <a:p>
            <a:pPr>
              <a:lnSpc>
                <a:spcPts val="3100"/>
              </a:lnSpc>
            </a:pPr>
            <a:r>
              <a:rPr sz="2800" dirty="0" err="1">
                <a:solidFill>
                  <a:srgbClr val="0A2896"/>
                </a:solidFill>
              </a:rPr>
              <a:t>Спикеры</a:t>
            </a:r>
            <a:r>
              <a:rPr sz="2800" dirty="0">
                <a:solidFill>
                  <a:srgbClr val="0A2896"/>
                </a:solidFill>
              </a:rPr>
              <a:t> </a:t>
            </a:r>
            <a:r>
              <a:rPr sz="2800" dirty="0" err="1">
                <a:solidFill>
                  <a:srgbClr val="0A2896"/>
                </a:solidFill>
              </a:rPr>
              <a:t>ШОиФД</a:t>
            </a:r>
            <a:r>
              <a:rPr sz="2800" dirty="0">
                <a:solidFill>
                  <a:srgbClr val="0A2896"/>
                </a:solidFill>
              </a:rPr>
              <a:t> — </a:t>
            </a:r>
            <a:r>
              <a:rPr sz="2800" dirty="0" err="1">
                <a:solidFill>
                  <a:srgbClr val="0A2896"/>
                </a:solidFill>
              </a:rPr>
              <a:t>лидеры</a:t>
            </a:r>
            <a:r>
              <a:rPr sz="2800" dirty="0">
                <a:solidFill>
                  <a:srgbClr val="0A2896"/>
                </a:solidFill>
              </a:rPr>
              <a:t> Финансового </a:t>
            </a:r>
            <a:r>
              <a:rPr sz="2800" dirty="0" err="1">
                <a:solidFill>
                  <a:srgbClr val="0A2896"/>
                </a:solidFill>
              </a:rPr>
              <a:t>департамента</a:t>
            </a:r>
            <a:r>
              <a:rPr sz="2800" dirty="0">
                <a:solidFill>
                  <a:srgbClr val="0A2896"/>
                </a:solidFill>
              </a:rPr>
              <a:t> </a:t>
            </a:r>
            <a:r>
              <a:rPr sz="2800" dirty="0" err="1">
                <a:solidFill>
                  <a:srgbClr val="0A2896"/>
                </a:solidFill>
              </a:rPr>
              <a:t>и</a:t>
            </a:r>
            <a:r>
              <a:rPr sz="2800" dirty="0">
                <a:solidFill>
                  <a:srgbClr val="0A2896"/>
                </a:solidFill>
              </a:rPr>
              <a:t> </a:t>
            </a:r>
            <a:r>
              <a:rPr sz="2800" dirty="0" err="1">
                <a:solidFill>
                  <a:srgbClr val="0A2896"/>
                </a:solidFill>
              </a:rPr>
              <a:t>других</a:t>
            </a:r>
            <a:r>
              <a:rPr sz="2800" dirty="0">
                <a:solidFill>
                  <a:srgbClr val="0A2896"/>
                </a:solidFill>
              </a:rPr>
              <a:t> </a:t>
            </a:r>
            <a:r>
              <a:rPr sz="2800" dirty="0" err="1">
                <a:solidFill>
                  <a:srgbClr val="0A2896"/>
                </a:solidFill>
              </a:rPr>
              <a:t>подразделений</a:t>
            </a:r>
            <a:r>
              <a:rPr sz="2800" dirty="0">
                <a:solidFill>
                  <a:srgbClr val="0A2896"/>
                </a:solidFill>
              </a:rPr>
              <a:t> ВТБ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8A1335D-0971-44DA-9021-3CE509D3773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E9794C1B-C881-42F5-9B4F-0D6130829943}" type="slidenum">
              <a:rPr lang="ru-RU" smtClean="0"/>
              <a:pPr>
                <a:defRPr/>
              </a:pPr>
              <a:t>4</a:t>
            </a:fld>
            <a:endParaRPr lang="ru-RU" dirty="0"/>
          </a:p>
        </p:txBody>
      </p:sp>
      <p:sp>
        <p:nvSpPr>
          <p:cNvPr id="10" name="Сноска"/>
          <p:cNvSpPr txBox="1"/>
          <p:nvPr/>
        </p:nvSpPr>
        <p:spPr>
          <a:xfrm>
            <a:off x="381000" y="6386512"/>
            <a:ext cx="8890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40"/>
              </a:lnSpc>
            </a:pPr>
            <a:r>
              <a:rPr sz="950" dirty="0">
                <a:solidFill>
                  <a:srgbClr val="4A5361"/>
                </a:solidFill>
                <a:latin typeface="VTB Omega UI"/>
              </a:rPr>
              <a:t>* </a:t>
            </a:r>
            <a:r>
              <a:rPr sz="950" dirty="0" err="1">
                <a:solidFill>
                  <a:srgbClr val="4A5361"/>
                </a:solidFill>
                <a:latin typeface="VTB Omega UI"/>
              </a:rPr>
              <a:t>За</a:t>
            </a:r>
            <a:r>
              <a:rPr sz="950" dirty="0">
                <a:solidFill>
                  <a:srgbClr val="4A5361"/>
                </a:solidFill>
                <a:latin typeface="VTB Omega UI"/>
              </a:rPr>
              <a:t> х </a:t>
            </a:r>
            <a:r>
              <a:rPr sz="950" dirty="0" err="1">
                <a:solidFill>
                  <a:srgbClr val="4A5361"/>
                </a:solidFill>
                <a:latin typeface="VTB Omega UI"/>
              </a:rPr>
              <a:t>запусков</a:t>
            </a:r>
            <a:r>
              <a:rPr sz="950" dirty="0">
                <a:solidFill>
                  <a:srgbClr val="4A5361"/>
                </a:solidFill>
                <a:latin typeface="VTB Omega UI"/>
              </a:rPr>
              <a:t> </a:t>
            </a:r>
            <a:r>
              <a:rPr sz="950" dirty="0" err="1">
                <a:solidFill>
                  <a:srgbClr val="4A5361"/>
                </a:solidFill>
                <a:latin typeface="VTB Omega UI"/>
              </a:rPr>
              <a:t>ШОиФД</a:t>
            </a:r>
            <a:endParaRPr sz="950" dirty="0">
              <a:solidFill>
                <a:srgbClr val="4A5361"/>
              </a:solidFill>
              <a:latin typeface="VTB Omega UI"/>
            </a:endParaRPr>
          </a:p>
        </p:txBody>
      </p:sp>
      <p:sp>
        <p:nvSpPr>
          <p:cNvPr id="11" name="Цифра"/>
          <p:cNvSpPr txBox="1"/>
          <p:nvPr/>
        </p:nvSpPr>
        <p:spPr>
          <a:xfrm>
            <a:off x="381000" y="2207260"/>
            <a:ext cx="2815394" cy="701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520"/>
              </a:lnSpc>
            </a:pPr>
            <a:r>
              <a:rPr sz="4800" dirty="0">
                <a:solidFill>
                  <a:srgbClr val="0A2896"/>
                </a:solidFill>
                <a:latin typeface="VTB Omega UI"/>
              </a:rPr>
              <a:t>х,</a:t>
            </a:r>
            <a:r>
              <a:rPr lang="ru-RU" sz="4800" dirty="0">
                <a:solidFill>
                  <a:srgbClr val="0A2896"/>
                </a:solidFill>
                <a:latin typeface="VTB Omega UI"/>
              </a:rPr>
              <a:t>х</a:t>
            </a:r>
            <a:r>
              <a:rPr sz="2160" dirty="0">
                <a:solidFill>
                  <a:srgbClr val="0A2896"/>
                </a:solidFill>
                <a:latin typeface="VTB Omega UI"/>
              </a:rPr>
              <a:t>/</a:t>
            </a:r>
            <a:r>
              <a:rPr sz="2000" dirty="0">
                <a:solidFill>
                  <a:srgbClr val="0A2896"/>
                </a:solidFill>
                <a:latin typeface="VTB Omega UI"/>
              </a:rPr>
              <a:t>хх</a:t>
            </a:r>
          </a:p>
        </p:txBody>
      </p:sp>
      <p:sp>
        <p:nvSpPr>
          <p:cNvPr id="12" name="Текст"/>
          <p:cNvSpPr txBox="1"/>
          <p:nvPr/>
        </p:nvSpPr>
        <p:spPr>
          <a:xfrm>
            <a:off x="2748727" y="2385795"/>
            <a:ext cx="254648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dirty="0">
                <a:solidFill>
                  <a:srgbClr val="3A4250"/>
                </a:solidFill>
                <a:latin typeface="VTB Omega UI"/>
              </a:rPr>
              <a:t>Средняя </a:t>
            </a:r>
            <a:r>
              <a:rPr sz="1400" dirty="0" err="1">
                <a:solidFill>
                  <a:srgbClr val="3A4250"/>
                </a:solidFill>
                <a:latin typeface="VTB Omega UI"/>
              </a:rPr>
              <a:t>оценка</a:t>
            </a:r>
            <a:r>
              <a:rPr sz="1400" dirty="0">
                <a:solidFill>
                  <a:srgbClr val="3A4250"/>
                </a:solidFill>
                <a:latin typeface="VTB Omega UI"/>
              </a:rPr>
              <a:t> </a:t>
            </a:r>
            <a:r>
              <a:rPr sz="1400" dirty="0" err="1">
                <a:solidFill>
                  <a:srgbClr val="3A4250"/>
                </a:solidFill>
                <a:latin typeface="VTB Omega UI"/>
              </a:rPr>
              <a:t>спикеров</a:t>
            </a:r>
            <a:r>
              <a:rPr sz="1400" dirty="0">
                <a:solidFill>
                  <a:srgbClr val="3A4250"/>
                </a:solidFill>
                <a:latin typeface="VTB Omega UI"/>
              </a:rPr>
              <a:t> </a:t>
            </a:r>
            <a:r>
              <a:rPr sz="1400" dirty="0" err="1">
                <a:solidFill>
                  <a:srgbClr val="3A4250"/>
                </a:solidFill>
                <a:latin typeface="VTB Omega UI"/>
              </a:rPr>
              <a:t>слушателями</a:t>
            </a:r>
            <a:r>
              <a:rPr sz="1400" dirty="0">
                <a:solidFill>
                  <a:srgbClr val="3A4250"/>
                </a:solidFill>
                <a:latin typeface="VTB Omega UI"/>
              </a:rPr>
              <a:t>*</a:t>
            </a:r>
          </a:p>
        </p:txBody>
      </p:sp>
      <p:sp>
        <p:nvSpPr>
          <p:cNvPr id="13" name="Карточка"/>
          <p:cNvSpPr/>
          <p:nvPr/>
        </p:nvSpPr>
        <p:spPr>
          <a:xfrm>
            <a:off x="381000" y="3136900"/>
            <a:ext cx="3725333" cy="1460500"/>
          </a:xfrm>
          <a:prstGeom prst="roundRect">
            <a:avLst>
              <a:gd name="adj" fmla="val 5217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76" name="Текст"/>
          <p:cNvSpPr txBox="1"/>
          <p:nvPr/>
        </p:nvSpPr>
        <p:spPr>
          <a:xfrm>
            <a:off x="1790700" y="3344421"/>
            <a:ext cx="2163233" cy="2544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dirty="0" err="1">
                <a:solidFill>
                  <a:srgbClr val="0A2896"/>
                </a:solidFill>
                <a:latin typeface="VTB Omega UI Medium"/>
              </a:rPr>
              <a:t>Иван Иванов</a:t>
            </a:r>
            <a:r>
              <a:rPr sz="1400" dirty="0">
                <a:solidFill>
                  <a:srgbClr val="0A2896"/>
                </a:solidFill>
                <a:latin typeface="VTB Omega UI Medium"/>
              </a:rPr>
              <a:t/>
            </a:r>
            <a:r>
              <a:rPr sz="1400" dirty="0" err="1">
                <a:solidFill>
                  <a:srgbClr val="0A2896"/>
                </a:solidFill>
                <a:latin typeface="VTB Omega UI Medium"/>
              </a:rPr>
              <a:t/>
            </a:r>
            <a:endParaRPr sz="1400" dirty="0">
              <a:solidFill>
                <a:srgbClr val="0A2896"/>
              </a:solidFill>
              <a:latin typeface="VTB Omega UI Medium"/>
            </a:endParaRPr>
          </a:p>
        </p:txBody>
      </p:sp>
      <p:sp>
        <p:nvSpPr>
          <p:cNvPr id="77" name="Текст"/>
          <p:cNvSpPr txBox="1"/>
          <p:nvPr/>
        </p:nvSpPr>
        <p:spPr>
          <a:xfrm>
            <a:off x="1790700" y="3779520"/>
            <a:ext cx="2163233" cy="600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100" dirty="0" err="1">
                <a:solidFill>
                  <a:srgbClr val="3A4250"/>
                </a:solidFill>
                <a:latin typeface="VTB Omega UI"/>
              </a:rPr>
              <a:t>Начальник</a:t>
            </a:r>
            <a:r>
              <a:rPr sz="1100" dirty="0">
                <a:solidFill>
                  <a:srgbClr val="3A4250"/>
                </a:solidFill>
                <a:latin typeface="VTB Omega UI"/>
              </a:rPr>
              <a:t> </a:t>
            </a:r>
            <a:r>
              <a:rPr sz="1100" dirty="0" err="1">
                <a:solidFill>
                  <a:srgbClr val="3A4250"/>
                </a:solidFill>
                <a:latin typeface="VTB Omega UI"/>
              </a:rPr>
              <a:t>управления</a:t>
            </a:r>
            <a:r>
              <a:rPr sz="1100" dirty="0">
                <a:solidFill>
                  <a:srgbClr val="3A4250"/>
                </a:solidFill>
                <a:latin typeface="VTB Omega UI"/>
              </a:rPr>
              <a:t> </a:t>
            </a:r>
            <a:r>
              <a:rPr sz="1100" dirty="0" err="1">
                <a:solidFill>
                  <a:srgbClr val="3A4250"/>
                </a:solidFill>
                <a:latin typeface="VTB Omega UI"/>
              </a:rPr>
              <a:t>финансовой</a:t>
            </a:r>
            <a:r>
              <a:rPr sz="1100" dirty="0">
                <a:solidFill>
                  <a:srgbClr val="3A4250"/>
                </a:solidFill>
                <a:latin typeface="VTB Omega UI"/>
              </a:rPr>
              <a:t> </a:t>
            </a:r>
            <a:r>
              <a:rPr sz="1100" dirty="0" err="1">
                <a:solidFill>
                  <a:srgbClr val="3A4250"/>
                </a:solidFill>
                <a:latin typeface="VTB Omega UI"/>
              </a:rPr>
              <a:t>эффективности</a:t>
            </a:r>
            <a:r>
              <a:rPr sz="1100" dirty="0">
                <a:solidFill>
                  <a:srgbClr val="3A4250"/>
                </a:solidFill>
                <a:latin typeface="VTB Omega UI"/>
              </a:rPr>
              <a:t> ВТБ (ПАО)</a:t>
            </a:r>
          </a:p>
        </p:txBody>
      </p:sp>
      <p:sp>
        <p:nvSpPr>
          <p:cNvPr id="78" name="Карточка"/>
          <p:cNvSpPr/>
          <p:nvPr/>
        </p:nvSpPr>
        <p:spPr>
          <a:xfrm>
            <a:off x="4233333" y="3136900"/>
            <a:ext cx="3725333" cy="1460500"/>
          </a:xfrm>
          <a:prstGeom prst="roundRect">
            <a:avLst>
              <a:gd name="adj" fmla="val 5217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4" name="Текст"/>
          <p:cNvSpPr txBox="1"/>
          <p:nvPr/>
        </p:nvSpPr>
        <p:spPr>
          <a:xfrm>
            <a:off x="5630333" y="3344421"/>
            <a:ext cx="2163233" cy="2544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dirty="0" err="1">
                <a:solidFill>
                  <a:srgbClr val="0A2896"/>
                </a:solidFill>
                <a:latin typeface="VTB Omega UI Medium"/>
              </a:rPr>
              <a:t>Иван Иванов</a:t>
            </a:r>
            <a:r>
              <a:rPr sz="1400" dirty="0">
                <a:solidFill>
                  <a:srgbClr val="0A2896"/>
                </a:solidFill>
                <a:latin typeface="VTB Omega UI Medium"/>
              </a:rPr>
              <a:t/>
            </a:r>
            <a:r>
              <a:rPr sz="1400" dirty="0" err="1">
                <a:solidFill>
                  <a:srgbClr val="0A2896"/>
                </a:solidFill>
                <a:latin typeface="VTB Omega UI Medium"/>
              </a:rPr>
              <a:t/>
            </a:r>
            <a:endParaRPr sz="1400" dirty="0">
              <a:solidFill>
                <a:srgbClr val="0A2896"/>
              </a:solidFill>
              <a:latin typeface="VTB Omega UI Medium"/>
            </a:endParaRPr>
          </a:p>
        </p:txBody>
      </p:sp>
      <p:sp>
        <p:nvSpPr>
          <p:cNvPr id="85" name="Текст"/>
          <p:cNvSpPr txBox="1"/>
          <p:nvPr/>
        </p:nvSpPr>
        <p:spPr>
          <a:xfrm>
            <a:off x="5643033" y="3779520"/>
            <a:ext cx="2163233" cy="597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100" dirty="0" err="1">
                <a:solidFill>
                  <a:srgbClr val="3A4250"/>
                </a:solidFill>
                <a:latin typeface="VTB Omega UI"/>
              </a:rPr>
              <a:t>Начальник</a:t>
            </a:r>
            <a:r>
              <a:rPr sz="1100" dirty="0">
                <a:solidFill>
                  <a:srgbClr val="3A4250"/>
                </a:solidFill>
                <a:latin typeface="VTB Omega UI"/>
              </a:rPr>
              <a:t> </a:t>
            </a:r>
            <a:r>
              <a:rPr sz="1100" dirty="0" err="1">
                <a:solidFill>
                  <a:srgbClr val="3A4250"/>
                </a:solidFill>
                <a:latin typeface="VTB Omega UI"/>
              </a:rPr>
              <a:t>управления</a:t>
            </a:r>
            <a:r>
              <a:rPr sz="1100" dirty="0">
                <a:solidFill>
                  <a:srgbClr val="3A4250"/>
                </a:solidFill>
                <a:latin typeface="VTB Omega UI"/>
              </a:rPr>
              <a:t> </a:t>
            </a:r>
            <a:r>
              <a:rPr sz="1100" dirty="0" err="1">
                <a:solidFill>
                  <a:srgbClr val="3A4250"/>
                </a:solidFill>
                <a:latin typeface="VTB Omega UI"/>
              </a:rPr>
              <a:t>отчётности</a:t>
            </a:r>
            <a:r>
              <a:rPr sz="1100" dirty="0">
                <a:solidFill>
                  <a:srgbClr val="3A4250"/>
                </a:solidFill>
                <a:latin typeface="VTB Omega UI"/>
              </a:rPr>
              <a:t> </a:t>
            </a:r>
            <a:r>
              <a:rPr sz="1100" dirty="0" err="1">
                <a:solidFill>
                  <a:srgbClr val="3A4250"/>
                </a:solidFill>
                <a:latin typeface="VTB Omega UI"/>
              </a:rPr>
              <a:t>и</a:t>
            </a:r>
            <a:r>
              <a:rPr sz="1100" dirty="0">
                <a:solidFill>
                  <a:srgbClr val="3A4250"/>
                </a:solidFill>
                <a:latin typeface="VTB Omega UI"/>
              </a:rPr>
              <a:t> </a:t>
            </a:r>
            <a:r>
              <a:rPr sz="1100" dirty="0" err="1">
                <a:solidFill>
                  <a:srgbClr val="3A4250"/>
                </a:solidFill>
                <a:latin typeface="VTB Omega UI"/>
              </a:rPr>
              <a:t>финансовых</a:t>
            </a:r>
            <a:r>
              <a:rPr sz="1100" dirty="0">
                <a:solidFill>
                  <a:srgbClr val="3A4250"/>
                </a:solidFill>
                <a:latin typeface="VTB Omega UI"/>
              </a:rPr>
              <a:t> </a:t>
            </a:r>
            <a:r>
              <a:rPr sz="1100" dirty="0" err="1">
                <a:solidFill>
                  <a:srgbClr val="3A4250"/>
                </a:solidFill>
                <a:latin typeface="VTB Omega UI"/>
              </a:rPr>
              <a:t>данных</a:t>
            </a:r>
            <a:r>
              <a:rPr sz="1100" dirty="0">
                <a:solidFill>
                  <a:srgbClr val="3A4250"/>
                </a:solidFill>
                <a:latin typeface="VTB Omega UI"/>
              </a:rPr>
              <a:t> ВТБ (ПАО)</a:t>
            </a:r>
          </a:p>
        </p:txBody>
      </p:sp>
      <p:sp>
        <p:nvSpPr>
          <p:cNvPr id="86" name="Карточка"/>
          <p:cNvSpPr/>
          <p:nvPr/>
        </p:nvSpPr>
        <p:spPr>
          <a:xfrm>
            <a:off x="8085666" y="3136900"/>
            <a:ext cx="3725333" cy="1460500"/>
          </a:xfrm>
          <a:prstGeom prst="roundRect">
            <a:avLst>
              <a:gd name="adj" fmla="val 5217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" name="Текст"/>
          <p:cNvSpPr txBox="1"/>
          <p:nvPr/>
        </p:nvSpPr>
        <p:spPr>
          <a:xfrm>
            <a:off x="9482666" y="3344421"/>
            <a:ext cx="2163233" cy="235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sz="1400" dirty="0" err="1">
                <a:solidFill>
                  <a:srgbClr val="0A2896"/>
                </a:solidFill>
                <a:latin typeface="VTB Omega UI Medium"/>
              </a:rPr>
              <a:t>Иван Иванов</a:t>
            </a:r>
            <a:r>
              <a:rPr sz="1400" dirty="0">
                <a:solidFill>
                  <a:srgbClr val="0A2896"/>
                </a:solidFill>
                <a:latin typeface="VTB Omega UI Medium"/>
              </a:rPr>
              <a:t/>
            </a:r>
            <a:r>
              <a:rPr sz="1400" dirty="0" err="1">
                <a:solidFill>
                  <a:srgbClr val="0A2896"/>
                </a:solidFill>
                <a:latin typeface="VTB Omega UI Medium"/>
              </a:rPr>
              <a:t/>
            </a:r>
            <a:endParaRPr sz="1400" dirty="0">
              <a:solidFill>
                <a:srgbClr val="0A2896"/>
              </a:solidFill>
              <a:latin typeface="VTB Omega UI Medium"/>
            </a:endParaRPr>
          </a:p>
        </p:txBody>
      </p:sp>
      <p:sp>
        <p:nvSpPr>
          <p:cNvPr id="93" name="Текст"/>
          <p:cNvSpPr txBox="1"/>
          <p:nvPr/>
        </p:nvSpPr>
        <p:spPr>
          <a:xfrm>
            <a:off x="9482666" y="3789866"/>
            <a:ext cx="2163233" cy="597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100" dirty="0" err="1">
                <a:solidFill>
                  <a:srgbClr val="3A4250"/>
                </a:solidFill>
                <a:latin typeface="VTB Omega UI"/>
              </a:rPr>
              <a:t>Начальник</a:t>
            </a:r>
            <a:r>
              <a:rPr sz="1100" dirty="0">
                <a:solidFill>
                  <a:srgbClr val="3A4250"/>
                </a:solidFill>
                <a:latin typeface="VTB Omega UI"/>
              </a:rPr>
              <a:t> </a:t>
            </a:r>
            <a:r>
              <a:rPr sz="1100" dirty="0" err="1">
                <a:solidFill>
                  <a:srgbClr val="3A4250"/>
                </a:solidFill>
                <a:latin typeface="VTB Omega UI"/>
              </a:rPr>
              <a:t>управления</a:t>
            </a:r>
            <a:r>
              <a:rPr sz="1100" dirty="0">
                <a:solidFill>
                  <a:srgbClr val="3A4250"/>
                </a:solidFill>
                <a:latin typeface="VTB Omega UI"/>
              </a:rPr>
              <a:t> </a:t>
            </a:r>
            <a:r>
              <a:rPr sz="1100" dirty="0" err="1">
                <a:solidFill>
                  <a:srgbClr val="3A4250"/>
                </a:solidFill>
                <a:latin typeface="VTB Omega UI"/>
              </a:rPr>
              <a:t>бизнес-планирования</a:t>
            </a:r>
            <a:r>
              <a:rPr sz="1100" dirty="0">
                <a:solidFill>
                  <a:srgbClr val="3A4250"/>
                </a:solidFill>
                <a:latin typeface="VTB Omega UI"/>
              </a:rPr>
              <a:t>, </a:t>
            </a:r>
            <a:r>
              <a:rPr sz="1100" dirty="0" err="1">
                <a:solidFill>
                  <a:srgbClr val="3A4250"/>
                </a:solidFill>
                <a:latin typeface="VTB Omega UI"/>
              </a:rPr>
              <a:t>вице-президент</a:t>
            </a:r>
            <a:r>
              <a:rPr sz="1100" dirty="0">
                <a:solidFill>
                  <a:srgbClr val="3A4250"/>
                </a:solidFill>
                <a:latin typeface="VTB Omega UI"/>
              </a:rPr>
              <a:t> ВТБ (ПАО)</a:t>
            </a:r>
          </a:p>
        </p:txBody>
      </p:sp>
      <p:sp>
        <p:nvSpPr>
          <p:cNvPr id="94" name="Карточка"/>
          <p:cNvSpPr/>
          <p:nvPr/>
        </p:nvSpPr>
        <p:spPr>
          <a:xfrm>
            <a:off x="381000" y="4724400"/>
            <a:ext cx="3725333" cy="1460500"/>
          </a:xfrm>
          <a:prstGeom prst="roundRect">
            <a:avLst>
              <a:gd name="adj" fmla="val 5217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100" name="Текст"/>
          <p:cNvSpPr txBox="1"/>
          <p:nvPr/>
        </p:nvSpPr>
        <p:spPr>
          <a:xfrm>
            <a:off x="1790700" y="4925956"/>
            <a:ext cx="2163233" cy="2544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dirty="0" err="1">
                <a:solidFill>
                  <a:srgbClr val="0A2896"/>
                </a:solidFill>
                <a:latin typeface="VTB Omega UI Medium"/>
              </a:rPr>
              <a:t>Иван Иванов</a:t>
            </a:r>
            <a:r>
              <a:rPr sz="1400" dirty="0">
                <a:solidFill>
                  <a:srgbClr val="0A2896"/>
                </a:solidFill>
                <a:latin typeface="VTB Omega UI Medium"/>
              </a:rPr>
              <a:t/>
            </a:r>
            <a:r>
              <a:rPr sz="1400" dirty="0" err="1">
                <a:solidFill>
                  <a:srgbClr val="0A2896"/>
                </a:solidFill>
                <a:latin typeface="VTB Omega UI Medium"/>
              </a:rPr>
              <a:t/>
            </a:r>
            <a:endParaRPr sz="1400" dirty="0">
              <a:solidFill>
                <a:srgbClr val="0A2896"/>
              </a:solidFill>
              <a:latin typeface="VTB Omega UI Medium"/>
            </a:endParaRPr>
          </a:p>
        </p:txBody>
      </p:sp>
      <p:sp>
        <p:nvSpPr>
          <p:cNvPr id="101" name="Текст"/>
          <p:cNvSpPr txBox="1"/>
          <p:nvPr/>
        </p:nvSpPr>
        <p:spPr>
          <a:xfrm>
            <a:off x="1790700" y="5377366"/>
            <a:ext cx="2163233" cy="597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100" dirty="0" err="1">
                <a:solidFill>
                  <a:srgbClr val="3A4250"/>
                </a:solidFill>
                <a:latin typeface="VTB Omega UI"/>
              </a:rPr>
              <a:t>Начальник</a:t>
            </a:r>
            <a:r>
              <a:rPr sz="1100" dirty="0">
                <a:solidFill>
                  <a:srgbClr val="3A4250"/>
                </a:solidFill>
                <a:latin typeface="VTB Omega UI"/>
              </a:rPr>
              <a:t> </a:t>
            </a:r>
            <a:r>
              <a:rPr sz="1100" dirty="0" err="1">
                <a:solidFill>
                  <a:srgbClr val="3A4250"/>
                </a:solidFill>
                <a:latin typeface="VTB Omega UI"/>
              </a:rPr>
              <a:t>управления</a:t>
            </a:r>
            <a:r>
              <a:rPr sz="1100" dirty="0">
                <a:solidFill>
                  <a:srgbClr val="3A4250"/>
                </a:solidFill>
                <a:latin typeface="VTB Omega UI"/>
              </a:rPr>
              <a:t> </a:t>
            </a:r>
            <a:r>
              <a:rPr sz="1100" dirty="0" err="1">
                <a:solidFill>
                  <a:srgbClr val="3A4250"/>
                </a:solidFill>
                <a:latin typeface="VTB Omega UI"/>
              </a:rPr>
              <a:t>мониторинга</a:t>
            </a:r>
            <a:r>
              <a:rPr sz="1100" dirty="0">
                <a:solidFill>
                  <a:srgbClr val="3A4250"/>
                </a:solidFill>
                <a:latin typeface="VTB Omega UI"/>
              </a:rPr>
              <a:t> </a:t>
            </a:r>
            <a:r>
              <a:rPr sz="1100" dirty="0" err="1">
                <a:solidFill>
                  <a:srgbClr val="3A4250"/>
                </a:solidFill>
                <a:latin typeface="VTB Omega UI"/>
              </a:rPr>
              <a:t>бизнес-подразделений</a:t>
            </a:r>
            <a:r>
              <a:rPr sz="1100" dirty="0">
                <a:solidFill>
                  <a:srgbClr val="3A4250"/>
                </a:solidFill>
                <a:latin typeface="VTB Omega UI"/>
              </a:rPr>
              <a:t> ВТБ (ПАО)</a:t>
            </a:r>
          </a:p>
        </p:txBody>
      </p:sp>
      <p:sp>
        <p:nvSpPr>
          <p:cNvPr id="102" name="Карточка"/>
          <p:cNvSpPr/>
          <p:nvPr/>
        </p:nvSpPr>
        <p:spPr>
          <a:xfrm>
            <a:off x="4233333" y="4724400"/>
            <a:ext cx="3725333" cy="1460500"/>
          </a:xfrm>
          <a:prstGeom prst="roundRect">
            <a:avLst>
              <a:gd name="adj" fmla="val 5217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8" name="Текст"/>
          <p:cNvSpPr txBox="1"/>
          <p:nvPr/>
        </p:nvSpPr>
        <p:spPr>
          <a:xfrm>
            <a:off x="5643033" y="4908850"/>
            <a:ext cx="2163233" cy="2544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400" dirty="0" err="1">
                <a:solidFill>
                  <a:srgbClr val="0A2896"/>
                </a:solidFill>
                <a:latin typeface="VTB Omega UI Medium"/>
              </a:rPr>
              <a:t>Иван Иванов</a:t>
            </a:r>
            <a:r>
              <a:rPr sz="1400" dirty="0">
                <a:solidFill>
                  <a:srgbClr val="0A2896"/>
                </a:solidFill>
                <a:latin typeface="VTB Omega UI Medium"/>
              </a:rPr>
              <a:t/>
            </a:r>
            <a:r>
              <a:rPr sz="1400" dirty="0" err="1">
                <a:solidFill>
                  <a:srgbClr val="0A2896"/>
                </a:solidFill>
                <a:latin typeface="VTB Omega UI Medium"/>
              </a:rPr>
              <a:t/>
            </a:r>
            <a:endParaRPr sz="1400" dirty="0">
              <a:solidFill>
                <a:srgbClr val="0A2896"/>
              </a:solidFill>
              <a:latin typeface="VTB Omega UI Medium"/>
            </a:endParaRPr>
          </a:p>
        </p:txBody>
      </p:sp>
      <p:sp>
        <p:nvSpPr>
          <p:cNvPr id="109" name="Текст"/>
          <p:cNvSpPr txBox="1"/>
          <p:nvPr/>
        </p:nvSpPr>
        <p:spPr>
          <a:xfrm>
            <a:off x="5630333" y="5268260"/>
            <a:ext cx="2163233" cy="7069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1100" dirty="0" err="1">
                <a:solidFill>
                  <a:srgbClr val="3A4250"/>
                </a:solidFill>
                <a:latin typeface="VTB Omega UI"/>
              </a:rPr>
              <a:t>Начальник</a:t>
            </a:r>
            <a:r>
              <a:rPr sz="1100" dirty="0">
                <a:solidFill>
                  <a:srgbClr val="3A4250"/>
                </a:solidFill>
                <a:latin typeface="VTB Omega UI"/>
              </a:rPr>
              <a:t> </a:t>
            </a:r>
            <a:r>
              <a:rPr sz="1100" dirty="0" err="1">
                <a:solidFill>
                  <a:srgbClr val="3A4250"/>
                </a:solidFill>
                <a:latin typeface="VTB Omega UI"/>
              </a:rPr>
              <a:t>Управления</a:t>
            </a:r>
            <a:r>
              <a:rPr sz="1100" dirty="0">
                <a:solidFill>
                  <a:srgbClr val="3A4250"/>
                </a:solidFill>
                <a:latin typeface="VTB Omega UI"/>
              </a:rPr>
              <a:t> </a:t>
            </a:r>
            <a:r>
              <a:rPr sz="1100" dirty="0" err="1">
                <a:solidFill>
                  <a:srgbClr val="3A4250"/>
                </a:solidFill>
                <a:latin typeface="VTB Omega UI"/>
              </a:rPr>
              <a:t>организации</a:t>
            </a:r>
            <a:r>
              <a:rPr sz="1100" dirty="0">
                <a:solidFill>
                  <a:srgbClr val="3A4250"/>
                </a:solidFill>
                <a:latin typeface="VTB Omega UI"/>
              </a:rPr>
              <a:t> </a:t>
            </a:r>
            <a:r>
              <a:rPr sz="1100" dirty="0" err="1">
                <a:solidFill>
                  <a:srgbClr val="3A4250"/>
                </a:solidFill>
                <a:latin typeface="VTB Omega UI"/>
              </a:rPr>
              <a:t>и</a:t>
            </a:r>
            <a:r>
              <a:rPr sz="1100" dirty="0">
                <a:solidFill>
                  <a:srgbClr val="3A4250"/>
                </a:solidFill>
                <a:latin typeface="VTB Omega UI"/>
              </a:rPr>
              <a:t> </a:t>
            </a:r>
            <a:r>
              <a:rPr sz="1100" dirty="0" err="1">
                <a:solidFill>
                  <a:srgbClr val="3A4250"/>
                </a:solidFill>
                <a:latin typeface="VTB Omega UI"/>
              </a:rPr>
              <a:t>методологии</a:t>
            </a:r>
            <a:r>
              <a:rPr sz="1100" dirty="0">
                <a:solidFill>
                  <a:srgbClr val="3A4250"/>
                </a:solidFill>
                <a:latin typeface="VTB Omega UI"/>
              </a:rPr>
              <a:t> </a:t>
            </a:r>
            <a:r>
              <a:rPr sz="1100" dirty="0" err="1">
                <a:solidFill>
                  <a:srgbClr val="3A4250"/>
                </a:solidFill>
                <a:latin typeface="VTB Omega UI"/>
              </a:rPr>
              <a:t>бухгалтерского</a:t>
            </a:r>
            <a:r>
              <a:rPr sz="1100" dirty="0">
                <a:solidFill>
                  <a:srgbClr val="3A4250"/>
                </a:solidFill>
                <a:latin typeface="VTB Omega UI"/>
              </a:rPr>
              <a:t> </a:t>
            </a:r>
            <a:r>
              <a:rPr sz="1100" dirty="0" err="1">
                <a:solidFill>
                  <a:srgbClr val="3A4250"/>
                </a:solidFill>
                <a:latin typeface="VTB Omega UI"/>
              </a:rPr>
              <a:t>учёта</a:t>
            </a:r>
            <a:r>
              <a:rPr sz="1100" dirty="0">
                <a:solidFill>
                  <a:srgbClr val="3A4250"/>
                </a:solidFill>
                <a:latin typeface="VTB Omega UI"/>
              </a:rPr>
              <a:t>, ВТБ (ПАО)</a:t>
            </a:r>
          </a:p>
        </p:txBody>
      </p:sp>
      <p:sp>
        <p:nvSpPr>
          <p:cNvPr id="110" name="Карточка"/>
          <p:cNvSpPr/>
          <p:nvPr/>
        </p:nvSpPr>
        <p:spPr>
          <a:xfrm>
            <a:off x="8085665" y="4724400"/>
            <a:ext cx="3725333" cy="1460500"/>
          </a:xfrm>
          <a:prstGeom prst="roundRect">
            <a:avLst>
              <a:gd name="adj" fmla="val 5217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6" name="Текст"/>
          <p:cNvSpPr txBox="1"/>
          <p:nvPr/>
        </p:nvSpPr>
        <p:spPr>
          <a:xfrm>
            <a:off x="9495366" y="4925314"/>
            <a:ext cx="2163233" cy="235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400" dirty="0" err="1">
                <a:solidFill>
                  <a:srgbClr val="0A2896"/>
                </a:solidFill>
                <a:latin typeface="VTB Omega UI Medium"/>
              </a:rPr>
              <a:t>Иван Иванов</a:t>
            </a:r>
            <a:r>
              <a:rPr sz="1400" dirty="0">
                <a:solidFill>
                  <a:srgbClr val="0A2896"/>
                </a:solidFill>
                <a:latin typeface="VTB Omega UI Medium"/>
              </a:rPr>
              <a:t/>
            </a:r>
            <a:r>
              <a:rPr sz="1400" dirty="0" err="1">
                <a:solidFill>
                  <a:srgbClr val="0A2896"/>
                </a:solidFill>
                <a:latin typeface="VTB Omega UI Medium"/>
              </a:rPr>
              <a:t/>
            </a:r>
            <a:endParaRPr sz="1400" dirty="0">
              <a:solidFill>
                <a:srgbClr val="0A2896"/>
              </a:solidFill>
              <a:latin typeface="VTB Omega UI Medium"/>
            </a:endParaRPr>
          </a:p>
        </p:txBody>
      </p:sp>
      <p:sp>
        <p:nvSpPr>
          <p:cNvPr id="117" name="Текст"/>
          <p:cNvSpPr txBox="1"/>
          <p:nvPr/>
        </p:nvSpPr>
        <p:spPr>
          <a:xfrm>
            <a:off x="9495366" y="5377264"/>
            <a:ext cx="2233084" cy="597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100" dirty="0" err="1">
                <a:solidFill>
                  <a:srgbClr val="3A4250"/>
                </a:solidFill>
                <a:latin typeface="VTB Omega UI"/>
              </a:rPr>
              <a:t>Вице-президент</a:t>
            </a:r>
            <a:r>
              <a:rPr sz="1100" dirty="0">
                <a:solidFill>
                  <a:srgbClr val="3A4250"/>
                </a:solidFill>
                <a:latin typeface="VTB Omega UI"/>
              </a:rPr>
              <a:t> </a:t>
            </a:r>
            <a:r>
              <a:rPr sz="1100" dirty="0" err="1">
                <a:solidFill>
                  <a:srgbClr val="3A4250"/>
                </a:solidFill>
                <a:latin typeface="VTB Omega UI"/>
              </a:rPr>
              <a:t>департамента</a:t>
            </a:r>
            <a:r>
              <a:rPr sz="1100" dirty="0">
                <a:solidFill>
                  <a:srgbClr val="3A4250"/>
                </a:solidFill>
                <a:latin typeface="VTB Omega UI"/>
              </a:rPr>
              <a:t> </a:t>
            </a:r>
            <a:r>
              <a:rPr sz="1100" dirty="0" err="1">
                <a:solidFill>
                  <a:srgbClr val="3A4250"/>
                </a:solidFill>
                <a:latin typeface="VTB Omega UI"/>
              </a:rPr>
              <a:t>учёта</a:t>
            </a:r>
            <a:r>
              <a:rPr sz="1100" dirty="0">
                <a:solidFill>
                  <a:srgbClr val="3A4250"/>
                </a:solidFill>
                <a:latin typeface="VTB Omega UI"/>
              </a:rPr>
              <a:t> </a:t>
            </a:r>
            <a:r>
              <a:rPr sz="1100" dirty="0" err="1">
                <a:solidFill>
                  <a:srgbClr val="3A4250"/>
                </a:solidFill>
                <a:latin typeface="VTB Omega UI"/>
              </a:rPr>
              <a:t>и</a:t>
            </a:r>
            <a:r>
              <a:rPr sz="1100" dirty="0">
                <a:solidFill>
                  <a:srgbClr val="3A4250"/>
                </a:solidFill>
                <a:latin typeface="VTB Omega UI"/>
              </a:rPr>
              <a:t> </a:t>
            </a:r>
            <a:r>
              <a:rPr sz="1100" dirty="0" err="1">
                <a:solidFill>
                  <a:srgbClr val="3A4250"/>
                </a:solidFill>
                <a:latin typeface="VTB Omega UI"/>
              </a:rPr>
              <a:t>отчётности</a:t>
            </a:r>
            <a:r>
              <a:rPr sz="1100" dirty="0">
                <a:solidFill>
                  <a:srgbClr val="3A4250"/>
                </a:solidFill>
                <a:latin typeface="VTB Omega UI"/>
              </a:rPr>
              <a:t> </a:t>
            </a:r>
            <a:r>
              <a:rPr sz="1100" dirty="0" err="1">
                <a:solidFill>
                  <a:srgbClr val="3A4250"/>
                </a:solidFill>
                <a:latin typeface="VTB Omega UI"/>
              </a:rPr>
              <a:t>банка</a:t>
            </a:r>
            <a:r>
              <a:rPr sz="1100" dirty="0">
                <a:solidFill>
                  <a:srgbClr val="3A4250"/>
                </a:solidFill>
                <a:latin typeface="VTB Omega UI"/>
              </a:rPr>
              <a:t> ВТБ (ПАО)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B7619EE-65AC-E2B2-CDC1-A8DD7EF422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839" y="3267788"/>
            <a:ext cx="1006761" cy="112411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F83D70B-4CFE-EE05-76CF-5565088EFA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1539" y="4844958"/>
            <a:ext cx="1006761" cy="113029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A4338F1-8BC4-54DA-DDBE-78AF98B6F6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444191" y="3223058"/>
            <a:ext cx="999269" cy="1164792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BD89D7B-DF5A-5CE5-971F-4F5E5484668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441277" y="4865593"/>
            <a:ext cx="993812" cy="1109655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7D8A447-11C6-545C-C3D2-83EFC24AD4C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284532" y="3272102"/>
            <a:ext cx="999269" cy="1115748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BDF5BD9D-1061-ED11-23ED-BA3CA2162AC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284532" y="4865593"/>
            <a:ext cx="999269" cy="111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077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85A43172-339A-4CCC-86BB-D02E8A58B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370686"/>
            <a:ext cx="9154800" cy="1201701"/>
          </a:xfrm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3100"/>
              </a:lnSpc>
            </a:pPr>
            <a:r>
              <a:rPr sz="2800" dirty="0">
                <a:solidFill>
                  <a:srgbClr val="0A2896"/>
                </a:solidFill>
              </a:rPr>
              <a:t>Слушатели </a:t>
            </a:r>
            <a:r>
              <a:rPr sz="2800" dirty="0" err="1">
                <a:solidFill>
                  <a:srgbClr val="0A2896"/>
                </a:solidFill>
              </a:rPr>
              <a:t>высоко</a:t>
            </a:r>
            <a:r>
              <a:rPr sz="2800" dirty="0">
                <a:solidFill>
                  <a:srgbClr val="0A2896"/>
                </a:solidFill>
              </a:rPr>
              <a:t> </a:t>
            </a:r>
            <a:r>
              <a:rPr sz="2800" dirty="0" err="1">
                <a:solidFill>
                  <a:srgbClr val="0A2896"/>
                </a:solidFill>
              </a:rPr>
              <a:t>оценивают</a:t>
            </a:r>
            <a:r>
              <a:rPr sz="2800" dirty="0">
                <a:solidFill>
                  <a:srgbClr val="0A2896"/>
                </a:solidFill>
              </a:rPr>
              <a:t> </a:t>
            </a:r>
            <a:r>
              <a:rPr sz="2800" dirty="0" err="1">
                <a:solidFill>
                  <a:srgbClr val="0A2896"/>
                </a:solidFill>
              </a:rPr>
              <a:t>содержание</a:t>
            </a:r>
            <a:r>
              <a:rPr sz="2800" dirty="0">
                <a:solidFill>
                  <a:srgbClr val="0A2896"/>
                </a:solidFill>
              </a:rPr>
              <a:t>, </a:t>
            </a:r>
            <a:r>
              <a:rPr sz="2800" dirty="0" err="1">
                <a:solidFill>
                  <a:srgbClr val="0A2896"/>
                </a:solidFill>
              </a:rPr>
              <a:t>платформу</a:t>
            </a:r>
            <a:r>
              <a:rPr sz="2800" dirty="0">
                <a:solidFill>
                  <a:srgbClr val="0A2896"/>
                </a:solidFill>
              </a:rPr>
              <a:t> </a:t>
            </a:r>
            <a:r>
              <a:rPr sz="2800" dirty="0" err="1">
                <a:solidFill>
                  <a:srgbClr val="0A2896"/>
                </a:solidFill>
              </a:rPr>
              <a:t>и</a:t>
            </a:r>
            <a:r>
              <a:rPr sz="2800" dirty="0">
                <a:solidFill>
                  <a:srgbClr val="0A2896"/>
                </a:solidFill>
              </a:rPr>
              <a:t> </a:t>
            </a:r>
            <a:r>
              <a:rPr sz="2800" dirty="0" err="1">
                <a:solidFill>
                  <a:srgbClr val="0A2896"/>
                </a:solidFill>
              </a:rPr>
              <a:t>поддержку</a:t>
            </a:r>
            <a:r>
              <a:rPr sz="2800" dirty="0">
                <a:solidFill>
                  <a:srgbClr val="0A2896"/>
                </a:solidFill>
              </a:rPr>
              <a:t> </a:t>
            </a:r>
            <a:r>
              <a:rPr sz="2800" dirty="0" err="1">
                <a:solidFill>
                  <a:srgbClr val="0A2896"/>
                </a:solidFill>
              </a:rPr>
              <a:t>Школ</a:t>
            </a:r>
            <a:r>
              <a:rPr lang="ru-RU" sz="2800" dirty="0">
                <a:solidFill>
                  <a:srgbClr val="0A2896"/>
                </a:solidFill>
              </a:rPr>
              <a:t>ы</a:t>
            </a:r>
            <a:r>
              <a:rPr sz="2800" dirty="0">
                <a:solidFill>
                  <a:srgbClr val="0A2896"/>
                </a:solidFill>
              </a:rPr>
              <a:t> </a:t>
            </a:r>
            <a:r>
              <a:rPr sz="2800" dirty="0" err="1">
                <a:solidFill>
                  <a:srgbClr val="0A2896"/>
                </a:solidFill>
              </a:rPr>
              <a:t>отчётности</a:t>
            </a:r>
            <a:r>
              <a:rPr sz="2800" dirty="0">
                <a:solidFill>
                  <a:srgbClr val="0A2896"/>
                </a:solidFill>
              </a:rPr>
              <a:t> </a:t>
            </a:r>
            <a:r>
              <a:rPr sz="2800" dirty="0" err="1">
                <a:solidFill>
                  <a:srgbClr val="0A2896"/>
                </a:solidFill>
              </a:rPr>
              <a:t>и</a:t>
            </a:r>
            <a:r>
              <a:rPr sz="2800" dirty="0">
                <a:solidFill>
                  <a:srgbClr val="0A2896"/>
                </a:solidFill>
              </a:rPr>
              <a:t> </a:t>
            </a:r>
            <a:r>
              <a:rPr sz="2800" dirty="0" err="1">
                <a:solidFill>
                  <a:srgbClr val="0A2896"/>
                </a:solidFill>
              </a:rPr>
              <a:t>финансовых</a:t>
            </a:r>
            <a:r>
              <a:rPr sz="2800" dirty="0">
                <a:solidFill>
                  <a:srgbClr val="0A2896"/>
                </a:solidFill>
              </a:rPr>
              <a:t> </a:t>
            </a:r>
            <a:r>
              <a:rPr sz="2800" dirty="0" err="1">
                <a:solidFill>
                  <a:srgbClr val="0A2896"/>
                </a:solidFill>
              </a:rPr>
              <a:t>данных</a:t>
            </a:r>
            <a:endParaRPr sz="2800" dirty="0">
              <a:solidFill>
                <a:srgbClr val="0A2896"/>
              </a:solidFill>
            </a:endParaRP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8A1335D-0971-44DA-9021-3CE509D3773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E9794C1B-C881-42F5-9B4F-0D6130829943}" type="slidenum">
              <a:rPr lang="ru-RU" smtClean="0"/>
              <a:pPr>
                <a:defRPr/>
              </a:pPr>
              <a:t>5</a:t>
            </a:fld>
            <a:endParaRPr lang="ru-RU" dirty="0"/>
          </a:p>
        </p:txBody>
      </p:sp>
      <p:sp>
        <p:nvSpPr>
          <p:cNvPr id="11" name="Сноска"/>
          <p:cNvSpPr txBox="1"/>
          <p:nvPr/>
        </p:nvSpPr>
        <p:spPr>
          <a:xfrm>
            <a:off x="381000" y="6286500"/>
            <a:ext cx="1143000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50" dirty="0" err="1">
                <a:solidFill>
                  <a:srgbClr val="4A5361"/>
                </a:solidFill>
                <a:latin typeface="VTB Omega UI"/>
              </a:rPr>
              <a:t>Средние</a:t>
            </a:r>
            <a:r>
              <a:rPr sz="950" dirty="0">
                <a:solidFill>
                  <a:srgbClr val="4A5361"/>
                </a:solidFill>
                <a:latin typeface="VTB Omega UI"/>
              </a:rPr>
              <a:t> </a:t>
            </a:r>
            <a:r>
              <a:rPr sz="950" dirty="0" err="1">
                <a:solidFill>
                  <a:srgbClr val="4A5361"/>
                </a:solidFill>
              </a:rPr>
              <a:t>значения</a:t>
            </a:r>
            <a:r>
              <a:rPr sz="950" dirty="0">
                <a:solidFill>
                  <a:srgbClr val="4A5361"/>
                </a:solidFill>
              </a:rPr>
              <a:t> </a:t>
            </a:r>
            <a:r>
              <a:rPr sz="950" dirty="0" err="1">
                <a:solidFill>
                  <a:srgbClr val="4A5361"/>
                </a:solidFill>
              </a:rPr>
              <a:t>по</a:t>
            </a:r>
            <a:r>
              <a:rPr sz="950" dirty="0">
                <a:solidFill>
                  <a:srgbClr val="4A5361"/>
                </a:solidFill>
              </a:rPr>
              <a:t> х </a:t>
            </a:r>
            <a:r>
              <a:rPr sz="950" dirty="0" err="1">
                <a:solidFill>
                  <a:srgbClr val="4A5361"/>
                </a:solidFill>
              </a:rPr>
              <a:t>запускам</a:t>
            </a:r>
            <a:r>
              <a:rPr sz="950" dirty="0">
                <a:solidFill>
                  <a:srgbClr val="4A5361"/>
                </a:solidFill>
              </a:rPr>
              <a:t> </a:t>
            </a:r>
            <a:r>
              <a:rPr sz="950" dirty="0" err="1">
                <a:solidFill>
                  <a:srgbClr val="4A5361"/>
                </a:solidFill>
              </a:rPr>
              <a:t>ШОиФД</a:t>
            </a:r>
            <a:r>
              <a:rPr sz="950" dirty="0">
                <a:solidFill>
                  <a:srgbClr val="4A5361"/>
                </a:solidFill>
              </a:rPr>
              <a:t>; </a:t>
            </a:r>
            <a:r>
              <a:rPr sz="950" dirty="0" err="1">
                <a:solidFill>
                  <a:srgbClr val="4A5361"/>
                </a:solidFill>
              </a:rPr>
              <a:t>прирост</a:t>
            </a:r>
            <a:r>
              <a:rPr sz="950" dirty="0">
                <a:solidFill>
                  <a:srgbClr val="4A5361"/>
                </a:solidFill>
              </a:rPr>
              <a:t> </a:t>
            </a:r>
            <a:r>
              <a:rPr sz="950" dirty="0" err="1">
                <a:solidFill>
                  <a:srgbClr val="4A5361"/>
                </a:solidFill>
              </a:rPr>
              <a:t>знаний</a:t>
            </a:r>
            <a:r>
              <a:rPr sz="950" dirty="0">
                <a:solidFill>
                  <a:srgbClr val="4A5361"/>
                </a:solidFill>
              </a:rPr>
              <a:t> — </a:t>
            </a:r>
            <a:r>
              <a:rPr sz="950" dirty="0" err="1">
                <a:solidFill>
                  <a:srgbClr val="4A5361"/>
                </a:solidFill>
              </a:rPr>
              <a:t>по</a:t>
            </a:r>
            <a:r>
              <a:rPr sz="950" dirty="0">
                <a:solidFill>
                  <a:srgbClr val="4A5361"/>
                </a:solidFill>
              </a:rPr>
              <a:t> </a:t>
            </a:r>
            <a:r>
              <a:rPr sz="950" dirty="0" err="1">
                <a:solidFill>
                  <a:srgbClr val="4A5361"/>
                </a:solidFill>
              </a:rPr>
              <a:t>запускам</a:t>
            </a:r>
            <a:r>
              <a:rPr sz="950" dirty="0">
                <a:solidFill>
                  <a:srgbClr val="4A5361"/>
                </a:solidFill>
              </a:rPr>
              <a:t> х, х </a:t>
            </a:r>
            <a:r>
              <a:rPr sz="950" dirty="0" err="1">
                <a:solidFill>
                  <a:srgbClr val="4A5361"/>
                </a:solidFill>
              </a:rPr>
              <a:t>и</a:t>
            </a:r>
            <a:r>
              <a:rPr sz="950" dirty="0">
                <a:solidFill>
                  <a:srgbClr val="4A5361"/>
                </a:solidFill>
              </a:rPr>
              <a:t> х</a:t>
            </a:r>
            <a:endParaRPr lang="ru-RU" sz="950" dirty="0">
              <a:solidFill>
                <a:srgbClr val="4A5361"/>
              </a:solidFill>
            </a:endParaRPr>
          </a:p>
          <a:p>
            <a:r>
              <a:rPr sz="950" dirty="0" err="1">
                <a:solidFill>
                  <a:srgbClr val="4A5361"/>
                </a:solidFill>
              </a:rPr>
              <a:t>CoR</a:t>
            </a:r>
            <a:r>
              <a:rPr sz="950" dirty="0">
                <a:solidFill>
                  <a:srgbClr val="4A5361"/>
                </a:solidFill>
              </a:rPr>
              <a:t> — </a:t>
            </a:r>
            <a:r>
              <a:rPr lang="ru-US" sz="950" dirty="0">
                <a:solidFill>
                  <a:srgbClr val="4A5361"/>
                </a:solidFill>
              </a:rPr>
              <a:t>показатель доходимости, отражающий долю учеников, которые полностью завершили курс</a:t>
            </a:r>
            <a:endParaRPr sz="950" dirty="0">
              <a:solidFill>
                <a:srgbClr val="4A5361"/>
              </a:solidFill>
            </a:endParaRPr>
          </a:p>
        </p:txBody>
      </p:sp>
      <p:sp>
        <p:nvSpPr>
          <p:cNvPr id="12" name="Карточка"/>
          <p:cNvSpPr/>
          <p:nvPr/>
        </p:nvSpPr>
        <p:spPr>
          <a:xfrm>
            <a:off x="381000" y="3695700"/>
            <a:ext cx="2184400" cy="2489200"/>
          </a:xfrm>
          <a:prstGeom prst="roundRect">
            <a:avLst>
              <a:gd name="adj" fmla="val 3488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Цифра"/>
          <p:cNvSpPr txBox="1"/>
          <p:nvPr/>
        </p:nvSpPr>
        <p:spPr>
          <a:xfrm>
            <a:off x="622300" y="4025832"/>
            <a:ext cx="1701800" cy="4688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22"/>
              </a:lnSpc>
            </a:pPr>
            <a:r>
              <a:rPr sz="4000" dirty="0">
                <a:solidFill>
                  <a:srgbClr val="0A2896"/>
                </a:solidFill>
                <a:latin typeface="VTB Omega UI"/>
              </a:rPr>
              <a:t>х,х</a:t>
            </a:r>
            <a:r>
              <a:rPr lang="ru-RU" sz="2400" dirty="0">
                <a:solidFill>
                  <a:srgbClr val="0A2896"/>
                </a:solidFill>
                <a:latin typeface="VTB Omega UI"/>
              </a:rPr>
              <a:t>/</a:t>
            </a:r>
            <a:r>
              <a:rPr sz="2000" dirty="0">
                <a:solidFill>
                  <a:srgbClr val="0A2896"/>
                </a:solidFill>
                <a:latin typeface="VTB Omega UI"/>
              </a:rPr>
              <a:t>х</a:t>
            </a:r>
          </a:p>
        </p:txBody>
      </p:sp>
      <p:sp>
        <p:nvSpPr>
          <p:cNvPr id="14" name="Текст"/>
          <p:cNvSpPr txBox="1"/>
          <p:nvPr/>
        </p:nvSpPr>
        <p:spPr>
          <a:xfrm>
            <a:off x="622300" y="4584700"/>
            <a:ext cx="1701800" cy="13843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ts val="1517"/>
              </a:lnSpc>
            </a:pPr>
            <a:r>
              <a:rPr sz="1250">
                <a:solidFill>
                  <a:srgbClr val="3A4250"/>
                </a:solidFill>
                <a:latin typeface="VTB Omega UI"/>
              </a:rPr>
              <a:t>Удовлетворённость интенсивом в целом</a:t>
            </a:r>
          </a:p>
        </p:txBody>
      </p:sp>
      <p:sp>
        <p:nvSpPr>
          <p:cNvPr id="15" name="Карточка"/>
          <p:cNvSpPr/>
          <p:nvPr/>
        </p:nvSpPr>
        <p:spPr>
          <a:xfrm>
            <a:off x="2692400" y="3695700"/>
            <a:ext cx="2184400" cy="2489200"/>
          </a:xfrm>
          <a:prstGeom prst="roundRect">
            <a:avLst>
              <a:gd name="adj" fmla="val 3488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Цифра"/>
          <p:cNvSpPr txBox="1"/>
          <p:nvPr/>
        </p:nvSpPr>
        <p:spPr>
          <a:xfrm>
            <a:off x="2933700" y="4024542"/>
            <a:ext cx="1701800" cy="4688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22"/>
              </a:lnSpc>
            </a:pPr>
            <a:r>
              <a:rPr sz="4000" dirty="0">
                <a:solidFill>
                  <a:srgbClr val="0A2896"/>
                </a:solidFill>
                <a:latin typeface="VTB Omega UI"/>
              </a:rPr>
              <a:t>х,х</a:t>
            </a:r>
            <a:r>
              <a:rPr lang="ru-RU" sz="2400" dirty="0">
                <a:solidFill>
                  <a:srgbClr val="0A2896"/>
                </a:solidFill>
                <a:latin typeface="VTB Omega UI"/>
              </a:rPr>
              <a:t>/</a:t>
            </a:r>
            <a:r>
              <a:rPr sz="2000" dirty="0">
                <a:solidFill>
                  <a:srgbClr val="0A2896"/>
                </a:solidFill>
                <a:latin typeface="VTB Omega UI"/>
              </a:rPr>
              <a:t>х</a:t>
            </a:r>
          </a:p>
        </p:txBody>
      </p:sp>
      <p:sp>
        <p:nvSpPr>
          <p:cNvPr id="17" name="Текст"/>
          <p:cNvSpPr txBox="1"/>
          <p:nvPr/>
        </p:nvSpPr>
        <p:spPr>
          <a:xfrm>
            <a:off x="2933700" y="4584700"/>
            <a:ext cx="1701800" cy="13843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ts val="1700"/>
              </a:lnSpc>
            </a:pPr>
            <a:r>
              <a:rPr sz="1400" dirty="0" err="1">
                <a:solidFill>
                  <a:srgbClr val="3A4250"/>
                </a:solidFill>
                <a:latin typeface="VTB Omega UI"/>
              </a:rPr>
              <a:t>Удобство</a:t>
            </a:r>
            <a:r>
              <a:rPr sz="1400" dirty="0">
                <a:solidFill>
                  <a:srgbClr val="3A4250"/>
                </a:solidFill>
                <a:latin typeface="VTB Omega UI"/>
              </a:rPr>
              <a:t> </a:t>
            </a:r>
            <a:r>
              <a:rPr sz="1400" dirty="0" err="1">
                <a:solidFill>
                  <a:srgbClr val="3A4250"/>
                </a:solidFill>
                <a:latin typeface="VTB Omega UI"/>
              </a:rPr>
              <a:t>работы</a:t>
            </a:r>
            <a:r>
              <a:rPr sz="1400" dirty="0">
                <a:solidFill>
                  <a:srgbClr val="3A4250"/>
                </a:solidFill>
                <a:latin typeface="VTB Omega UI"/>
              </a:rPr>
              <a:t> </a:t>
            </a:r>
            <a:r>
              <a:rPr sz="1400" dirty="0" err="1">
                <a:solidFill>
                  <a:srgbClr val="3A4250"/>
                </a:solidFill>
                <a:latin typeface="VTB Omega UI"/>
              </a:rPr>
              <a:t>на</a:t>
            </a:r>
            <a:r>
              <a:rPr sz="1400" dirty="0">
                <a:solidFill>
                  <a:srgbClr val="3A4250"/>
                </a:solidFill>
                <a:latin typeface="VTB Omega UI"/>
              </a:rPr>
              <a:t> LMS-</a:t>
            </a:r>
            <a:r>
              <a:rPr sz="1400" dirty="0" err="1">
                <a:solidFill>
                  <a:srgbClr val="3A4250"/>
                </a:solidFill>
                <a:latin typeface="VTB Omega UI"/>
              </a:rPr>
              <a:t>платформе</a:t>
            </a:r>
            <a:r>
              <a:rPr sz="1400" dirty="0">
                <a:solidFill>
                  <a:srgbClr val="3A4250"/>
                </a:solidFill>
                <a:latin typeface="VTB Omega UI"/>
              </a:rPr>
              <a:t> </a:t>
            </a:r>
            <a:r>
              <a:rPr sz="1400" dirty="0" err="1">
                <a:solidFill>
                  <a:srgbClr val="3A4250"/>
                </a:solidFill>
                <a:latin typeface="VTB Omega UI"/>
              </a:rPr>
              <a:t>academy.vtb.ru</a:t>
            </a:r>
            <a:endParaRPr sz="1400" dirty="0">
              <a:solidFill>
                <a:srgbClr val="3A4250"/>
              </a:solidFill>
              <a:latin typeface="VTB Omega UI"/>
            </a:endParaRPr>
          </a:p>
        </p:txBody>
      </p:sp>
      <p:sp>
        <p:nvSpPr>
          <p:cNvPr id="18" name="Карточка"/>
          <p:cNvSpPr/>
          <p:nvPr/>
        </p:nvSpPr>
        <p:spPr>
          <a:xfrm>
            <a:off x="5003800" y="3695700"/>
            <a:ext cx="2184400" cy="2489200"/>
          </a:xfrm>
          <a:prstGeom prst="roundRect">
            <a:avLst>
              <a:gd name="adj" fmla="val 3488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Цифра"/>
          <p:cNvSpPr txBox="1"/>
          <p:nvPr/>
        </p:nvSpPr>
        <p:spPr>
          <a:xfrm>
            <a:off x="5245100" y="4024542"/>
            <a:ext cx="1701800" cy="4688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22"/>
              </a:lnSpc>
            </a:pPr>
            <a:r>
              <a:rPr sz="4000" dirty="0">
                <a:solidFill>
                  <a:srgbClr val="0A2896"/>
                </a:solidFill>
                <a:latin typeface="VTB Omega UI"/>
              </a:rPr>
              <a:t>х,х</a:t>
            </a:r>
            <a:r>
              <a:rPr lang="ru-RU" sz="2400" dirty="0">
                <a:solidFill>
                  <a:srgbClr val="0A2896"/>
                </a:solidFill>
                <a:latin typeface="VTB Omega UI"/>
              </a:rPr>
              <a:t>/</a:t>
            </a:r>
            <a:r>
              <a:rPr sz="2000" dirty="0">
                <a:solidFill>
                  <a:srgbClr val="0A2896"/>
                </a:solidFill>
                <a:latin typeface="VTB Omega UI"/>
              </a:rPr>
              <a:t>х</a:t>
            </a:r>
          </a:p>
        </p:txBody>
      </p:sp>
      <p:sp>
        <p:nvSpPr>
          <p:cNvPr id="20" name="Текст"/>
          <p:cNvSpPr txBox="1"/>
          <p:nvPr/>
        </p:nvSpPr>
        <p:spPr>
          <a:xfrm>
            <a:off x="5245100" y="4584700"/>
            <a:ext cx="1701800" cy="13843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ts val="1700"/>
              </a:lnSpc>
            </a:pPr>
            <a:r>
              <a:rPr sz="1400">
                <a:solidFill>
                  <a:srgbClr val="3A4250"/>
                </a:solidFill>
                <a:latin typeface="VTB Omega UI"/>
              </a:rPr>
              <a:t>Качество технической поддержки</a:t>
            </a:r>
          </a:p>
        </p:txBody>
      </p:sp>
      <p:sp>
        <p:nvSpPr>
          <p:cNvPr id="21" name="Карточка"/>
          <p:cNvSpPr/>
          <p:nvPr/>
        </p:nvSpPr>
        <p:spPr>
          <a:xfrm>
            <a:off x="7315200" y="3695700"/>
            <a:ext cx="2184400" cy="2489200"/>
          </a:xfrm>
          <a:prstGeom prst="roundRect">
            <a:avLst>
              <a:gd name="adj" fmla="val 3488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Цифра"/>
          <p:cNvSpPr txBox="1"/>
          <p:nvPr/>
        </p:nvSpPr>
        <p:spPr>
          <a:xfrm>
            <a:off x="7556500" y="3841799"/>
            <a:ext cx="1701800" cy="6515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520"/>
              </a:lnSpc>
            </a:pPr>
            <a:r>
              <a:rPr sz="4000" dirty="0">
                <a:solidFill>
                  <a:srgbClr val="0A2896"/>
                </a:solidFill>
                <a:latin typeface="VTB Omega UI"/>
              </a:rPr>
              <a:t>хх%</a:t>
            </a:r>
          </a:p>
        </p:txBody>
      </p:sp>
      <p:sp>
        <p:nvSpPr>
          <p:cNvPr id="23" name="Текст"/>
          <p:cNvSpPr txBox="1"/>
          <p:nvPr/>
        </p:nvSpPr>
        <p:spPr>
          <a:xfrm>
            <a:off x="7556500" y="4584700"/>
            <a:ext cx="1701800" cy="13843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ts val="1700"/>
              </a:lnSpc>
            </a:pPr>
            <a:r>
              <a:rPr sz="1400">
                <a:solidFill>
                  <a:srgbClr val="3A4250"/>
                </a:solidFill>
                <a:latin typeface="VTB Omega UI"/>
              </a:rPr>
              <a:t>Прирост знаний</a:t>
            </a:r>
          </a:p>
        </p:txBody>
      </p:sp>
      <p:sp>
        <p:nvSpPr>
          <p:cNvPr id="24" name="Карточка"/>
          <p:cNvSpPr/>
          <p:nvPr/>
        </p:nvSpPr>
        <p:spPr>
          <a:xfrm>
            <a:off x="9626600" y="3695700"/>
            <a:ext cx="2184400" cy="2489200"/>
          </a:xfrm>
          <a:prstGeom prst="roundRect">
            <a:avLst>
              <a:gd name="adj" fmla="val 3488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Цифра"/>
          <p:cNvSpPr txBox="1"/>
          <p:nvPr/>
        </p:nvSpPr>
        <p:spPr>
          <a:xfrm>
            <a:off x="9867900" y="3841798"/>
            <a:ext cx="1701800" cy="6515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520"/>
              </a:lnSpc>
            </a:pPr>
            <a:r>
              <a:rPr sz="4000" dirty="0">
                <a:solidFill>
                  <a:srgbClr val="0A2896"/>
                </a:solidFill>
                <a:latin typeface="VTB Omega UI"/>
              </a:rPr>
              <a:t>хх%</a:t>
            </a:r>
          </a:p>
        </p:txBody>
      </p:sp>
      <p:sp>
        <p:nvSpPr>
          <p:cNvPr id="26" name="Текст"/>
          <p:cNvSpPr txBox="1"/>
          <p:nvPr/>
        </p:nvSpPr>
        <p:spPr>
          <a:xfrm>
            <a:off x="9867900" y="4584700"/>
            <a:ext cx="1701800" cy="13843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ts val="1700"/>
              </a:lnSpc>
            </a:pPr>
            <a:r>
              <a:rPr sz="1400">
                <a:solidFill>
                  <a:srgbClr val="3A4250"/>
                </a:solidFill>
                <a:latin typeface="VTB Omega UI"/>
              </a:rPr>
              <a:t>CoR</a:t>
            </a:r>
          </a:p>
        </p:txBody>
      </p:sp>
    </p:spTree>
    <p:extLst>
      <p:ext uri="{BB962C8B-B14F-4D97-AF65-F5344CB8AC3E}">
        <p14:creationId xmlns:p14="http://schemas.microsoft.com/office/powerpoint/2010/main" val="143749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85A43172-339A-4CCC-86BB-D02E8A58B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370687"/>
            <a:ext cx="9154800" cy="1229302"/>
          </a:xfrm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3100"/>
              </a:lnSpc>
            </a:pPr>
            <a:r>
              <a:rPr sz="2800" dirty="0">
                <a:solidFill>
                  <a:srgbClr val="0A2896"/>
                </a:solidFill>
              </a:rPr>
              <a:t>Опыт </a:t>
            </a:r>
            <a:r>
              <a:rPr sz="2800" dirty="0" err="1">
                <a:solidFill>
                  <a:srgbClr val="0A2896"/>
                </a:solidFill>
              </a:rPr>
              <a:t>команды</a:t>
            </a:r>
            <a:r>
              <a:rPr sz="2800" dirty="0">
                <a:solidFill>
                  <a:srgbClr val="0A2896"/>
                </a:solidFill>
              </a:rPr>
              <a:t> ВТБ </a:t>
            </a:r>
            <a:r>
              <a:rPr sz="2800" dirty="0" err="1">
                <a:solidFill>
                  <a:srgbClr val="0A2896"/>
                </a:solidFill>
              </a:rPr>
              <a:t>Образование</a:t>
            </a:r>
            <a:r>
              <a:rPr sz="2800" dirty="0">
                <a:solidFill>
                  <a:srgbClr val="0A2896"/>
                </a:solidFill>
              </a:rPr>
              <a:t> </a:t>
            </a:r>
            <a:r>
              <a:rPr sz="2800" dirty="0" err="1">
                <a:solidFill>
                  <a:srgbClr val="0A2896"/>
                </a:solidFill>
              </a:rPr>
              <a:t>позволяет</a:t>
            </a:r>
            <a:r>
              <a:rPr sz="2800" dirty="0">
                <a:solidFill>
                  <a:srgbClr val="0A2896"/>
                </a:solidFill>
              </a:rPr>
              <a:t> </a:t>
            </a:r>
            <a:r>
              <a:rPr sz="2800" dirty="0" err="1">
                <a:solidFill>
                  <a:srgbClr val="0A2896"/>
                </a:solidFill>
              </a:rPr>
              <a:t>выстраивать</a:t>
            </a:r>
            <a:r>
              <a:rPr sz="2800" dirty="0">
                <a:solidFill>
                  <a:srgbClr val="0A2896"/>
                </a:solidFill>
              </a:rPr>
              <a:t> </a:t>
            </a:r>
            <a:r>
              <a:rPr sz="2800" dirty="0" err="1">
                <a:solidFill>
                  <a:srgbClr val="0A2896"/>
                </a:solidFill>
              </a:rPr>
              <a:t>целостный</a:t>
            </a:r>
            <a:r>
              <a:rPr sz="2800" dirty="0">
                <a:solidFill>
                  <a:srgbClr val="0A2896"/>
                </a:solidFill>
              </a:rPr>
              <a:t> </a:t>
            </a:r>
            <a:r>
              <a:rPr sz="2800" dirty="0" err="1">
                <a:solidFill>
                  <a:srgbClr val="0A2896"/>
                </a:solidFill>
              </a:rPr>
              <a:t>образовательный</a:t>
            </a:r>
            <a:r>
              <a:rPr sz="2800" dirty="0">
                <a:solidFill>
                  <a:srgbClr val="0A2896"/>
                </a:solidFill>
              </a:rPr>
              <a:t> </a:t>
            </a:r>
            <a:r>
              <a:rPr sz="2800" dirty="0" err="1">
                <a:solidFill>
                  <a:srgbClr val="0A2896"/>
                </a:solidFill>
              </a:rPr>
              <a:t>продукт</a:t>
            </a:r>
            <a:r>
              <a:rPr sz="2800" dirty="0">
                <a:solidFill>
                  <a:srgbClr val="0A2896"/>
                </a:solidFill>
              </a:rPr>
              <a:t> </a:t>
            </a:r>
            <a:r>
              <a:rPr sz="2800" dirty="0" err="1">
                <a:solidFill>
                  <a:srgbClr val="0A2896"/>
                </a:solidFill>
              </a:rPr>
              <a:t>из</a:t>
            </a:r>
            <a:r>
              <a:rPr sz="2800" dirty="0">
                <a:solidFill>
                  <a:srgbClr val="0A2896"/>
                </a:solidFill>
              </a:rPr>
              <a:t> </a:t>
            </a:r>
            <a:r>
              <a:rPr sz="2800" dirty="0" err="1">
                <a:solidFill>
                  <a:srgbClr val="0A2896"/>
                </a:solidFill>
              </a:rPr>
              <a:t>лекций</a:t>
            </a:r>
            <a:r>
              <a:rPr sz="2800" dirty="0">
                <a:solidFill>
                  <a:srgbClr val="0A2896"/>
                </a:solidFill>
              </a:rPr>
              <a:t> </a:t>
            </a:r>
            <a:r>
              <a:rPr sz="2800" dirty="0" err="1">
                <a:solidFill>
                  <a:srgbClr val="0A2896"/>
                </a:solidFill>
              </a:rPr>
              <a:t>спикеров</a:t>
            </a:r>
            <a:r>
              <a:rPr sz="2800" dirty="0">
                <a:solidFill>
                  <a:srgbClr val="0A2896"/>
                </a:solidFill>
              </a:rPr>
              <a:t> ВТБ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8A1335D-0971-44DA-9021-3CE509D3773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E9794C1B-C881-42F5-9B4F-0D6130829943}" type="slidenum">
              <a:rPr lang="ru-RU" smtClean="0"/>
              <a:pPr>
                <a:defRPr/>
              </a:pPr>
              <a:t>6</a:t>
            </a:fld>
            <a:endParaRPr lang="ru-RU" dirty="0"/>
          </a:p>
        </p:txBody>
      </p:sp>
      <p:pic>
        <p:nvPicPr>
          <p:cNvPr id="10" name="Picture 9" descr="highlight_01.jpg"/>
          <p:cNvPicPr>
            <a:picLocks noChangeAspect="1"/>
          </p:cNvPicPr>
          <p:nvPr/>
        </p:nvPicPr>
        <p:blipFill>
          <a:blip r:embed="rId2"/>
          <a:srcRect t="12708" b="12708"/>
          <a:stretch>
            <a:fillRect/>
          </a:stretch>
        </p:blipFill>
        <p:spPr>
          <a:xfrm>
            <a:off x="381000" y="2476500"/>
            <a:ext cx="2794000" cy="3708400"/>
          </a:xfrm>
          <a:prstGeom prst="roundRect">
            <a:avLst>
              <a:gd name="adj" fmla="val 2727"/>
            </a:avLst>
          </a:prstGeom>
        </p:spPr>
      </p:pic>
      <p:sp>
        <p:nvSpPr>
          <p:cNvPr id="11" name="Текст"/>
          <p:cNvSpPr txBox="1"/>
          <p:nvPr/>
        </p:nvSpPr>
        <p:spPr>
          <a:xfrm>
            <a:off x="635000" y="2730500"/>
            <a:ext cx="2413000" cy="1218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600" dirty="0">
                <a:solidFill>
                  <a:srgbClr val="FFFFFF"/>
                </a:solidFill>
                <a:latin typeface="VTB Omega UI Medium" panose="020B0503040502020204" pitchFamily="34" charset="0"/>
              </a:rPr>
              <a:t>Компетенции </a:t>
            </a:r>
            <a:r>
              <a:rPr sz="1600" dirty="0" err="1">
                <a:solidFill>
                  <a:srgbClr val="FFFFFF"/>
                </a:solidFill>
                <a:latin typeface="VTB Omega UI Medium" panose="020B0503040502020204" pitchFamily="34" charset="0"/>
              </a:rPr>
              <a:t>команды</a:t>
            </a:r>
            <a:r>
              <a:rPr sz="1600" dirty="0">
                <a:solidFill>
                  <a:srgbClr val="FFFFFF"/>
                </a:solidFill>
                <a:latin typeface="VTB Omega UI Medium" panose="020B0503040502020204" pitchFamily="34" charset="0"/>
              </a:rPr>
              <a:t> «</a:t>
            </a:r>
            <a:r>
              <a:rPr sz="1600" dirty="0" err="1">
                <a:solidFill>
                  <a:srgbClr val="FFFFFF"/>
                </a:solidFill>
                <a:latin typeface="VTB Omega UI Medium" panose="020B0503040502020204" pitchFamily="34" charset="0"/>
              </a:rPr>
              <a:t>Профессиональные</a:t>
            </a:r>
            <a:r>
              <a:rPr sz="1600" dirty="0">
                <a:solidFill>
                  <a:srgbClr val="FFFFFF"/>
                </a:solidFill>
                <a:latin typeface="VTB Omega UI Medium" panose="020B0503040502020204" pitchFamily="34" charset="0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VTB Omega UI Medium" panose="020B0503040502020204" pitchFamily="34" charset="0"/>
              </a:rPr>
              <a:t>финансы</a:t>
            </a:r>
            <a:r>
              <a:rPr sz="1600" dirty="0">
                <a:solidFill>
                  <a:srgbClr val="FFFFFF"/>
                </a:solidFill>
                <a:latin typeface="VTB Omega UI Medium" panose="020B0503040502020204" pitchFamily="34" charset="0"/>
              </a:rPr>
              <a:t>» ВТБ </a:t>
            </a:r>
            <a:r>
              <a:rPr sz="1600" dirty="0" err="1">
                <a:solidFill>
                  <a:srgbClr val="FFFFFF"/>
                </a:solidFill>
                <a:latin typeface="VTB Omega UI Medium" panose="020B0503040502020204" pitchFamily="34" charset="0"/>
              </a:rPr>
              <a:t>Образование</a:t>
            </a:r>
            <a:endParaRPr sz="1600" dirty="0">
              <a:solidFill>
                <a:srgbClr val="FFFFFF"/>
              </a:solidFill>
              <a:latin typeface="VTB Omega UI Medium" panose="020B0503040502020204" pitchFamily="34" charset="0"/>
            </a:endParaRPr>
          </a:p>
        </p:txBody>
      </p:sp>
      <p:grpSp>
        <p:nvGrpSpPr>
          <p:cNvPr id="12" name="Иконка graduation"/>
          <p:cNvGrpSpPr/>
          <p:nvPr/>
        </p:nvGrpSpPr>
        <p:grpSpPr>
          <a:xfrm>
            <a:off x="635000" y="5222748"/>
            <a:ext cx="711200" cy="705102"/>
            <a:chOff x="2994518" y="1985913"/>
            <a:chExt cx="678704" cy="672885"/>
          </a:xfrm>
        </p:grpSpPr>
        <p:grpSp>
          <p:nvGrpSpPr>
            <p:cNvPr id="18" name="Группа 17">
              <a:extLst>
                <a:ext uri="{FF2B5EF4-FFF2-40B4-BE49-F238E27FC236}">
                  <a16:creationId xmlns:a16="http://schemas.microsoft.com/office/drawing/2014/main" id="{D7A68925-F816-4CDD-85D1-C179F5B7FD8B}"/>
                </a:ext>
              </a:extLst>
            </p:cNvPr>
            <p:cNvGrpSpPr/>
            <p:nvPr/>
          </p:nvGrpSpPr>
          <p:grpSpPr>
            <a:xfrm>
              <a:off x="2994518" y="1985913"/>
              <a:ext cx="678704" cy="672885"/>
              <a:chOff x="2994518" y="1985913"/>
              <a:chExt cx="678704" cy="672885"/>
            </a:xfrm>
          </p:grpSpPr>
          <p:pic>
            <p:nvPicPr>
              <p:cNvPr id="19" name="cap-top [Figma I9887:94549;9121:2295]" descr="cap-top. векторный контур">
                <a:extLst>
                  <a:ext uri="{FF2B5EF4-FFF2-40B4-BE49-F238E27FC236}">
                    <a16:creationId xmlns:a16="http://schemas.microsoft.com/office/drawing/2014/main" id="{6050EFBF-CBAB-4F5A-9770-3AD78FBDCE8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lum bright="100000"/>
                <a:alphaModFix amt="50000"/>
              </a:blip>
              <a:stretch>
                <a:fillRect/>
              </a:stretch>
            </p:blipFill>
            <p:spPr>
              <a:xfrm>
                <a:off x="2994518" y="1985913"/>
                <a:ext cx="678704" cy="382826"/>
              </a:xfrm>
              <a:prstGeom prst="rect">
                <a:avLst/>
              </a:prstGeom>
            </p:spPr>
          </p:pic>
          <p:pic>
            <p:nvPicPr>
              <p:cNvPr id="20" name="cap-body [Figma I9887:94549;9121:2296]" descr="cap-body. векторный контур">
                <a:extLst>
                  <a:ext uri="{FF2B5EF4-FFF2-40B4-BE49-F238E27FC236}">
                    <a16:creationId xmlns:a16="http://schemas.microsoft.com/office/drawing/2014/main" id="{B2424B82-2DEF-42E0-9948-130059B6CCD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lum bright="100000"/>
                <a:alphaModFix amt="50000"/>
              </a:blip>
              <a:stretch>
                <a:fillRect/>
              </a:stretch>
            </p:blipFill>
            <p:spPr>
              <a:xfrm>
                <a:off x="3043828" y="2180228"/>
                <a:ext cx="580090" cy="390912"/>
              </a:xfrm>
              <a:prstGeom prst="rect">
                <a:avLst/>
              </a:prstGeom>
            </p:spPr>
          </p:pic>
          <p:pic>
            <p:nvPicPr>
              <p:cNvPr id="21" name="tassel [Figma I9887:94549;9121:2297]" descr="tassel. градиент в обводке">
                <a:extLst>
                  <a:ext uri="{FF2B5EF4-FFF2-40B4-BE49-F238E27FC236}">
                    <a16:creationId xmlns:a16="http://schemas.microsoft.com/office/drawing/2014/main" id="{C213041C-50A3-48C1-8AB8-D3770862E4B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>
                <a:lum bright="100000"/>
                <a:alphaModFix amt="50000"/>
              </a:blip>
              <a:stretch>
                <a:fillRect/>
              </a:stretch>
            </p:blipFill>
            <p:spPr>
              <a:xfrm>
                <a:off x="3081533" y="2136722"/>
                <a:ext cx="272646" cy="522076"/>
              </a:xfrm>
              <a:prstGeom prst="rect">
                <a:avLst/>
              </a:prstGeom>
            </p:spPr>
          </p:pic>
        </p:grpSp>
      </p:grpSp>
      <p:sp>
        <p:nvSpPr>
          <p:cNvPr id="22" name="Карточка"/>
          <p:cNvSpPr/>
          <p:nvPr/>
        </p:nvSpPr>
        <p:spPr>
          <a:xfrm>
            <a:off x="3302000" y="2476500"/>
            <a:ext cx="2751666" cy="1790700"/>
          </a:xfrm>
          <a:prstGeom prst="roundRect">
            <a:avLst>
              <a:gd name="adj" fmla="val 4255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grpSp>
        <p:nvGrpSpPr>
          <p:cNvPr id="23" name="Иконка handshake"/>
          <p:cNvGrpSpPr/>
          <p:nvPr/>
        </p:nvGrpSpPr>
        <p:grpSpPr>
          <a:xfrm>
            <a:off x="3556000" y="2761982"/>
            <a:ext cx="203199" cy="140234"/>
            <a:chOff x="7719426" y="2550652"/>
            <a:chExt cx="752106" cy="519050"/>
          </a:xfrm>
        </p:grpSpPr>
        <p:grpSp>
          <p:nvGrpSpPr>
            <p:cNvPr id="74" name="Группа 73">
              <a:extLst>
                <a:ext uri="{FF2B5EF4-FFF2-40B4-BE49-F238E27FC236}">
                  <a16:creationId xmlns:a16="http://schemas.microsoft.com/office/drawing/2014/main" id="{9E4CB168-9677-4869-8DD5-9A621FBD6D42}"/>
                </a:ext>
              </a:extLst>
            </p:cNvPr>
            <p:cNvGrpSpPr/>
            <p:nvPr/>
          </p:nvGrpSpPr>
          <p:grpSpPr>
            <a:xfrm>
              <a:off x="7719426" y="2550652"/>
              <a:ext cx="752106" cy="519050"/>
              <a:chOff x="7719426" y="2550652"/>
              <a:chExt cx="752106" cy="519050"/>
            </a:xfrm>
          </p:grpSpPr>
          <p:pic>
            <p:nvPicPr>
              <p:cNvPr id="32" name="Vector 226 [Figma I9887:105163;9557:13248]" descr="Vector 226. векторный контур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719426" y="2551148"/>
                <a:ext cx="455725" cy="518554"/>
              </a:xfrm>
              <a:prstGeom prst="rect">
                <a:avLst/>
              </a:prstGeom>
            </p:spPr>
          </p:pic>
          <p:pic>
            <p:nvPicPr>
              <p:cNvPr id="33" name="Rectangle 240663332 [Figma I9887:105163;9557:13249]" descr="Rectangle 240663332. векторный контур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070419" y="2830045"/>
                <a:ext cx="199893" cy="189503"/>
              </a:xfrm>
              <a:prstGeom prst="rect">
                <a:avLst/>
              </a:prstGeom>
            </p:spPr>
          </p:pic>
          <p:pic>
            <p:nvPicPr>
              <p:cNvPr id="34" name="Rectangle 240663333 [Figma I9887:105163;9557:13250]" descr="Rectangle 240663333. векторный контур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8158089" y="2852120"/>
                <a:ext cx="190421" cy="110973"/>
              </a:xfrm>
              <a:prstGeom prst="rect">
                <a:avLst/>
              </a:prstGeom>
            </p:spPr>
          </p:pic>
          <p:pic>
            <p:nvPicPr>
              <p:cNvPr id="35" name="Vector 227 [Figma I9887:105163;9557:13251]" descr="Vector 227. градиент в обводке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960264" y="2550652"/>
                <a:ext cx="511268" cy="316401"/>
              </a:xfrm>
              <a:prstGeom prst="rect">
                <a:avLst/>
              </a:prstGeom>
            </p:spPr>
          </p:pic>
        </p:grpSp>
      </p:grpSp>
      <p:sp>
        <p:nvSpPr>
          <p:cNvPr id="75" name="Текст"/>
          <p:cNvSpPr txBox="1"/>
          <p:nvPr/>
        </p:nvSpPr>
        <p:spPr>
          <a:xfrm>
            <a:off x="3556000" y="3213100"/>
            <a:ext cx="2243666" cy="901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1050">
                <a:solidFill>
                  <a:srgbClr val="3A4250"/>
                </a:solidFill>
                <a:latin typeface="VTB Omega UI"/>
              </a:rPr>
              <a:t>Методическая поддержка спикеров, в т.ч. топ-уровня: помощь в выстраивании логики лекции для достижения образовательного результата</a:t>
            </a:r>
          </a:p>
        </p:txBody>
      </p:sp>
      <p:sp>
        <p:nvSpPr>
          <p:cNvPr id="76" name="Карточка"/>
          <p:cNvSpPr/>
          <p:nvPr/>
        </p:nvSpPr>
        <p:spPr>
          <a:xfrm>
            <a:off x="6180666" y="2476500"/>
            <a:ext cx="2751666" cy="1790700"/>
          </a:xfrm>
          <a:prstGeom prst="roundRect">
            <a:avLst>
              <a:gd name="adj" fmla="val 4255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grpSp>
        <p:nvGrpSpPr>
          <p:cNvPr id="77" name="Иконка graduation"/>
          <p:cNvGrpSpPr/>
          <p:nvPr/>
        </p:nvGrpSpPr>
        <p:grpSpPr>
          <a:xfrm>
            <a:off x="6434666" y="2731371"/>
            <a:ext cx="203200" cy="201457"/>
            <a:chOff x="2994518" y="1985913"/>
            <a:chExt cx="678704" cy="672885"/>
          </a:xfrm>
        </p:grpSpPr>
        <p:grpSp>
          <p:nvGrpSpPr>
            <p:cNvPr id="78" name="Группа 17">
              <a:extLst>
                <a:ext uri="{FF2B5EF4-FFF2-40B4-BE49-F238E27FC236}">
                  <a16:creationId xmlns:a16="http://schemas.microsoft.com/office/drawing/2014/main" id="{D7A68925-F816-4CDD-85D1-C179F5B7FD8B}"/>
                </a:ext>
              </a:extLst>
            </p:cNvPr>
            <p:cNvGrpSpPr/>
            <p:nvPr/>
          </p:nvGrpSpPr>
          <p:grpSpPr>
            <a:xfrm>
              <a:off x="2994518" y="1985913"/>
              <a:ext cx="678704" cy="672885"/>
              <a:chOff x="2994518" y="1985913"/>
              <a:chExt cx="678704" cy="672885"/>
            </a:xfrm>
          </p:grpSpPr>
          <p:pic>
            <p:nvPicPr>
              <p:cNvPr id="79" name="cap-top [Figma I9887:94549;9121:2295]" descr="cap-top. векторный контур">
                <a:extLst>
                  <a:ext uri="{FF2B5EF4-FFF2-40B4-BE49-F238E27FC236}">
                    <a16:creationId xmlns:a16="http://schemas.microsoft.com/office/drawing/2014/main" id="{6050EFBF-CBAB-4F5A-9770-3AD78FBDCE8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2994518" y="1985913"/>
                <a:ext cx="678704" cy="382826"/>
              </a:xfrm>
              <a:prstGeom prst="rect">
                <a:avLst/>
              </a:prstGeom>
            </p:spPr>
          </p:pic>
          <p:pic>
            <p:nvPicPr>
              <p:cNvPr id="80" name="cap-body [Figma I9887:94549;9121:2296]" descr="cap-body. векторный контур">
                <a:extLst>
                  <a:ext uri="{FF2B5EF4-FFF2-40B4-BE49-F238E27FC236}">
                    <a16:creationId xmlns:a16="http://schemas.microsoft.com/office/drawing/2014/main" id="{B2424B82-2DEF-42E0-9948-130059B6CCD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3043828" y="2180228"/>
                <a:ext cx="580090" cy="390912"/>
              </a:xfrm>
              <a:prstGeom prst="rect">
                <a:avLst/>
              </a:prstGeom>
            </p:spPr>
          </p:pic>
          <p:pic>
            <p:nvPicPr>
              <p:cNvPr id="81" name="tassel [Figma I9887:94549;9121:2297]" descr="tassel. градиент в обводке">
                <a:extLst>
                  <a:ext uri="{FF2B5EF4-FFF2-40B4-BE49-F238E27FC236}">
                    <a16:creationId xmlns:a16="http://schemas.microsoft.com/office/drawing/2014/main" id="{C213041C-50A3-48C1-8AB8-D3770862E4B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3081533" y="2136722"/>
                <a:ext cx="272646" cy="522076"/>
              </a:xfrm>
              <a:prstGeom prst="rect">
                <a:avLst/>
              </a:prstGeom>
            </p:spPr>
          </p:pic>
        </p:grpSp>
      </p:grpSp>
      <p:sp>
        <p:nvSpPr>
          <p:cNvPr id="82" name="Текст"/>
          <p:cNvSpPr txBox="1"/>
          <p:nvPr/>
        </p:nvSpPr>
        <p:spPr>
          <a:xfrm>
            <a:off x="6434666" y="3213100"/>
            <a:ext cx="2243666" cy="901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50">
                <a:solidFill>
                  <a:srgbClr val="3A4250"/>
                </a:solidFill>
                <a:latin typeface="VTB Omega UI"/>
              </a:rPr>
              <a:t>Помощь в составлении проверочных заданий</a:t>
            </a:r>
          </a:p>
        </p:txBody>
      </p:sp>
      <p:sp>
        <p:nvSpPr>
          <p:cNvPr id="83" name="Карточка"/>
          <p:cNvSpPr/>
          <p:nvPr/>
        </p:nvSpPr>
        <p:spPr>
          <a:xfrm>
            <a:off x="9059333" y="2476500"/>
            <a:ext cx="2751666" cy="1790700"/>
          </a:xfrm>
          <a:prstGeom prst="roundRect">
            <a:avLst>
              <a:gd name="adj" fmla="val 4255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pSp>
        <p:nvGrpSpPr>
          <p:cNvPr id="84" name="Иконка people"/>
          <p:cNvGrpSpPr/>
          <p:nvPr/>
        </p:nvGrpSpPr>
        <p:grpSpPr>
          <a:xfrm>
            <a:off x="9313333" y="2738905"/>
            <a:ext cx="203200" cy="186389"/>
            <a:chOff x="660024" y="2042268"/>
            <a:chExt cx="518054" cy="475195"/>
          </a:xfrm>
        </p:grpSpPr>
        <p:grpSp>
          <p:nvGrpSpPr>
            <p:cNvPr id="73" name="Группа 72">
              <a:extLst>
                <a:ext uri="{FF2B5EF4-FFF2-40B4-BE49-F238E27FC236}">
                  <a16:creationId xmlns:a16="http://schemas.microsoft.com/office/drawing/2014/main" id="{FB322658-129E-4A67-8866-3E0D94AC2542}"/>
                </a:ext>
              </a:extLst>
            </p:cNvPr>
            <p:cNvGrpSpPr/>
            <p:nvPr/>
          </p:nvGrpSpPr>
          <p:grpSpPr>
            <a:xfrm>
              <a:off x="660024" y="2042268"/>
              <a:ext cx="518054" cy="475196"/>
              <a:chOff x="660024" y="2042268"/>
              <a:chExt cx="518054" cy="475196"/>
            </a:xfrm>
          </p:grpSpPr>
          <p:pic>
            <p:nvPicPr>
              <p:cNvPr id="85" name="Vector [Figma I9887:67766;7965:11745]" descr="Vector. векторный контур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660024" y="2042268"/>
                <a:ext cx="341831" cy="475196"/>
              </a:xfrm>
              <a:prstGeom prst="rect">
                <a:avLst/>
              </a:prstGeom>
            </p:spPr>
          </p:pic>
          <p:pic>
            <p:nvPicPr>
              <p:cNvPr id="86" name="Union [Figma I9887:67766;7965:11746]" descr="Union. градиент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953552" y="2042268"/>
                <a:ext cx="224526" cy="475196"/>
              </a:xfrm>
              <a:prstGeom prst="rect">
                <a:avLst/>
              </a:prstGeom>
            </p:spPr>
          </p:pic>
        </p:grpSp>
      </p:grpSp>
      <p:sp>
        <p:nvSpPr>
          <p:cNvPr id="87" name="Текст"/>
          <p:cNvSpPr txBox="1"/>
          <p:nvPr/>
        </p:nvSpPr>
        <p:spPr>
          <a:xfrm>
            <a:off x="9313333" y="3213100"/>
            <a:ext cx="2243666" cy="901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50">
                <a:solidFill>
                  <a:srgbClr val="3A4250"/>
                </a:solidFill>
                <a:latin typeface="VTB Omega UI"/>
              </a:rPr>
              <a:t>Напоминания, репетиции лекций со спикерами, тактичные предложения по улучшениям и доработке</a:t>
            </a:r>
          </a:p>
        </p:txBody>
      </p:sp>
      <p:sp>
        <p:nvSpPr>
          <p:cNvPr id="88" name="Карточка"/>
          <p:cNvSpPr/>
          <p:nvPr/>
        </p:nvSpPr>
        <p:spPr>
          <a:xfrm>
            <a:off x="3302000" y="4394200"/>
            <a:ext cx="2751666" cy="1790700"/>
          </a:xfrm>
          <a:prstGeom prst="roundRect">
            <a:avLst>
              <a:gd name="adj" fmla="val 4255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" name="Текст"/>
          <p:cNvSpPr txBox="1"/>
          <p:nvPr/>
        </p:nvSpPr>
        <p:spPr>
          <a:xfrm>
            <a:off x="3556000" y="5130800"/>
            <a:ext cx="2243666" cy="901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50">
                <a:solidFill>
                  <a:srgbClr val="3A4250"/>
                </a:solidFill>
                <a:latin typeface="VTB Omega UI"/>
              </a:rPr>
              <a:t>Проверка подключений и работоспособности платформы для проведения вебинаров</a:t>
            </a:r>
          </a:p>
        </p:txBody>
      </p:sp>
      <p:sp>
        <p:nvSpPr>
          <p:cNvPr id="102" name="Карточка"/>
          <p:cNvSpPr/>
          <p:nvPr/>
        </p:nvSpPr>
        <p:spPr>
          <a:xfrm>
            <a:off x="6180666" y="4394200"/>
            <a:ext cx="2751666" cy="1790700"/>
          </a:xfrm>
          <a:prstGeom prst="roundRect">
            <a:avLst>
              <a:gd name="adj" fmla="val 4255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pSp>
        <p:nvGrpSpPr>
          <p:cNvPr id="103" name="Иконка copy"/>
          <p:cNvGrpSpPr/>
          <p:nvPr/>
        </p:nvGrpSpPr>
        <p:grpSpPr>
          <a:xfrm>
            <a:off x="6435083" y="4648200"/>
            <a:ext cx="202366" cy="203200"/>
            <a:chOff x="5489478" y="2018257"/>
            <a:chExt cx="515934" cy="518058"/>
          </a:xfrm>
        </p:grpSpPr>
        <p:grpSp>
          <p:nvGrpSpPr>
            <p:cNvPr id="104" name="Группа 82">
              <a:extLst>
                <a:ext uri="{FF2B5EF4-FFF2-40B4-BE49-F238E27FC236}">
                  <a16:creationId xmlns:a16="http://schemas.microsoft.com/office/drawing/2014/main" id="{117B80CA-7007-489B-ACB7-3ECD810F6B2A}"/>
                </a:ext>
              </a:extLst>
            </p:cNvPr>
            <p:cNvGrpSpPr/>
            <p:nvPr/>
          </p:nvGrpSpPr>
          <p:grpSpPr>
            <a:xfrm>
              <a:off x="5489478" y="2018257"/>
              <a:ext cx="515934" cy="518058"/>
              <a:chOff x="5489478" y="2018257"/>
              <a:chExt cx="515934" cy="518058"/>
            </a:xfrm>
          </p:grpSpPr>
          <p:pic>
            <p:nvPicPr>
              <p:cNvPr id="105" name="Rectangle 23 (Stroke) [Figma I9887:108697;7965:11742]" descr="Rectangle 23 (Stroke). градиент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5631729" y="2179583"/>
                <a:ext cx="216564" cy="212323"/>
              </a:xfrm>
              <a:prstGeom prst="rect">
                <a:avLst/>
              </a:prstGeom>
            </p:spPr>
          </p:pic>
          <p:pic>
            <p:nvPicPr>
              <p:cNvPr id="106" name="Rectangle 21 (Stroke) [Figma I9887:108697;7965:11743]" descr="Rectangle 21 (Stroke). векторный контур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5489478" y="2018257"/>
                <a:ext cx="515934" cy="518058"/>
              </a:xfrm>
              <a:prstGeom prst="rect">
                <a:avLst/>
              </a:prstGeom>
            </p:spPr>
          </p:pic>
        </p:grpSp>
      </p:grpSp>
      <p:sp>
        <p:nvSpPr>
          <p:cNvPr id="107" name="Текст"/>
          <p:cNvSpPr txBox="1"/>
          <p:nvPr/>
        </p:nvSpPr>
        <p:spPr>
          <a:xfrm>
            <a:off x="6434666" y="5130800"/>
            <a:ext cx="2243666" cy="901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50">
                <a:solidFill>
                  <a:srgbClr val="3A4250"/>
                </a:solidFill>
                <a:latin typeface="VTB Omega UI"/>
              </a:rPr>
              <a:t>Сборка онлайн-курсов на LMS-платформе с дедлайнами и поддержкой куратора</a:t>
            </a:r>
          </a:p>
        </p:txBody>
      </p:sp>
      <p:sp>
        <p:nvSpPr>
          <p:cNvPr id="108" name="Карточка"/>
          <p:cNvSpPr/>
          <p:nvPr/>
        </p:nvSpPr>
        <p:spPr>
          <a:xfrm>
            <a:off x="9059333" y="4394200"/>
            <a:ext cx="2751666" cy="1790700"/>
          </a:xfrm>
          <a:prstGeom prst="roundRect">
            <a:avLst>
              <a:gd name="adj" fmla="val 4255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pSp>
        <p:nvGrpSpPr>
          <p:cNvPr id="109" name="Иконка edit"/>
          <p:cNvGrpSpPr/>
          <p:nvPr/>
        </p:nvGrpSpPr>
        <p:grpSpPr>
          <a:xfrm>
            <a:off x="9315417" y="4648200"/>
            <a:ext cx="199032" cy="203200"/>
            <a:chOff x="1912942" y="1986756"/>
            <a:chExt cx="507432" cy="518058"/>
          </a:xfrm>
        </p:grpSpPr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7CDF8B61-0EFF-4A7C-8E89-B26B6B5E4546}"/>
                </a:ext>
              </a:extLst>
            </p:cNvPr>
            <p:cNvGrpSpPr/>
            <p:nvPr/>
          </p:nvGrpSpPr>
          <p:grpSpPr>
            <a:xfrm>
              <a:off x="1912942" y="1986756"/>
              <a:ext cx="507432" cy="518058"/>
              <a:chOff x="1912942" y="1986756"/>
              <a:chExt cx="507432" cy="518058"/>
            </a:xfrm>
          </p:grpSpPr>
          <p:pic>
            <p:nvPicPr>
              <p:cNvPr id="15" name="Vector 35 (Stroke) [Figma I9887:94548;7965:11789]" descr="Vector 35 (Stroke). градиент">
                <a:extLst>
                  <a:ext uri="{FF2B5EF4-FFF2-40B4-BE49-F238E27FC236}">
                    <a16:creationId xmlns:a16="http://schemas.microsoft.com/office/drawing/2014/main" id="{BCE30EBE-AB5D-430A-A12C-DA362D6CD1B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2012729" y="2269126"/>
                <a:ext cx="63694" cy="42465"/>
              </a:xfrm>
              <a:prstGeom prst="rect">
                <a:avLst/>
              </a:prstGeom>
            </p:spPr>
          </p:pic>
          <p:pic>
            <p:nvPicPr>
              <p:cNvPr id="16" name="Vector 36 (Stroke) [Figma I9887:94548;7965:11790]" descr="Vector 36 (Stroke). градиент">
                <a:extLst>
                  <a:ext uri="{FF2B5EF4-FFF2-40B4-BE49-F238E27FC236}">
                    <a16:creationId xmlns:a16="http://schemas.microsoft.com/office/drawing/2014/main" id="{E5BE765A-1B24-4AB4-AFA5-0E9C3EBFD06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2012729" y="2345572"/>
                <a:ext cx="180468" cy="42465"/>
              </a:xfrm>
              <a:prstGeom prst="rect">
                <a:avLst/>
              </a:prstGeom>
            </p:spPr>
          </p:pic>
          <p:pic>
            <p:nvPicPr>
              <p:cNvPr id="17" name="Rectangle 13 (Stroke) [Figma I9887:94548;7965:11791]" descr="Rectangle 13 (Stroke). векторный контур">
                <a:extLst>
                  <a:ext uri="{FF2B5EF4-FFF2-40B4-BE49-F238E27FC236}">
                    <a16:creationId xmlns:a16="http://schemas.microsoft.com/office/drawing/2014/main" id="{22145808-A2C5-4C2E-8823-606F680F795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1912942" y="1986756"/>
                <a:ext cx="507432" cy="518058"/>
              </a:xfrm>
              <a:prstGeom prst="rect">
                <a:avLst/>
              </a:prstGeom>
            </p:spPr>
          </p:pic>
        </p:grpSp>
      </p:grpSp>
      <p:sp>
        <p:nvSpPr>
          <p:cNvPr id="110" name="Текст"/>
          <p:cNvSpPr txBox="1"/>
          <p:nvPr/>
        </p:nvSpPr>
        <p:spPr>
          <a:xfrm>
            <a:off x="9313333" y="5130800"/>
            <a:ext cx="2243666" cy="901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50">
                <a:solidFill>
                  <a:srgbClr val="3A4250"/>
                </a:solidFill>
                <a:latin typeface="VTB Omega UI"/>
              </a:rPr>
              <a:t>Опыт заключения сетевых и лицензионных договоров с вузами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00AB63-8D6F-9F83-D009-2C2E42EFD1F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489376" y="4552682"/>
            <a:ext cx="394740" cy="39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291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85A43172-339A-4CCC-86BB-D02E8A58B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normAutofit/>
          </a:bodyPr>
          <a:lstStyle/>
          <a:p>
            <a:pPr>
              <a:lnSpc>
                <a:spcPts val="3100"/>
              </a:lnSpc>
            </a:pPr>
            <a:r>
              <a:rPr sz="2800" dirty="0" err="1">
                <a:solidFill>
                  <a:srgbClr val="0A2896"/>
                </a:solidFill>
              </a:rPr>
              <a:t>Базовый</a:t>
            </a:r>
            <a:r>
              <a:rPr sz="2800" dirty="0">
                <a:solidFill>
                  <a:srgbClr val="0A2896"/>
                </a:solidFill>
              </a:rPr>
              <a:t> </a:t>
            </a:r>
            <a:r>
              <a:rPr sz="2800" dirty="0" err="1">
                <a:solidFill>
                  <a:srgbClr val="0A2896"/>
                </a:solidFill>
              </a:rPr>
              <a:t>формат</a:t>
            </a:r>
            <a:r>
              <a:rPr sz="2800" dirty="0">
                <a:solidFill>
                  <a:srgbClr val="0A2896"/>
                </a:solidFill>
              </a:rPr>
              <a:t>: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8A1335D-0971-44DA-9021-3CE509D3773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E9794C1B-C881-42F5-9B4F-0D6130829943}" type="slidenum">
              <a:rPr lang="ru-RU" smtClean="0"/>
              <a:pPr>
                <a:defRPr/>
              </a:pPr>
              <a:t>7</a:t>
            </a:fld>
            <a:endParaRPr lang="ru-RU" dirty="0"/>
          </a:p>
        </p:txBody>
      </p:sp>
      <p:sp>
        <p:nvSpPr>
          <p:cNvPr id="10" name="Текст"/>
          <p:cNvSpPr txBox="1"/>
          <p:nvPr/>
        </p:nvSpPr>
        <p:spPr>
          <a:xfrm>
            <a:off x="381000" y="876300"/>
            <a:ext cx="6823841" cy="48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600" dirty="0" err="1">
                <a:solidFill>
                  <a:srgbClr val="1C1C1C"/>
                </a:solidFill>
                <a:latin typeface="VTB Omega UI"/>
              </a:rPr>
              <a:t>предлагаем</a:t>
            </a:r>
            <a:r>
              <a:rPr sz="16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600" dirty="0" err="1">
                <a:solidFill>
                  <a:srgbClr val="1C1C1C"/>
                </a:solidFill>
                <a:latin typeface="VTB Omega UI"/>
              </a:rPr>
              <a:t>встроить</a:t>
            </a:r>
            <a:r>
              <a:rPr sz="1600" dirty="0">
                <a:solidFill>
                  <a:srgbClr val="1C1C1C"/>
                </a:solidFill>
                <a:latin typeface="VTB Omega UI"/>
              </a:rPr>
              <a:t> 5 </a:t>
            </a:r>
            <a:r>
              <a:rPr sz="1600" dirty="0" err="1">
                <a:solidFill>
                  <a:srgbClr val="1C1C1C"/>
                </a:solidFill>
                <a:latin typeface="VTB Omega UI"/>
              </a:rPr>
              <a:t>готовых</a:t>
            </a:r>
            <a:r>
              <a:rPr sz="16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600" dirty="0" err="1">
                <a:solidFill>
                  <a:srgbClr val="1C1C1C"/>
                </a:solidFill>
                <a:latin typeface="VTB Omega UI"/>
              </a:rPr>
              <a:t>асинхронных</a:t>
            </a:r>
            <a:r>
              <a:rPr sz="16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600" dirty="0" err="1">
                <a:solidFill>
                  <a:srgbClr val="1C1C1C"/>
                </a:solidFill>
                <a:latin typeface="VTB Omega UI"/>
              </a:rPr>
              <a:t>онлайн-курсов</a:t>
            </a:r>
            <a:r>
              <a:rPr sz="1600" dirty="0">
                <a:solidFill>
                  <a:srgbClr val="1C1C1C"/>
                </a:solidFill>
                <a:latin typeface="VTB Omega UI"/>
              </a:rPr>
              <a:t> ВТБ </a:t>
            </a:r>
            <a:r>
              <a:rPr sz="1600" dirty="0" err="1">
                <a:solidFill>
                  <a:srgbClr val="1C1C1C"/>
                </a:solidFill>
                <a:latin typeface="VTB Omega UI"/>
              </a:rPr>
              <a:t>Образование</a:t>
            </a:r>
            <a:r>
              <a:rPr sz="16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600" dirty="0" err="1">
                <a:solidFill>
                  <a:srgbClr val="1C1C1C"/>
                </a:solidFill>
                <a:latin typeface="VTB Omega UI"/>
              </a:rPr>
              <a:t>в</a:t>
            </a:r>
            <a:r>
              <a:rPr sz="1600" dirty="0">
                <a:solidFill>
                  <a:srgbClr val="1C1C1C"/>
                </a:solidFill>
                <a:latin typeface="VTB Omega UI"/>
              </a:rPr>
              <a:t> </a:t>
            </a:r>
            <a:r>
              <a:rPr sz="1600" dirty="0" err="1">
                <a:solidFill>
                  <a:srgbClr val="1C1C1C"/>
                </a:solidFill>
                <a:latin typeface="VTB Omega UI"/>
              </a:rPr>
              <a:t>программу</a:t>
            </a:r>
            <a:r>
              <a:rPr sz="1600" dirty="0">
                <a:solidFill>
                  <a:srgbClr val="1C1C1C"/>
                </a:solidFill>
                <a:latin typeface="VTB Omega UI"/>
              </a:rPr>
              <a:t> ДПО</a:t>
            </a:r>
          </a:p>
        </p:txBody>
      </p:sp>
      <p:sp>
        <p:nvSpPr>
          <p:cNvPr id="12" name="Карточка"/>
          <p:cNvSpPr/>
          <p:nvPr/>
        </p:nvSpPr>
        <p:spPr>
          <a:xfrm>
            <a:off x="381000" y="1600200"/>
            <a:ext cx="11430000" cy="1282700"/>
          </a:xfrm>
          <a:prstGeom prst="roundRect">
            <a:avLst>
              <a:gd name="adj" fmla="val 594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Карточка"/>
          <p:cNvSpPr/>
          <p:nvPr/>
        </p:nvSpPr>
        <p:spPr>
          <a:xfrm>
            <a:off x="381000" y="1600200"/>
            <a:ext cx="3403600" cy="1282700"/>
          </a:xfrm>
          <a:prstGeom prst="roundRect">
            <a:avLst>
              <a:gd name="adj" fmla="val 5940"/>
            </a:avLst>
          </a:prstGeom>
          <a:gradFill rotWithShape="1">
            <a:gsLst>
              <a:gs pos="0">
                <a:srgbClr val="1E4BD2"/>
              </a:gs>
              <a:gs pos="100000">
                <a:srgbClr val="86BFF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Карточка"/>
          <p:cNvSpPr/>
          <p:nvPr/>
        </p:nvSpPr>
        <p:spPr>
          <a:xfrm>
            <a:off x="3708400" y="1600200"/>
            <a:ext cx="76200" cy="1282700"/>
          </a:xfrm>
          <a:prstGeom prst="roundRect">
            <a:avLst>
              <a:gd name="adj" fmla="val 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pSp>
        <p:nvGrpSpPr>
          <p:cNvPr id="15" name="Иконка presentation"/>
          <p:cNvGrpSpPr/>
          <p:nvPr/>
        </p:nvGrpSpPr>
        <p:grpSpPr>
          <a:xfrm>
            <a:off x="2564162" y="1876516"/>
            <a:ext cx="917397" cy="1117600"/>
            <a:chOff x="7884280" y="1941811"/>
            <a:chExt cx="553813" cy="674671"/>
          </a:xfrm>
        </p:grpSpPr>
        <p:grpSp>
          <p:nvGrpSpPr>
            <p:cNvPr id="34" name="Группа 33">
              <a:extLst>
                <a:ext uri="{FF2B5EF4-FFF2-40B4-BE49-F238E27FC236}">
                  <a16:creationId xmlns:a16="http://schemas.microsoft.com/office/drawing/2014/main" id="{20FD8EBF-7506-41C8-800E-4268C3BE3992}"/>
                </a:ext>
              </a:extLst>
            </p:cNvPr>
            <p:cNvGrpSpPr/>
            <p:nvPr/>
          </p:nvGrpSpPr>
          <p:grpSpPr>
            <a:xfrm>
              <a:off x="7884280" y="1941811"/>
              <a:ext cx="553813" cy="674671"/>
              <a:chOff x="7884280" y="1941811"/>
              <a:chExt cx="553813" cy="674671"/>
            </a:xfrm>
          </p:grpSpPr>
          <p:pic>
            <p:nvPicPr>
              <p:cNvPr id="35" name="Union [Figma I9887:94553;9121:2260]" descr="Union. векторный контур">
                <a:extLst>
                  <a:ext uri="{FF2B5EF4-FFF2-40B4-BE49-F238E27FC236}">
                    <a16:creationId xmlns:a16="http://schemas.microsoft.com/office/drawing/2014/main" id="{63E7CB65-2995-4131-AB11-6E66122C450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lum bright="100000"/>
                <a:alphaModFix amt="35000"/>
              </a:blip>
              <a:stretch>
                <a:fillRect/>
              </a:stretch>
            </p:blipFill>
            <p:spPr>
              <a:xfrm>
                <a:off x="7977214" y="1941811"/>
                <a:ext cx="377236" cy="674671"/>
              </a:xfrm>
              <a:prstGeom prst="rect">
                <a:avLst/>
              </a:prstGeom>
            </p:spPr>
          </p:pic>
          <p:pic>
            <p:nvPicPr>
              <p:cNvPr id="36" name="Union [Figma I9887:94553;9121:2265]" descr="Union. градиент">
                <a:extLst>
                  <a:ext uri="{FF2B5EF4-FFF2-40B4-BE49-F238E27FC236}">
                    <a16:creationId xmlns:a16="http://schemas.microsoft.com/office/drawing/2014/main" id="{A456E9A8-3BAC-4F59-81A0-C63CE875502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lum bright="100000"/>
                <a:alphaModFix amt="35000"/>
              </a:blip>
              <a:stretch>
                <a:fillRect/>
              </a:stretch>
            </p:blipFill>
            <p:spPr>
              <a:xfrm>
                <a:off x="7884280" y="2006798"/>
                <a:ext cx="553813" cy="377220"/>
              </a:xfrm>
              <a:prstGeom prst="rect">
                <a:avLst/>
              </a:prstGeom>
            </p:spPr>
          </p:pic>
        </p:grpSp>
      </p:grpSp>
      <p:sp>
        <p:nvSpPr>
          <p:cNvPr id="37" name="Текст"/>
          <p:cNvSpPr txBox="1"/>
          <p:nvPr/>
        </p:nvSpPr>
        <p:spPr>
          <a:xfrm>
            <a:off x="584200" y="1778000"/>
            <a:ext cx="19304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400">
                <a:solidFill>
                  <a:srgbClr val="FFFFFF"/>
                </a:solidFill>
                <a:latin typeface="VTB Omega UI"/>
              </a:rPr>
              <a:t>Онлайн-курсы</a:t>
            </a:r>
          </a:p>
        </p:txBody>
      </p:sp>
      <p:sp>
        <p:nvSpPr>
          <p:cNvPr id="38" name="Текст"/>
          <p:cNvSpPr txBox="1"/>
          <p:nvPr/>
        </p:nvSpPr>
        <p:spPr>
          <a:xfrm>
            <a:off x="3898900" y="1790700"/>
            <a:ext cx="3733800" cy="901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7800" indent="-177800" algn="l">
              <a:lnSpc>
                <a:spcPts val="1450"/>
              </a:lnSpc>
              <a:buClr>
                <a:srgbClr val="0A2896"/>
              </a:buClr>
              <a:buFont typeface="Arial"/>
              <a:buChar char="•"/>
            </a:pPr>
            <a:r>
              <a:rPr sz="1300">
                <a:solidFill>
                  <a:srgbClr val="1C1C1C"/>
                </a:solidFill>
                <a:latin typeface="VTB Omega UI"/>
              </a:rPr>
              <a:t>МСФО: базовый уровень</a:t>
            </a:r>
          </a:p>
          <a:p>
            <a:pPr marL="177800" indent="-177800" algn="l">
              <a:lnSpc>
                <a:spcPts val="1450"/>
              </a:lnSpc>
              <a:spcBef>
                <a:spcPts val="900"/>
              </a:spcBef>
              <a:buClr>
                <a:srgbClr val="0A2896"/>
              </a:buClr>
              <a:buFont typeface="Arial"/>
              <a:buChar char="•"/>
            </a:pPr>
            <a:r>
              <a:rPr sz="1300">
                <a:solidFill>
                  <a:srgbClr val="1C1C1C"/>
                </a:solidFill>
                <a:latin typeface="VTB Omega UI"/>
              </a:rPr>
              <a:t>МСФО: финансовые инструменты</a:t>
            </a:r>
          </a:p>
          <a:p>
            <a:pPr marL="177800" indent="-177800" algn="l">
              <a:lnSpc>
                <a:spcPts val="1450"/>
              </a:lnSpc>
              <a:spcBef>
                <a:spcPts val="900"/>
              </a:spcBef>
              <a:buClr>
                <a:srgbClr val="0A2896"/>
              </a:buClr>
              <a:buFont typeface="Arial"/>
              <a:buChar char="•"/>
            </a:pPr>
            <a:r>
              <a:rPr sz="1300">
                <a:solidFill>
                  <a:srgbClr val="1C1C1C"/>
                </a:solidFill>
                <a:latin typeface="VTB Omega UI"/>
              </a:rPr>
              <a:t>Управленческая отчётность</a:t>
            </a:r>
          </a:p>
        </p:txBody>
      </p:sp>
      <p:sp>
        <p:nvSpPr>
          <p:cNvPr id="39" name="Текст"/>
          <p:cNvSpPr txBox="1"/>
          <p:nvPr/>
        </p:nvSpPr>
        <p:spPr>
          <a:xfrm>
            <a:off x="7886700" y="1790700"/>
            <a:ext cx="3733800" cy="901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7800" indent="-177800" algn="l">
              <a:lnSpc>
                <a:spcPts val="1450"/>
              </a:lnSpc>
              <a:buClr>
                <a:srgbClr val="0A2896"/>
              </a:buClr>
              <a:buFont typeface="Arial"/>
              <a:buChar char="•"/>
            </a:pPr>
            <a:r>
              <a:rPr sz="1300" dirty="0" err="1">
                <a:solidFill>
                  <a:srgbClr val="1C1C1C"/>
                </a:solidFill>
                <a:latin typeface="VTB Omega UI"/>
              </a:rPr>
              <a:t>Финансовое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моделирование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в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 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банках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: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базовый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уровень</a:t>
            </a:r>
            <a:endParaRPr sz="1300" dirty="0">
              <a:solidFill>
                <a:srgbClr val="1C1C1C"/>
              </a:solidFill>
              <a:latin typeface="VTB Omega UI"/>
            </a:endParaRPr>
          </a:p>
          <a:p>
            <a:pPr marL="177800" indent="-177800" algn="l">
              <a:lnSpc>
                <a:spcPts val="1450"/>
              </a:lnSpc>
              <a:spcBef>
                <a:spcPts val="900"/>
              </a:spcBef>
              <a:buClr>
                <a:srgbClr val="0A2896"/>
              </a:buClr>
              <a:buFont typeface="Arial"/>
              <a:buChar char="•"/>
            </a:pPr>
            <a:r>
              <a:rPr sz="1300" dirty="0">
                <a:solidFill>
                  <a:srgbClr val="1C1C1C"/>
                </a:solidFill>
                <a:latin typeface="VTB Omega UI"/>
              </a:rPr>
              <a:t>Цифровые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финансовые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активы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: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банковский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взгляд</a:t>
            </a:r>
            <a:endParaRPr sz="1300" dirty="0">
              <a:solidFill>
                <a:srgbClr val="1C1C1C"/>
              </a:solidFill>
              <a:latin typeface="VTB Omega UI"/>
            </a:endParaRPr>
          </a:p>
        </p:txBody>
      </p:sp>
      <p:sp>
        <p:nvSpPr>
          <p:cNvPr id="40" name="Карточка"/>
          <p:cNvSpPr/>
          <p:nvPr/>
        </p:nvSpPr>
        <p:spPr>
          <a:xfrm>
            <a:off x="381000" y="3009900"/>
            <a:ext cx="11430000" cy="1466850"/>
          </a:xfrm>
          <a:prstGeom prst="roundRect">
            <a:avLst>
              <a:gd name="adj" fmla="val 5194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Карточка"/>
          <p:cNvSpPr/>
          <p:nvPr/>
        </p:nvSpPr>
        <p:spPr>
          <a:xfrm>
            <a:off x="381000" y="3009900"/>
            <a:ext cx="3403600" cy="1466850"/>
          </a:xfrm>
          <a:prstGeom prst="roundRect">
            <a:avLst>
              <a:gd name="adj" fmla="val 5194"/>
            </a:avLst>
          </a:prstGeom>
          <a:gradFill rotWithShape="1">
            <a:gsLst>
              <a:gs pos="0">
                <a:srgbClr val="1E4BD2"/>
              </a:gs>
              <a:gs pos="100000">
                <a:srgbClr val="86BFF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Карточка"/>
          <p:cNvSpPr/>
          <p:nvPr/>
        </p:nvSpPr>
        <p:spPr>
          <a:xfrm>
            <a:off x="3708400" y="3009900"/>
            <a:ext cx="76200" cy="1466850"/>
          </a:xfrm>
          <a:prstGeom prst="roundRect">
            <a:avLst>
              <a:gd name="adj" fmla="val 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pSp>
        <p:nvGrpSpPr>
          <p:cNvPr id="43" name="Иконка edit"/>
          <p:cNvGrpSpPr/>
          <p:nvPr/>
        </p:nvGrpSpPr>
        <p:grpSpPr>
          <a:xfrm>
            <a:off x="2564162" y="3486150"/>
            <a:ext cx="1094676" cy="1117600"/>
            <a:chOff x="1912942" y="1986756"/>
            <a:chExt cx="507432" cy="518058"/>
          </a:xfrm>
        </p:grpSpPr>
        <p:grpSp>
          <p:nvGrpSpPr>
            <p:cNvPr id="44" name="Группа 13">
              <a:extLst>
                <a:ext uri="{FF2B5EF4-FFF2-40B4-BE49-F238E27FC236}">
                  <a16:creationId xmlns:a16="http://schemas.microsoft.com/office/drawing/2014/main" id="{7CDF8B61-0EFF-4A7C-8E89-B26B6B5E4546}"/>
                </a:ext>
              </a:extLst>
            </p:cNvPr>
            <p:cNvGrpSpPr/>
            <p:nvPr/>
          </p:nvGrpSpPr>
          <p:grpSpPr>
            <a:xfrm>
              <a:off x="1912942" y="1986756"/>
              <a:ext cx="507432" cy="518058"/>
              <a:chOff x="1912942" y="1986756"/>
              <a:chExt cx="507432" cy="518058"/>
            </a:xfrm>
          </p:grpSpPr>
          <p:pic>
            <p:nvPicPr>
              <p:cNvPr id="45" name="Vector 35 (Stroke) [Figma I9887:94548;7965:11789]" descr="Vector 35 (Stroke). градиент">
                <a:extLst>
                  <a:ext uri="{FF2B5EF4-FFF2-40B4-BE49-F238E27FC236}">
                    <a16:creationId xmlns:a16="http://schemas.microsoft.com/office/drawing/2014/main" id="{BCE30EBE-AB5D-430A-A12C-DA362D6CD1B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lum bright="100000"/>
                <a:alphaModFix amt="35000"/>
              </a:blip>
              <a:stretch>
                <a:fillRect/>
              </a:stretch>
            </p:blipFill>
            <p:spPr>
              <a:xfrm>
                <a:off x="2012729" y="2269126"/>
                <a:ext cx="63694" cy="42465"/>
              </a:xfrm>
              <a:prstGeom prst="rect">
                <a:avLst/>
              </a:prstGeom>
            </p:spPr>
          </p:pic>
          <p:pic>
            <p:nvPicPr>
              <p:cNvPr id="16" name="Vector 36 (Stroke) [Figma I9887:94548;7965:11790]" descr="Vector 36 (Stroke). градиент">
                <a:extLst>
                  <a:ext uri="{FF2B5EF4-FFF2-40B4-BE49-F238E27FC236}">
                    <a16:creationId xmlns:a16="http://schemas.microsoft.com/office/drawing/2014/main" id="{E5BE765A-1B24-4AB4-AFA5-0E9C3EBFD06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>
                <a:lum bright="100000"/>
                <a:alphaModFix amt="35000"/>
              </a:blip>
              <a:stretch>
                <a:fillRect/>
              </a:stretch>
            </p:blipFill>
            <p:spPr>
              <a:xfrm>
                <a:off x="2012729" y="2345572"/>
                <a:ext cx="180468" cy="42465"/>
              </a:xfrm>
              <a:prstGeom prst="rect">
                <a:avLst/>
              </a:prstGeom>
            </p:spPr>
          </p:pic>
          <p:pic>
            <p:nvPicPr>
              <p:cNvPr id="17" name="Rectangle 13 (Stroke) [Figma I9887:94548;7965:11791]" descr="Rectangle 13 (Stroke). векторный контур">
                <a:extLst>
                  <a:ext uri="{FF2B5EF4-FFF2-40B4-BE49-F238E27FC236}">
                    <a16:creationId xmlns:a16="http://schemas.microsoft.com/office/drawing/2014/main" id="{22145808-A2C5-4C2E-8823-606F680F795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6">
                <a:lum bright="100000"/>
                <a:alphaModFix amt="35000"/>
              </a:blip>
              <a:stretch>
                <a:fillRect/>
              </a:stretch>
            </p:blipFill>
            <p:spPr>
              <a:xfrm>
                <a:off x="1912942" y="1986756"/>
                <a:ext cx="507432" cy="518058"/>
              </a:xfrm>
              <a:prstGeom prst="rect">
                <a:avLst/>
              </a:prstGeom>
            </p:spPr>
          </p:pic>
        </p:grpSp>
      </p:grpSp>
      <p:sp>
        <p:nvSpPr>
          <p:cNvPr id="46" name="Текст"/>
          <p:cNvSpPr txBox="1"/>
          <p:nvPr/>
        </p:nvSpPr>
        <p:spPr>
          <a:xfrm>
            <a:off x="584200" y="3187700"/>
            <a:ext cx="19304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400">
                <a:solidFill>
                  <a:srgbClr val="FFFFFF"/>
                </a:solidFill>
                <a:latin typeface="VTB Omega UI"/>
              </a:rPr>
              <a:t>Объем работ</a:t>
            </a:r>
          </a:p>
        </p:txBody>
      </p:sp>
      <p:sp>
        <p:nvSpPr>
          <p:cNvPr id="47" name="Текст"/>
          <p:cNvSpPr txBox="1"/>
          <p:nvPr/>
        </p:nvSpPr>
        <p:spPr>
          <a:xfrm>
            <a:off x="3898900" y="3200400"/>
            <a:ext cx="3733800" cy="1085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7800" indent="-177800" algn="l">
              <a:lnSpc>
                <a:spcPts val="1450"/>
              </a:lnSpc>
              <a:buClr>
                <a:srgbClr val="0A2896"/>
              </a:buClr>
              <a:buFont typeface="Arial"/>
              <a:buChar char="•"/>
            </a:pPr>
            <a:r>
              <a:rPr sz="1300">
                <a:solidFill>
                  <a:srgbClr val="1C1C1C"/>
                </a:solidFill>
                <a:latin typeface="VTB Omega UI"/>
              </a:rPr>
              <a:t>Доступ к пяти курсам в течение 2027 года</a:t>
            </a:r>
          </a:p>
          <a:p>
            <a:pPr marL="177800" indent="-177800" algn="l">
              <a:lnSpc>
                <a:spcPts val="1450"/>
              </a:lnSpc>
              <a:spcBef>
                <a:spcPts val="900"/>
              </a:spcBef>
              <a:buClr>
                <a:srgbClr val="0A2896"/>
              </a:buClr>
              <a:buFont typeface="Arial"/>
              <a:buChar char="•"/>
            </a:pPr>
            <a:r>
              <a:rPr sz="1300">
                <a:solidFill>
                  <a:srgbClr val="1C1C1C"/>
                </a:solidFill>
                <a:latin typeface="VTB Omega UI"/>
              </a:rPr>
              <a:t>Электронный сертификат для участников, успешно завершивших курсы</a:t>
            </a:r>
          </a:p>
        </p:txBody>
      </p:sp>
      <p:sp>
        <p:nvSpPr>
          <p:cNvPr id="48" name="Текст"/>
          <p:cNvSpPr txBox="1"/>
          <p:nvPr/>
        </p:nvSpPr>
        <p:spPr>
          <a:xfrm>
            <a:off x="7886700" y="3200400"/>
            <a:ext cx="3733800" cy="1085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7800" indent="-177800" algn="l">
              <a:lnSpc>
                <a:spcPts val="1450"/>
              </a:lnSpc>
              <a:buClr>
                <a:srgbClr val="0A2896"/>
              </a:buClr>
              <a:buFont typeface="Arial"/>
              <a:buChar char="•"/>
            </a:pPr>
            <a:r>
              <a:rPr sz="1300">
                <a:solidFill>
                  <a:srgbClr val="1C1C1C"/>
                </a:solidFill>
                <a:latin typeface="VTB Omega UI"/>
              </a:rPr>
              <a:t>Инструкция по работе с платформой</a:t>
            </a:r>
          </a:p>
          <a:p>
            <a:pPr marL="177800" indent="-177800" algn="l">
              <a:lnSpc>
                <a:spcPts val="1450"/>
              </a:lnSpc>
              <a:spcBef>
                <a:spcPts val="900"/>
              </a:spcBef>
              <a:buClr>
                <a:srgbClr val="0A2896"/>
              </a:buClr>
              <a:buFont typeface="Arial"/>
              <a:buChar char="•"/>
            </a:pPr>
            <a:r>
              <a:rPr sz="1300">
                <a:solidFill>
                  <a:srgbClr val="1C1C1C"/>
                </a:solidFill>
                <a:latin typeface="VTB Omega UI"/>
              </a:rPr>
              <a:t>Техническая и кураторская поддержка слушателей</a:t>
            </a:r>
          </a:p>
        </p:txBody>
      </p:sp>
      <p:sp>
        <p:nvSpPr>
          <p:cNvPr id="49" name="Карточка"/>
          <p:cNvSpPr/>
          <p:nvPr/>
        </p:nvSpPr>
        <p:spPr>
          <a:xfrm>
            <a:off x="381000" y="4603750"/>
            <a:ext cx="11430000" cy="1581150"/>
          </a:xfrm>
          <a:prstGeom prst="roundRect">
            <a:avLst>
              <a:gd name="adj" fmla="val 4819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Карточка"/>
          <p:cNvSpPr/>
          <p:nvPr/>
        </p:nvSpPr>
        <p:spPr>
          <a:xfrm>
            <a:off x="381000" y="4603750"/>
            <a:ext cx="3403600" cy="1581150"/>
          </a:xfrm>
          <a:prstGeom prst="roundRect">
            <a:avLst>
              <a:gd name="adj" fmla="val 4819"/>
            </a:avLst>
          </a:prstGeom>
          <a:solidFill>
            <a:srgbClr val="E3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51" name="Карточка"/>
          <p:cNvSpPr/>
          <p:nvPr/>
        </p:nvSpPr>
        <p:spPr>
          <a:xfrm>
            <a:off x="3708400" y="4603750"/>
            <a:ext cx="76200" cy="1581150"/>
          </a:xfrm>
          <a:prstGeom prst="roundRect">
            <a:avLst>
              <a:gd name="adj" fmla="val 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3" name="Текст"/>
          <p:cNvSpPr txBox="1"/>
          <p:nvPr/>
        </p:nvSpPr>
        <p:spPr>
          <a:xfrm>
            <a:off x="584200" y="4781550"/>
            <a:ext cx="1930400" cy="424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400" dirty="0" err="1">
                <a:solidFill>
                  <a:srgbClr val="0A2896"/>
                </a:solidFill>
                <a:latin typeface="VTB Omega UI"/>
              </a:rPr>
              <a:t>Формат</a:t>
            </a:r>
            <a:r>
              <a:rPr sz="1400" dirty="0">
                <a:solidFill>
                  <a:srgbClr val="0A2896"/>
                </a:solidFill>
                <a:latin typeface="VTB Omega UI"/>
              </a:rPr>
              <a:t> </a:t>
            </a:r>
            <a:r>
              <a:rPr sz="1400" dirty="0" err="1">
                <a:solidFill>
                  <a:srgbClr val="0A2896"/>
                </a:solidFill>
                <a:latin typeface="VTB Omega UI"/>
              </a:rPr>
              <a:t>взаимодействия</a:t>
            </a:r>
            <a:endParaRPr sz="1400" dirty="0">
              <a:solidFill>
                <a:srgbClr val="0A2896"/>
              </a:solidFill>
              <a:latin typeface="VTB Omega UI"/>
            </a:endParaRPr>
          </a:p>
        </p:txBody>
      </p:sp>
      <p:sp>
        <p:nvSpPr>
          <p:cNvPr id="194" name="Текст"/>
          <p:cNvSpPr txBox="1"/>
          <p:nvPr/>
        </p:nvSpPr>
        <p:spPr>
          <a:xfrm>
            <a:off x="3898900" y="4794250"/>
            <a:ext cx="7721600" cy="1200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7800" indent="-177800" algn="l">
              <a:lnSpc>
                <a:spcPts val="1450"/>
              </a:lnSpc>
              <a:buClr>
                <a:srgbClr val="0A2896"/>
              </a:buClr>
              <a:buFont typeface="Arial"/>
              <a:buChar char="•"/>
            </a:pPr>
            <a:r>
              <a:rPr sz="1300">
                <a:solidFill>
                  <a:srgbClr val="1C1C1C"/>
                </a:solidFill>
                <a:latin typeface="VTB Omega UI"/>
              </a:rPr>
              <a:t>Сетевой договор между АНО ДО «ВТБ Образование» и Финансовым университетом</a:t>
            </a:r>
          </a:p>
          <a:p>
            <a:pPr marL="177800" indent="-177800" algn="l">
              <a:lnSpc>
                <a:spcPts val="1450"/>
              </a:lnSpc>
              <a:spcBef>
                <a:spcPts val="900"/>
              </a:spcBef>
              <a:buClr>
                <a:srgbClr val="0A2896"/>
              </a:buClr>
              <a:buFont typeface="Arial"/>
              <a:buChar char="•"/>
            </a:pPr>
            <a:r>
              <a:rPr sz="1300">
                <a:solidFill>
                  <a:srgbClr val="1C1C1C"/>
                </a:solidFill>
                <a:latin typeface="VTB Omega UI"/>
              </a:rPr>
              <a:t>Индикативная стоимость¹: х ххх ххх руб. (АХР)</a:t>
            </a:r>
          </a:p>
          <a:p>
            <a:pPr marL="177800" indent="-177800" algn="l">
              <a:lnSpc>
                <a:spcPts val="1450"/>
              </a:lnSpc>
              <a:spcBef>
                <a:spcPts val="900"/>
              </a:spcBef>
              <a:buClr>
                <a:srgbClr val="0A2896"/>
              </a:buClr>
              <a:buFont typeface="Arial"/>
              <a:buChar char="•"/>
            </a:pPr>
            <a:r>
              <a:rPr sz="1300">
                <a:solidFill>
                  <a:srgbClr val="1C1C1C"/>
                </a:solidFill>
                <a:latin typeface="VTB Omega UI"/>
              </a:rPr>
              <a:t>Источник средств: бюджет ДВОПиИ на 2027 год, направление «Профессиональные финансы».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1A7CD73-A0A3-7D20-89B1-FCA27B2031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0580" y="4794250"/>
            <a:ext cx="2205794" cy="2180145"/>
          </a:xfrm>
          <a:prstGeom prst="rect">
            <a:avLst/>
          </a:prstGeom>
        </p:spPr>
      </p:pic>
      <p:sp>
        <p:nvSpPr>
          <p:cNvPr id="11" name="Сноска"/>
          <p:cNvSpPr txBox="1"/>
          <p:nvPr/>
        </p:nvSpPr>
        <p:spPr>
          <a:xfrm>
            <a:off x="381000" y="6286500"/>
            <a:ext cx="8890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40"/>
              </a:lnSpc>
            </a:pPr>
            <a:r>
              <a:rPr sz="950">
                <a:solidFill>
                  <a:srgbClr val="4A5361"/>
                </a:solidFill>
                <a:latin typeface="VTB Omega UI"/>
              </a:rPr>
              <a:t>1 — итоговая стоимость будет скорректирована по итогам уточнения параметров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1484887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85A43172-339A-4CCC-86BB-D02E8A58B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normAutofit/>
          </a:bodyPr>
          <a:lstStyle/>
          <a:p>
            <a:pPr>
              <a:lnSpc>
                <a:spcPts val="3100"/>
              </a:lnSpc>
            </a:pPr>
            <a:r>
              <a:rPr sz="2800" dirty="0" err="1">
                <a:solidFill>
                  <a:srgbClr val="0A2896"/>
                </a:solidFill>
              </a:rPr>
              <a:t>Расширенный</a:t>
            </a:r>
            <a:r>
              <a:rPr sz="2800" dirty="0">
                <a:solidFill>
                  <a:srgbClr val="0A2896"/>
                </a:solidFill>
              </a:rPr>
              <a:t> </a:t>
            </a:r>
            <a:r>
              <a:rPr sz="2800" dirty="0" err="1">
                <a:solidFill>
                  <a:srgbClr val="0A2896"/>
                </a:solidFill>
              </a:rPr>
              <a:t>формат</a:t>
            </a:r>
            <a:r>
              <a:rPr sz="2800" dirty="0">
                <a:solidFill>
                  <a:srgbClr val="0A2896"/>
                </a:solidFill>
              </a:rPr>
              <a:t>: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8A1335D-0971-44DA-9021-3CE509D3773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E9794C1B-C881-42F5-9B4F-0D6130829943}" type="slidenum">
              <a:rPr lang="ru-RU" smtClean="0"/>
              <a:pPr>
                <a:defRPr/>
              </a:pPr>
              <a:t>8</a:t>
            </a:fld>
            <a:endParaRPr lang="ru-RU" dirty="0"/>
          </a:p>
        </p:txBody>
      </p:sp>
      <p:sp>
        <p:nvSpPr>
          <p:cNvPr id="10" name="Текст"/>
          <p:cNvSpPr txBox="1"/>
          <p:nvPr/>
        </p:nvSpPr>
        <p:spPr>
          <a:xfrm>
            <a:off x="381000" y="876300"/>
            <a:ext cx="6401463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600" dirty="0" err="1">
                <a:solidFill>
                  <a:srgbClr val="1C1C1C"/>
                </a:solidFill>
                <a:latin typeface="VTB Omega UI"/>
              </a:rPr>
              <a:t>готовые</a:t>
            </a:r>
            <a:r>
              <a:rPr sz="16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600" dirty="0" err="1">
                <a:solidFill>
                  <a:srgbClr val="1C1C1C"/>
                </a:solidFill>
                <a:latin typeface="VTB Omega UI"/>
              </a:rPr>
              <a:t>онлайн-курсы</a:t>
            </a:r>
            <a:r>
              <a:rPr sz="16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600" dirty="0" err="1">
                <a:solidFill>
                  <a:srgbClr val="1C1C1C"/>
                </a:solidFill>
                <a:latin typeface="VTB Omega UI"/>
              </a:rPr>
              <a:t>и</a:t>
            </a:r>
            <a:r>
              <a:rPr sz="1600" dirty="0">
                <a:solidFill>
                  <a:srgbClr val="1C1C1C"/>
                </a:solidFill>
                <a:latin typeface="VTB Omega UI"/>
              </a:rPr>
              <a:t> </a:t>
            </a:r>
            <a:r>
              <a:rPr sz="1600" dirty="0" err="1">
                <a:solidFill>
                  <a:srgbClr val="1C1C1C"/>
                </a:solidFill>
                <a:latin typeface="VTB Omega UI"/>
              </a:rPr>
              <a:t>синхронное</a:t>
            </a:r>
            <a:r>
              <a:rPr sz="16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600" dirty="0" err="1">
                <a:solidFill>
                  <a:srgbClr val="1C1C1C"/>
                </a:solidFill>
                <a:latin typeface="VTB Omega UI"/>
              </a:rPr>
              <a:t>сопровождение</a:t>
            </a:r>
            <a:r>
              <a:rPr sz="16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600" dirty="0" err="1">
                <a:solidFill>
                  <a:srgbClr val="1C1C1C"/>
                </a:solidFill>
                <a:latin typeface="VTB Omega UI"/>
              </a:rPr>
              <a:t>образовательной</a:t>
            </a:r>
            <a:r>
              <a:rPr sz="16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600" dirty="0" err="1">
                <a:solidFill>
                  <a:srgbClr val="1C1C1C"/>
                </a:solidFill>
                <a:latin typeface="VTB Omega UI"/>
              </a:rPr>
              <a:t>программы</a:t>
            </a:r>
            <a:r>
              <a:rPr sz="16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600" dirty="0" err="1">
                <a:solidFill>
                  <a:srgbClr val="1C1C1C"/>
                </a:solidFill>
                <a:latin typeface="VTB Omega UI"/>
              </a:rPr>
              <a:t>от</a:t>
            </a:r>
            <a:r>
              <a:rPr sz="1600" dirty="0">
                <a:solidFill>
                  <a:srgbClr val="1C1C1C"/>
                </a:solidFill>
                <a:latin typeface="VTB Omega UI"/>
              </a:rPr>
              <a:t> </a:t>
            </a:r>
            <a:r>
              <a:rPr sz="1600" dirty="0" err="1">
                <a:solidFill>
                  <a:srgbClr val="1C1C1C"/>
                </a:solidFill>
                <a:latin typeface="VTB Omega UI"/>
              </a:rPr>
              <a:t>спикеров</a:t>
            </a:r>
            <a:r>
              <a:rPr sz="1600" dirty="0">
                <a:solidFill>
                  <a:srgbClr val="1C1C1C"/>
                </a:solidFill>
                <a:latin typeface="VTB Omega UI"/>
              </a:rPr>
              <a:t> ВТБ</a:t>
            </a:r>
          </a:p>
        </p:txBody>
      </p:sp>
      <p:sp>
        <p:nvSpPr>
          <p:cNvPr id="37" name="Карточка"/>
          <p:cNvSpPr/>
          <p:nvPr/>
        </p:nvSpPr>
        <p:spPr>
          <a:xfrm>
            <a:off x="381000" y="3376615"/>
            <a:ext cx="11430000" cy="1651000"/>
          </a:xfrm>
          <a:prstGeom prst="roundRect">
            <a:avLst>
              <a:gd name="adj" fmla="val 4615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Карточка"/>
          <p:cNvSpPr/>
          <p:nvPr/>
        </p:nvSpPr>
        <p:spPr>
          <a:xfrm>
            <a:off x="381000" y="3376615"/>
            <a:ext cx="3403600" cy="1651000"/>
          </a:xfrm>
          <a:prstGeom prst="roundRect">
            <a:avLst>
              <a:gd name="adj" fmla="val 4615"/>
            </a:avLst>
          </a:prstGeom>
          <a:gradFill rotWithShape="1">
            <a:gsLst>
              <a:gs pos="0">
                <a:srgbClr val="1E4BD2"/>
              </a:gs>
              <a:gs pos="100000">
                <a:srgbClr val="86BFF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Карточка"/>
          <p:cNvSpPr/>
          <p:nvPr/>
        </p:nvSpPr>
        <p:spPr>
          <a:xfrm>
            <a:off x="3708400" y="3376615"/>
            <a:ext cx="76200" cy="1651000"/>
          </a:xfrm>
          <a:prstGeom prst="roundRect">
            <a:avLst>
              <a:gd name="adj" fmla="val 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pSp>
        <p:nvGrpSpPr>
          <p:cNvPr id="40" name="Иконка sign"/>
          <p:cNvGrpSpPr/>
          <p:nvPr/>
        </p:nvGrpSpPr>
        <p:grpSpPr>
          <a:xfrm>
            <a:off x="2489200" y="4011624"/>
            <a:ext cx="1117600" cy="1117580"/>
            <a:chOff x="663599" y="2029568"/>
            <a:chExt cx="507401" cy="507392"/>
          </a:xfrm>
        </p:grpSpPr>
        <p:grpSp>
          <p:nvGrpSpPr>
            <p:cNvPr id="41" name="Группа 10">
              <a:extLst>
                <a:ext uri="{FF2B5EF4-FFF2-40B4-BE49-F238E27FC236}">
                  <a16:creationId xmlns:a16="http://schemas.microsoft.com/office/drawing/2014/main" id="{9AB8F2D2-1401-43E3-8B6D-C19802C7DFC2}"/>
                </a:ext>
              </a:extLst>
            </p:cNvPr>
            <p:cNvGrpSpPr/>
            <p:nvPr/>
          </p:nvGrpSpPr>
          <p:grpSpPr>
            <a:xfrm>
              <a:off x="663599" y="2029568"/>
              <a:ext cx="507401" cy="507392"/>
              <a:chOff x="663599" y="2029568"/>
              <a:chExt cx="507401" cy="507392"/>
            </a:xfrm>
          </p:grpSpPr>
          <p:pic>
            <p:nvPicPr>
              <p:cNvPr id="42" name="Vector 45 (Stroke) [Figma I9887:94547;7965:11770]" descr="Vector 45 (Stroke). градиент">
                <a:extLst>
                  <a:ext uri="{FF2B5EF4-FFF2-40B4-BE49-F238E27FC236}">
                    <a16:creationId xmlns:a16="http://schemas.microsoft.com/office/drawing/2014/main" id="{4AE57BDC-3BD1-4118-AE7B-9361866A940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lum bright="100000"/>
                <a:alphaModFix amt="35000"/>
              </a:blip>
              <a:stretch>
                <a:fillRect/>
              </a:stretch>
            </p:blipFill>
            <p:spPr>
              <a:xfrm>
                <a:off x="663599" y="2268679"/>
                <a:ext cx="507401" cy="268281"/>
              </a:xfrm>
              <a:prstGeom prst="rect">
                <a:avLst/>
              </a:prstGeom>
            </p:spPr>
          </p:pic>
          <p:pic>
            <p:nvPicPr>
              <p:cNvPr id="43" name="Rectangle 16 (Stroke) [Figma I9887:94547;7965:11771]" descr="Rectangle 16 (Stroke). векторный контур">
                <a:extLst>
                  <a:ext uri="{FF2B5EF4-FFF2-40B4-BE49-F238E27FC236}">
                    <a16:creationId xmlns:a16="http://schemas.microsoft.com/office/drawing/2014/main" id="{4C3E9B1F-6BAA-43E6-8DDB-F009B134794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lum bright="100000"/>
                <a:alphaModFix amt="35000"/>
              </a:blip>
              <a:stretch>
                <a:fillRect/>
              </a:stretch>
            </p:blipFill>
            <p:spPr>
              <a:xfrm>
                <a:off x="888258" y="2029568"/>
                <a:ext cx="282742" cy="278649"/>
              </a:xfrm>
              <a:prstGeom prst="rect">
                <a:avLst/>
              </a:prstGeom>
            </p:spPr>
          </p:pic>
        </p:grpSp>
      </p:grpSp>
      <p:sp>
        <p:nvSpPr>
          <p:cNvPr id="44" name="Текст"/>
          <p:cNvSpPr txBox="1"/>
          <p:nvPr/>
        </p:nvSpPr>
        <p:spPr>
          <a:xfrm>
            <a:off x="584200" y="3554415"/>
            <a:ext cx="1930400" cy="872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US" sz="1400" dirty="0">
                <a:solidFill>
                  <a:schemeClr val="bg1"/>
                </a:solidFill>
              </a:rPr>
              <a:t>End-to-end синхронный образовательный продукт</a:t>
            </a:r>
            <a:endParaRPr sz="1400" dirty="0">
              <a:solidFill>
                <a:schemeClr val="bg1"/>
              </a:solidFill>
              <a:latin typeface="VTB Omega UI"/>
            </a:endParaRPr>
          </a:p>
        </p:txBody>
      </p:sp>
      <p:sp>
        <p:nvSpPr>
          <p:cNvPr id="45" name="Текст"/>
          <p:cNvSpPr txBox="1"/>
          <p:nvPr/>
        </p:nvSpPr>
        <p:spPr>
          <a:xfrm>
            <a:off x="3898900" y="3567115"/>
            <a:ext cx="3733800" cy="1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7800" indent="-177800" algn="l">
              <a:lnSpc>
                <a:spcPts val="1450"/>
              </a:lnSpc>
              <a:buClr>
                <a:srgbClr val="0A2896"/>
              </a:buClr>
              <a:buFont typeface="Arial"/>
              <a:buChar char="•"/>
            </a:pPr>
            <a:r>
              <a:rPr sz="1300" dirty="0" err="1">
                <a:solidFill>
                  <a:srgbClr val="1C1C1C"/>
                </a:solidFill>
                <a:latin typeface="VTB Omega UI"/>
              </a:rPr>
              <a:t>Методическая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поддержка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и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 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помощь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в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 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организации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новых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лекций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от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 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спикеров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из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 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подразделений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 ВТБ</a:t>
            </a:r>
          </a:p>
          <a:p>
            <a:pPr marL="177800" indent="-177800" algn="l">
              <a:lnSpc>
                <a:spcPts val="1450"/>
              </a:lnSpc>
              <a:spcBef>
                <a:spcPts val="900"/>
              </a:spcBef>
              <a:buClr>
                <a:srgbClr val="0A2896"/>
              </a:buClr>
              <a:buFont typeface="Arial"/>
              <a:buChar char="•"/>
            </a:pPr>
            <a:r>
              <a:rPr sz="1300" dirty="0" err="1">
                <a:solidFill>
                  <a:srgbClr val="1C1C1C"/>
                </a:solidFill>
                <a:latin typeface="VTB Omega UI"/>
              </a:rPr>
              <a:t>Сборка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целостного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образовательного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продукта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: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логика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,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образовательный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результат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,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график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лекций</a:t>
            </a:r>
            <a:endParaRPr sz="1300" dirty="0">
              <a:solidFill>
                <a:srgbClr val="1C1C1C"/>
              </a:solidFill>
              <a:latin typeface="VTB Omega UI"/>
            </a:endParaRPr>
          </a:p>
        </p:txBody>
      </p:sp>
      <p:sp>
        <p:nvSpPr>
          <p:cNvPr id="46" name="Текст"/>
          <p:cNvSpPr txBox="1"/>
          <p:nvPr/>
        </p:nvSpPr>
        <p:spPr>
          <a:xfrm>
            <a:off x="7886700" y="3567115"/>
            <a:ext cx="3733800" cy="1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7800" indent="-177800" algn="l">
              <a:lnSpc>
                <a:spcPts val="1450"/>
              </a:lnSpc>
              <a:buClr>
                <a:srgbClr val="0A2896"/>
              </a:buClr>
              <a:buFont typeface="Arial"/>
              <a:buChar char="•"/>
            </a:pPr>
            <a:r>
              <a:rPr sz="1300" dirty="0" err="1">
                <a:solidFill>
                  <a:srgbClr val="1C1C1C"/>
                </a:solidFill>
                <a:latin typeface="VTB Omega UI"/>
              </a:rPr>
              <a:t>Сопровождение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лекций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онлайн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и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 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очно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в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 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Москве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и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 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Санкт-Петербурге</a:t>
            </a:r>
            <a:endParaRPr lang="ru-RU" sz="1300" dirty="0">
              <a:solidFill>
                <a:srgbClr val="1C1C1C"/>
              </a:solidFill>
              <a:latin typeface="VTB Omega UI"/>
            </a:endParaRPr>
          </a:p>
          <a:p>
            <a:pPr algn="l">
              <a:lnSpc>
                <a:spcPts val="1450"/>
              </a:lnSpc>
              <a:buClr>
                <a:srgbClr val="0A2896"/>
              </a:buClr>
            </a:pPr>
            <a:endParaRPr sz="1300" dirty="0">
              <a:solidFill>
                <a:srgbClr val="1C1C1C"/>
              </a:solidFill>
              <a:latin typeface="VTB Omega UI"/>
            </a:endParaRPr>
          </a:p>
          <a:p>
            <a:pPr marL="177800" indent="-177800" algn="l">
              <a:lnSpc>
                <a:spcPts val="1450"/>
              </a:lnSpc>
              <a:spcBef>
                <a:spcPts val="900"/>
              </a:spcBef>
              <a:buClr>
                <a:srgbClr val="0A2896"/>
              </a:buClr>
              <a:buFont typeface="Arial"/>
              <a:buChar char="•"/>
            </a:pPr>
            <a:r>
              <a:rPr sz="1300" dirty="0">
                <a:solidFill>
                  <a:srgbClr val="1C1C1C"/>
                </a:solidFill>
                <a:latin typeface="VTB Omega UI"/>
              </a:rPr>
              <a:t>Выдача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сертификатов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о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 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дополнительном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образовании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от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 АНО ДО ВТБ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Образование</a:t>
            </a:r>
            <a:endParaRPr sz="1300" dirty="0">
              <a:solidFill>
                <a:srgbClr val="1C1C1C"/>
              </a:solidFill>
              <a:latin typeface="VTB Omega UI"/>
            </a:endParaRPr>
          </a:p>
        </p:txBody>
      </p:sp>
      <p:sp>
        <p:nvSpPr>
          <p:cNvPr id="47" name="Карточка"/>
          <p:cNvSpPr/>
          <p:nvPr/>
        </p:nvSpPr>
        <p:spPr>
          <a:xfrm>
            <a:off x="381000" y="5154615"/>
            <a:ext cx="11430000" cy="1041400"/>
          </a:xfrm>
          <a:prstGeom prst="roundRect">
            <a:avLst>
              <a:gd name="adj" fmla="val 6741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Карточка"/>
          <p:cNvSpPr/>
          <p:nvPr/>
        </p:nvSpPr>
        <p:spPr>
          <a:xfrm>
            <a:off x="381000" y="5154615"/>
            <a:ext cx="3403600" cy="1041400"/>
          </a:xfrm>
          <a:prstGeom prst="roundRect">
            <a:avLst>
              <a:gd name="adj" fmla="val 6741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49" name="Карточка"/>
          <p:cNvSpPr/>
          <p:nvPr/>
        </p:nvSpPr>
        <p:spPr>
          <a:xfrm>
            <a:off x="3708400" y="5154613"/>
            <a:ext cx="76200" cy="1041401"/>
          </a:xfrm>
          <a:prstGeom prst="roundRect">
            <a:avLst>
              <a:gd name="adj" fmla="val 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" name="Текст"/>
          <p:cNvSpPr txBox="1"/>
          <p:nvPr/>
        </p:nvSpPr>
        <p:spPr>
          <a:xfrm>
            <a:off x="584200" y="5332415"/>
            <a:ext cx="1930400" cy="20640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400" dirty="0" err="1">
                <a:solidFill>
                  <a:srgbClr val="0A2896"/>
                </a:solidFill>
                <a:latin typeface="VTB Omega UI"/>
              </a:rPr>
              <a:t>Стоимость</a:t>
            </a:r>
            <a:endParaRPr sz="1400" dirty="0">
              <a:solidFill>
                <a:srgbClr val="0A2896"/>
              </a:solidFill>
              <a:latin typeface="VTB Omega UI"/>
            </a:endParaRPr>
          </a:p>
        </p:txBody>
      </p:sp>
      <p:sp>
        <p:nvSpPr>
          <p:cNvPr id="67" name="Текст"/>
          <p:cNvSpPr txBox="1"/>
          <p:nvPr/>
        </p:nvSpPr>
        <p:spPr>
          <a:xfrm>
            <a:off x="3898900" y="5345115"/>
            <a:ext cx="7721600" cy="749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7800" indent="-177800" algn="l">
              <a:lnSpc>
                <a:spcPts val="1450"/>
              </a:lnSpc>
              <a:buClr>
                <a:srgbClr val="0A2896"/>
              </a:buClr>
              <a:buFont typeface="Arial"/>
              <a:buChar char="•"/>
            </a:pPr>
            <a:r>
              <a:rPr sz="1300">
                <a:solidFill>
                  <a:srgbClr val="1C1C1C"/>
                </a:solidFill>
                <a:latin typeface="VTB Omega UI"/>
              </a:rPr>
              <a:t>Индикативная стоимость¹: х ххх ххх руб. (АХР+КВ)</a:t>
            </a:r>
          </a:p>
          <a:p>
            <a:pPr marL="177800" indent="-177800" algn="l">
              <a:lnSpc>
                <a:spcPts val="1450"/>
              </a:lnSpc>
              <a:spcBef>
                <a:spcPts val="900"/>
              </a:spcBef>
              <a:buClr>
                <a:srgbClr val="0A2896"/>
              </a:buClr>
              <a:buFont typeface="Arial"/>
              <a:buChar char="•"/>
            </a:pPr>
            <a:r>
              <a:rPr sz="1300">
                <a:solidFill>
                  <a:srgbClr val="1C1C1C"/>
                </a:solidFill>
                <a:latin typeface="VTB Omega UI"/>
              </a:rPr>
              <a:t>Источник средств: бюджет ДВОПиИ на 2027 год, направление «Профессиональные финансы»</a:t>
            </a:r>
          </a:p>
        </p:txBody>
      </p:sp>
      <p:sp>
        <p:nvSpPr>
          <p:cNvPr id="2" name="Карточка">
            <a:extLst>
              <a:ext uri="{FF2B5EF4-FFF2-40B4-BE49-F238E27FC236}">
                <a16:creationId xmlns:a16="http://schemas.microsoft.com/office/drawing/2014/main" id="{CFCBD299-5261-8FAC-54E7-1A9537A31E3F}"/>
              </a:ext>
            </a:extLst>
          </p:cNvPr>
          <p:cNvSpPr/>
          <p:nvPr/>
        </p:nvSpPr>
        <p:spPr>
          <a:xfrm>
            <a:off x="381000" y="1852188"/>
            <a:ext cx="11430000" cy="1174432"/>
          </a:xfrm>
          <a:prstGeom prst="roundRect">
            <a:avLst>
              <a:gd name="adj" fmla="val 594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Карточка">
            <a:extLst>
              <a:ext uri="{FF2B5EF4-FFF2-40B4-BE49-F238E27FC236}">
                <a16:creationId xmlns:a16="http://schemas.microsoft.com/office/drawing/2014/main" id="{D31C4407-0A20-88EA-BD98-8A1AF8E23146}"/>
              </a:ext>
            </a:extLst>
          </p:cNvPr>
          <p:cNvSpPr/>
          <p:nvPr/>
        </p:nvSpPr>
        <p:spPr>
          <a:xfrm>
            <a:off x="381000" y="1852188"/>
            <a:ext cx="3403600" cy="1174432"/>
          </a:xfrm>
          <a:prstGeom prst="roundRect">
            <a:avLst>
              <a:gd name="adj" fmla="val 5940"/>
            </a:avLst>
          </a:prstGeom>
          <a:gradFill rotWithShape="1">
            <a:gsLst>
              <a:gs pos="0">
                <a:srgbClr val="1E4BD2"/>
              </a:gs>
              <a:gs pos="100000">
                <a:srgbClr val="86BFF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pSp>
        <p:nvGrpSpPr>
          <p:cNvPr id="4" name="Иконка presentation">
            <a:extLst>
              <a:ext uri="{FF2B5EF4-FFF2-40B4-BE49-F238E27FC236}">
                <a16:creationId xmlns:a16="http://schemas.microsoft.com/office/drawing/2014/main" id="{000E7106-812B-2D7B-27E9-D650169C8E69}"/>
              </a:ext>
            </a:extLst>
          </p:cNvPr>
          <p:cNvGrpSpPr/>
          <p:nvPr/>
        </p:nvGrpSpPr>
        <p:grpSpPr>
          <a:xfrm>
            <a:off x="2564162" y="2042776"/>
            <a:ext cx="917397" cy="1117600"/>
            <a:chOff x="7884280" y="1941811"/>
            <a:chExt cx="553813" cy="674671"/>
          </a:xfrm>
        </p:grpSpPr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258B517C-8FBF-280A-3ED3-A1C9C3F4F06B}"/>
                </a:ext>
              </a:extLst>
            </p:cNvPr>
            <p:cNvGrpSpPr/>
            <p:nvPr/>
          </p:nvGrpSpPr>
          <p:grpSpPr>
            <a:xfrm>
              <a:off x="7884280" y="1941811"/>
              <a:ext cx="553813" cy="674671"/>
              <a:chOff x="7884280" y="1941811"/>
              <a:chExt cx="553813" cy="674671"/>
            </a:xfrm>
          </p:grpSpPr>
          <p:pic>
            <p:nvPicPr>
              <p:cNvPr id="6" name="Union [Figma I9887:94553;9121:2260]" descr="Union. векторный контур">
                <a:extLst>
                  <a:ext uri="{FF2B5EF4-FFF2-40B4-BE49-F238E27FC236}">
                    <a16:creationId xmlns:a16="http://schemas.microsoft.com/office/drawing/2014/main" id="{EFCBC068-00EF-06AE-221A-7E5F9726B8B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>
                <a:lum bright="100000"/>
                <a:alphaModFix amt="35000"/>
              </a:blip>
              <a:stretch>
                <a:fillRect/>
              </a:stretch>
            </p:blipFill>
            <p:spPr>
              <a:xfrm>
                <a:off x="7977214" y="1941811"/>
                <a:ext cx="377236" cy="674671"/>
              </a:xfrm>
              <a:prstGeom prst="rect">
                <a:avLst/>
              </a:prstGeom>
            </p:spPr>
          </p:pic>
          <p:pic>
            <p:nvPicPr>
              <p:cNvPr id="7" name="Union [Figma I9887:94553;9121:2265]" descr="Union. градиент">
                <a:extLst>
                  <a:ext uri="{FF2B5EF4-FFF2-40B4-BE49-F238E27FC236}">
                    <a16:creationId xmlns:a16="http://schemas.microsoft.com/office/drawing/2014/main" id="{6636D606-B7F4-2E2F-8E60-EDC44387DC3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6">
                <a:lum bright="100000"/>
                <a:alphaModFix amt="35000"/>
              </a:blip>
              <a:stretch>
                <a:fillRect/>
              </a:stretch>
            </p:blipFill>
            <p:spPr>
              <a:xfrm>
                <a:off x="7884280" y="2006798"/>
                <a:ext cx="553813" cy="377220"/>
              </a:xfrm>
              <a:prstGeom prst="rect">
                <a:avLst/>
              </a:prstGeom>
            </p:spPr>
          </p:pic>
        </p:grpSp>
      </p:grpSp>
      <p:sp>
        <p:nvSpPr>
          <p:cNvPr id="16" name="Текст">
            <a:extLst>
              <a:ext uri="{FF2B5EF4-FFF2-40B4-BE49-F238E27FC236}">
                <a16:creationId xmlns:a16="http://schemas.microsoft.com/office/drawing/2014/main" id="{F7BFA361-96FF-FD77-28C5-A0A9537106DC}"/>
              </a:ext>
            </a:extLst>
          </p:cNvPr>
          <p:cNvSpPr txBox="1"/>
          <p:nvPr/>
        </p:nvSpPr>
        <p:spPr>
          <a:xfrm>
            <a:off x="584200" y="2029988"/>
            <a:ext cx="19304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400">
                <a:solidFill>
                  <a:srgbClr val="FFFFFF"/>
                </a:solidFill>
                <a:latin typeface="VTB Omega UI"/>
              </a:rPr>
              <a:t>Онлайн-курсы</a:t>
            </a:r>
          </a:p>
        </p:txBody>
      </p:sp>
      <p:sp>
        <p:nvSpPr>
          <p:cNvPr id="17" name="Текст">
            <a:extLst>
              <a:ext uri="{FF2B5EF4-FFF2-40B4-BE49-F238E27FC236}">
                <a16:creationId xmlns:a16="http://schemas.microsoft.com/office/drawing/2014/main" id="{69ED27C0-767D-09F3-FBF5-6D94261BD520}"/>
              </a:ext>
            </a:extLst>
          </p:cNvPr>
          <p:cNvSpPr txBox="1"/>
          <p:nvPr/>
        </p:nvSpPr>
        <p:spPr>
          <a:xfrm>
            <a:off x="3898900" y="2042688"/>
            <a:ext cx="3733800" cy="901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7800" indent="-177800" algn="l">
              <a:lnSpc>
                <a:spcPts val="1450"/>
              </a:lnSpc>
              <a:buClr>
                <a:srgbClr val="0A2896"/>
              </a:buClr>
              <a:buFont typeface="Arial"/>
              <a:buChar char="•"/>
            </a:pPr>
            <a:r>
              <a:rPr sz="1300">
                <a:solidFill>
                  <a:srgbClr val="1C1C1C"/>
                </a:solidFill>
                <a:latin typeface="VTB Omega UI"/>
              </a:rPr>
              <a:t>МСФО: базовый уровень</a:t>
            </a:r>
          </a:p>
          <a:p>
            <a:pPr marL="177800" indent="-177800" algn="l">
              <a:lnSpc>
                <a:spcPts val="1450"/>
              </a:lnSpc>
              <a:spcBef>
                <a:spcPts val="900"/>
              </a:spcBef>
              <a:buClr>
                <a:srgbClr val="0A2896"/>
              </a:buClr>
              <a:buFont typeface="Arial"/>
              <a:buChar char="•"/>
            </a:pPr>
            <a:r>
              <a:rPr sz="1300">
                <a:solidFill>
                  <a:srgbClr val="1C1C1C"/>
                </a:solidFill>
                <a:latin typeface="VTB Omega UI"/>
              </a:rPr>
              <a:t>МСФО: финансовые инструменты</a:t>
            </a:r>
          </a:p>
          <a:p>
            <a:pPr marL="177800" indent="-177800" algn="l">
              <a:lnSpc>
                <a:spcPts val="1450"/>
              </a:lnSpc>
              <a:spcBef>
                <a:spcPts val="900"/>
              </a:spcBef>
              <a:buClr>
                <a:srgbClr val="0A2896"/>
              </a:buClr>
              <a:buFont typeface="Arial"/>
              <a:buChar char="•"/>
            </a:pPr>
            <a:r>
              <a:rPr sz="1300">
                <a:solidFill>
                  <a:srgbClr val="1C1C1C"/>
                </a:solidFill>
                <a:latin typeface="VTB Omega UI"/>
              </a:rPr>
              <a:t>Управленческая отчётность</a:t>
            </a:r>
          </a:p>
        </p:txBody>
      </p:sp>
      <p:sp>
        <p:nvSpPr>
          <p:cNvPr id="18" name="Текст">
            <a:extLst>
              <a:ext uri="{FF2B5EF4-FFF2-40B4-BE49-F238E27FC236}">
                <a16:creationId xmlns:a16="http://schemas.microsoft.com/office/drawing/2014/main" id="{FAD0440D-9486-AA80-2B07-BF26D4EDC35F}"/>
              </a:ext>
            </a:extLst>
          </p:cNvPr>
          <p:cNvSpPr txBox="1"/>
          <p:nvPr/>
        </p:nvSpPr>
        <p:spPr>
          <a:xfrm>
            <a:off x="7886700" y="2042688"/>
            <a:ext cx="3733800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7800" indent="-177800" algn="l">
              <a:lnSpc>
                <a:spcPts val="1450"/>
              </a:lnSpc>
              <a:buClr>
                <a:srgbClr val="0A2896"/>
              </a:buClr>
              <a:buFont typeface="Arial"/>
              <a:buChar char="•"/>
            </a:pPr>
            <a:r>
              <a:rPr sz="1300" dirty="0" err="1">
                <a:solidFill>
                  <a:srgbClr val="1C1C1C"/>
                </a:solidFill>
                <a:latin typeface="VTB Omega UI"/>
              </a:rPr>
              <a:t>Финансовое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моделирование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в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 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банках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: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базовый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уровень</a:t>
            </a:r>
            <a:endParaRPr sz="1300" dirty="0">
              <a:solidFill>
                <a:srgbClr val="1C1C1C"/>
              </a:solidFill>
              <a:latin typeface="VTB Omega UI"/>
            </a:endParaRPr>
          </a:p>
          <a:p>
            <a:pPr marL="177800" indent="-177800" algn="l">
              <a:lnSpc>
                <a:spcPts val="1450"/>
              </a:lnSpc>
              <a:spcBef>
                <a:spcPts val="900"/>
              </a:spcBef>
              <a:buClr>
                <a:srgbClr val="0A2896"/>
              </a:buClr>
              <a:buFont typeface="Arial"/>
              <a:buChar char="•"/>
            </a:pPr>
            <a:r>
              <a:rPr sz="1300" dirty="0">
                <a:solidFill>
                  <a:srgbClr val="1C1C1C"/>
                </a:solidFill>
                <a:latin typeface="VTB Omega UI"/>
              </a:rPr>
              <a:t>Цифровые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финансовые</a:t>
            </a:r>
            <a:r>
              <a:rPr sz="1300" dirty="0">
                <a:solidFill>
                  <a:srgbClr val="1C1C1C"/>
                </a:solidFill>
                <a:latin typeface="VTB Omega UI"/>
              </a:rPr>
              <a:t> </a:t>
            </a:r>
            <a:r>
              <a:rPr sz="1300" dirty="0" err="1">
                <a:solidFill>
                  <a:srgbClr val="1C1C1C"/>
                </a:solidFill>
                <a:latin typeface="VTB Omega UI"/>
              </a:rPr>
              <a:t>активы</a:t>
            </a:r>
            <a:endParaRPr sz="1300" dirty="0">
              <a:solidFill>
                <a:srgbClr val="1C1C1C"/>
              </a:solidFill>
              <a:latin typeface="VTB Omega UI"/>
            </a:endParaRPr>
          </a:p>
        </p:txBody>
      </p:sp>
      <p:sp>
        <p:nvSpPr>
          <p:cNvPr id="20" name="Текст">
            <a:extLst>
              <a:ext uri="{FF2B5EF4-FFF2-40B4-BE49-F238E27FC236}">
                <a16:creationId xmlns:a16="http://schemas.microsoft.com/office/drawing/2014/main" id="{C1948BED-70D3-9EBF-487C-C957F8C175CA}"/>
              </a:ext>
            </a:extLst>
          </p:cNvPr>
          <p:cNvSpPr txBox="1"/>
          <p:nvPr/>
        </p:nvSpPr>
        <p:spPr>
          <a:xfrm>
            <a:off x="371474" y="3084299"/>
            <a:ext cx="6401463" cy="2194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ru-RU" sz="1200" dirty="0">
                <a:solidFill>
                  <a:srgbClr val="1C1C1C"/>
                </a:solidFill>
                <a:latin typeface="VTB Omega UI"/>
              </a:rPr>
              <a:t>Дополнительно</a:t>
            </a:r>
            <a:endParaRPr sz="1200" dirty="0">
              <a:solidFill>
                <a:srgbClr val="1C1C1C"/>
              </a:solidFill>
              <a:latin typeface="VTB Omega UI"/>
            </a:endParaRPr>
          </a:p>
        </p:txBody>
      </p:sp>
      <p:sp>
        <p:nvSpPr>
          <p:cNvPr id="21" name="Карточка">
            <a:extLst>
              <a:ext uri="{FF2B5EF4-FFF2-40B4-BE49-F238E27FC236}">
                <a16:creationId xmlns:a16="http://schemas.microsoft.com/office/drawing/2014/main" id="{AE5B78B8-5B29-E921-1CCF-3766453B6EAD}"/>
              </a:ext>
            </a:extLst>
          </p:cNvPr>
          <p:cNvSpPr/>
          <p:nvPr/>
        </p:nvSpPr>
        <p:spPr>
          <a:xfrm>
            <a:off x="3708400" y="1852188"/>
            <a:ext cx="76200" cy="1174432"/>
          </a:xfrm>
          <a:prstGeom prst="roundRect">
            <a:avLst>
              <a:gd name="adj" fmla="val 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Текст">
            <a:extLst>
              <a:ext uri="{FF2B5EF4-FFF2-40B4-BE49-F238E27FC236}">
                <a16:creationId xmlns:a16="http://schemas.microsoft.com/office/drawing/2014/main" id="{C21EB34F-8696-296F-A5CF-FA6647507EE1}"/>
              </a:ext>
            </a:extLst>
          </p:cNvPr>
          <p:cNvSpPr txBox="1"/>
          <p:nvPr/>
        </p:nvSpPr>
        <p:spPr>
          <a:xfrm>
            <a:off x="371474" y="1541249"/>
            <a:ext cx="6401463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ru-RU" sz="1200" dirty="0">
                <a:solidFill>
                  <a:srgbClr val="1C1C1C"/>
                </a:solidFill>
                <a:latin typeface="VTB Omega UI"/>
              </a:rPr>
              <a:t>Базовый формат</a:t>
            </a:r>
            <a:endParaRPr sz="1200" dirty="0">
              <a:solidFill>
                <a:srgbClr val="1C1C1C"/>
              </a:solidFill>
              <a:latin typeface="VTB Omega UI"/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8378EB49-F8D5-12A4-2BD6-74099426C6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3296" y="5057363"/>
            <a:ext cx="1945604" cy="1922980"/>
          </a:xfrm>
          <a:prstGeom prst="rect">
            <a:avLst/>
          </a:prstGeom>
        </p:spPr>
      </p:pic>
      <p:sp>
        <p:nvSpPr>
          <p:cNvPr id="11" name="Сноска"/>
          <p:cNvSpPr txBox="1"/>
          <p:nvPr/>
        </p:nvSpPr>
        <p:spPr>
          <a:xfrm>
            <a:off x="381000" y="6286500"/>
            <a:ext cx="8890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40"/>
              </a:lnSpc>
            </a:pPr>
            <a:r>
              <a:rPr sz="950">
                <a:solidFill>
                  <a:srgbClr val="4A5361"/>
                </a:solidFill>
                <a:latin typeface="VTB Omega UI"/>
              </a:rPr>
              <a:t>1 — итоговая стоимость будет скорректирована по итогам уточнения параметров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3930497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85A43172-339A-4CCC-86BB-D02E8A58B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370686"/>
            <a:ext cx="7900989" cy="1186651"/>
          </a:xfrm>
        </p:spPr>
        <p:txBody>
          <a:bodyPr wrap="square" lIns="0" tIns="0" rIns="0" bIns="0" anchor="t">
            <a:normAutofit/>
          </a:bodyPr>
          <a:lstStyle/>
          <a:p>
            <a:pPr>
              <a:lnSpc>
                <a:spcPts val="3100"/>
              </a:lnSpc>
            </a:pPr>
            <a:r>
              <a:rPr sz="2800" dirty="0" err="1">
                <a:solidFill>
                  <a:srgbClr val="0A2896"/>
                </a:solidFill>
              </a:rPr>
              <a:t>Принятие</a:t>
            </a:r>
            <a:r>
              <a:rPr sz="2800" dirty="0">
                <a:solidFill>
                  <a:srgbClr val="0A2896"/>
                </a:solidFill>
              </a:rPr>
              <a:t> </a:t>
            </a:r>
            <a:r>
              <a:rPr sz="2800" dirty="0" err="1">
                <a:solidFill>
                  <a:srgbClr val="0A2896"/>
                </a:solidFill>
              </a:rPr>
              <a:t>решения</a:t>
            </a:r>
            <a:r>
              <a:rPr sz="2800" dirty="0">
                <a:solidFill>
                  <a:srgbClr val="0A2896"/>
                </a:solidFill>
              </a:rPr>
              <a:t> </a:t>
            </a:r>
            <a:r>
              <a:rPr sz="2800" dirty="0" err="1">
                <a:solidFill>
                  <a:srgbClr val="0A2896"/>
                </a:solidFill>
              </a:rPr>
              <a:t>в</a:t>
            </a:r>
            <a:r>
              <a:rPr sz="2800" dirty="0">
                <a:solidFill>
                  <a:srgbClr val="0A2896"/>
                </a:solidFill>
              </a:rPr>
              <a:t> 4 </a:t>
            </a:r>
            <a:r>
              <a:rPr sz="2800" dirty="0" err="1">
                <a:solidFill>
                  <a:srgbClr val="0A2896"/>
                </a:solidFill>
              </a:rPr>
              <a:t>квартале</a:t>
            </a:r>
            <a:r>
              <a:rPr sz="2800" dirty="0">
                <a:solidFill>
                  <a:srgbClr val="0A2896"/>
                </a:solidFill>
              </a:rPr>
              <a:t> 2026 </a:t>
            </a:r>
            <a:r>
              <a:rPr sz="2800" dirty="0" err="1">
                <a:solidFill>
                  <a:srgbClr val="0A2896"/>
                </a:solidFill>
              </a:rPr>
              <a:t>г</a:t>
            </a:r>
            <a:r>
              <a:rPr sz="2800" dirty="0">
                <a:solidFill>
                  <a:srgbClr val="0A2896"/>
                </a:solidFill>
              </a:rPr>
              <a:t>. </a:t>
            </a:r>
            <a:r>
              <a:rPr sz="2800" dirty="0" err="1">
                <a:solidFill>
                  <a:srgbClr val="0A2896"/>
                </a:solidFill>
              </a:rPr>
              <a:t>позволят</a:t>
            </a:r>
            <a:r>
              <a:rPr sz="2800" dirty="0">
                <a:solidFill>
                  <a:srgbClr val="0A2896"/>
                </a:solidFill>
              </a:rPr>
              <a:t> </a:t>
            </a:r>
            <a:r>
              <a:rPr sz="2800" dirty="0" err="1">
                <a:solidFill>
                  <a:srgbClr val="0A2896"/>
                </a:solidFill>
              </a:rPr>
              <a:t>запустить</a:t>
            </a:r>
            <a:r>
              <a:rPr sz="2800" dirty="0">
                <a:solidFill>
                  <a:srgbClr val="0A2896"/>
                </a:solidFill>
              </a:rPr>
              <a:t> </a:t>
            </a:r>
            <a:r>
              <a:rPr sz="2800" dirty="0" err="1">
                <a:solidFill>
                  <a:srgbClr val="0A2896"/>
                </a:solidFill>
              </a:rPr>
              <a:t>образовательную</a:t>
            </a:r>
            <a:r>
              <a:rPr sz="2800" dirty="0">
                <a:solidFill>
                  <a:srgbClr val="0A2896"/>
                </a:solidFill>
              </a:rPr>
              <a:t> </a:t>
            </a:r>
            <a:r>
              <a:rPr sz="2800" dirty="0" err="1">
                <a:solidFill>
                  <a:srgbClr val="0A2896"/>
                </a:solidFill>
              </a:rPr>
              <a:t>программу</a:t>
            </a:r>
            <a:r>
              <a:rPr sz="2800" dirty="0">
                <a:solidFill>
                  <a:srgbClr val="0A2896"/>
                </a:solidFill>
              </a:rPr>
              <a:t> </a:t>
            </a:r>
            <a:r>
              <a:rPr sz="2800" dirty="0" err="1">
                <a:solidFill>
                  <a:srgbClr val="0A2896"/>
                </a:solidFill>
              </a:rPr>
              <a:t>в</a:t>
            </a:r>
            <a:r>
              <a:rPr sz="2800" dirty="0">
                <a:solidFill>
                  <a:srgbClr val="0A2896"/>
                </a:solidFill>
              </a:rPr>
              <a:t> 2 </a:t>
            </a:r>
            <a:r>
              <a:rPr sz="2800" dirty="0" err="1">
                <a:solidFill>
                  <a:srgbClr val="0A2896"/>
                </a:solidFill>
              </a:rPr>
              <a:t>квартале</a:t>
            </a:r>
            <a:r>
              <a:rPr sz="2800" dirty="0">
                <a:solidFill>
                  <a:srgbClr val="0A2896"/>
                </a:solidFill>
              </a:rPr>
              <a:t> 2027 </a:t>
            </a:r>
            <a:r>
              <a:rPr sz="2800" dirty="0" err="1">
                <a:solidFill>
                  <a:srgbClr val="0A2896"/>
                </a:solidFill>
              </a:rPr>
              <a:t>г</a:t>
            </a:r>
            <a:r>
              <a:rPr sz="2800" dirty="0">
                <a:solidFill>
                  <a:srgbClr val="0A2896"/>
                </a:solidFill>
              </a:rPr>
              <a:t>.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8A1335D-0971-44DA-9021-3CE509D3773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E9794C1B-C881-42F5-9B4F-0D6130829943}" type="slidenum">
              <a:rPr lang="ru-RU" smtClean="0"/>
              <a:pPr>
                <a:defRPr/>
              </a:pPr>
              <a:t>9</a:t>
            </a:fld>
            <a:endParaRPr lang="ru-RU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1000" y="1955800"/>
          <a:ext cx="11430000" cy="4264660"/>
        </p:xfrm>
        <a:graphic>
          <a:graphicData uri="http://schemas.openxmlformats.org/drawingml/2006/table">
            <a:tbl>
              <a:tblPr/>
              <a:tblGrid>
                <a:gridCol w="685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FFFFFF"/>
                          </a:solidFill>
                          <a:latin typeface="VTB Omega UI"/>
                        </a:rPr>
                        <a:t>Мероприятие</a:t>
                      </a:r>
                    </a:p>
                  </a:txBody>
                  <a:tcPr marL="177800" marR="177800" marT="38100" marB="38100" anchor="ctr">
                    <a:lnL w="9525">
                      <a:solidFill>
                        <a:srgbClr val="DCE0EB"/>
                      </a:solidFill>
                    </a:lnL>
                    <a:lnR w="9525">
                      <a:solidFill>
                        <a:srgbClr val="DCE0EB"/>
                      </a:solidFill>
                    </a:lnR>
                    <a:lnT w="9525">
                      <a:solidFill>
                        <a:srgbClr val="DCE0EB"/>
                      </a:solidFill>
                    </a:lnT>
                    <a:lnB w="9525">
                      <a:solidFill>
                        <a:srgbClr val="DCE0EB"/>
                      </a:solidFill>
                    </a:lnB>
                    <a:gradFill rotWithShape="1">
                      <a:gsLst>
                        <a:gs pos="0">
                          <a:srgbClr val="1E4BD2"/>
                        </a:gs>
                        <a:gs pos="100000">
                          <a:srgbClr val="5C91E7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FFFFFF"/>
                          </a:solidFill>
                          <a:latin typeface="VTB Omega UI"/>
                        </a:rPr>
                        <a:t>Сроки</a:t>
                      </a:r>
                    </a:p>
                  </a:txBody>
                  <a:tcPr marL="177800" marR="177800" marT="38100" marB="38100" anchor="ctr">
                    <a:lnL w="9525">
                      <a:solidFill>
                        <a:srgbClr val="DCE0EB"/>
                      </a:solidFill>
                    </a:lnL>
                    <a:lnR w="9525">
                      <a:solidFill>
                        <a:srgbClr val="DCE0EB"/>
                      </a:solidFill>
                    </a:lnR>
                    <a:lnT w="9525">
                      <a:solidFill>
                        <a:srgbClr val="DCE0EB"/>
                      </a:solidFill>
                    </a:lnT>
                    <a:lnB w="9525">
                      <a:solidFill>
                        <a:srgbClr val="DCE0EB"/>
                      </a:solidFill>
                    </a:lnB>
                    <a:gradFill rotWithShape="1">
                      <a:gsLst>
                        <a:gs pos="0">
                          <a:srgbClr val="5C91E7"/>
                        </a:gs>
                        <a:gs pos="100000">
                          <a:srgbClr val="74ABEF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FFFFFF"/>
                          </a:solidFill>
                          <a:latin typeface="VTB Omega UI"/>
                        </a:rPr>
                        <a:t>Формат</a:t>
                      </a:r>
                    </a:p>
                  </a:txBody>
                  <a:tcPr marL="177800" marR="177800" marT="38100" marB="38100" anchor="ctr">
                    <a:lnL w="9525">
                      <a:solidFill>
                        <a:srgbClr val="DCE0EB"/>
                      </a:solidFill>
                    </a:lnL>
                    <a:lnR w="9525">
                      <a:solidFill>
                        <a:srgbClr val="DCE0EB"/>
                      </a:solidFill>
                    </a:lnR>
                    <a:lnT w="9525">
                      <a:solidFill>
                        <a:srgbClr val="DCE0EB"/>
                      </a:solidFill>
                    </a:lnT>
                    <a:lnB w="9525">
                      <a:solidFill>
                        <a:srgbClr val="DCE0EB"/>
                      </a:solidFill>
                    </a:lnB>
                    <a:gradFill rotWithShape="1">
                      <a:gsLst>
                        <a:gs pos="0">
                          <a:srgbClr val="74ABEF"/>
                        </a:gs>
                        <a:gs pos="100000">
                          <a:srgbClr val="86BFF5"/>
                        </a:gs>
                      </a:gsLst>
                      <a:lin ang="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0A2896"/>
                          </a:solidFill>
                          <a:latin typeface="VTB Omega UI Medium"/>
                        </a:rPr>
                        <a:t>Выбор формата взаимодействия (базовый или расширенный)</a:t>
                      </a:r>
                    </a:p>
                  </a:txBody>
                  <a:tcPr marL="177800" marR="177800" marT="38100" marB="38100" anchor="ctr">
                    <a:lnL w="9525">
                      <a:solidFill>
                        <a:srgbClr val="DCE0EB"/>
                      </a:solidFill>
                    </a:lnL>
                    <a:lnR w="9525">
                      <a:solidFill>
                        <a:srgbClr val="DCE0EB"/>
                      </a:solidFill>
                    </a:lnR>
                    <a:lnT w="9525">
                      <a:solidFill>
                        <a:srgbClr val="DCE0EB"/>
                      </a:solidFill>
                    </a:lnT>
                    <a:lnB w="9525">
                      <a:solidFill>
                        <a:srgbClr val="DCE0EB"/>
                      </a:solidFill>
                    </a:lnB>
                    <a:solidFill>
                      <a:srgbClr val="EA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0A2896"/>
                          </a:solidFill>
                          <a:latin typeface="VTB Omega UI Medium"/>
                        </a:rPr>
                        <a:t>Ноябрь 2026</a:t>
                      </a:r>
                    </a:p>
                  </a:txBody>
                  <a:tcPr marL="177800" marR="177800" marT="38100" marB="38100" anchor="ctr">
                    <a:lnL w="9525">
                      <a:solidFill>
                        <a:srgbClr val="DCE0EB"/>
                      </a:solidFill>
                    </a:lnL>
                    <a:lnR w="9525">
                      <a:solidFill>
                        <a:srgbClr val="DCE0EB"/>
                      </a:solidFill>
                    </a:lnR>
                    <a:lnT w="9525">
                      <a:solidFill>
                        <a:srgbClr val="DCE0EB"/>
                      </a:solidFill>
                    </a:lnT>
                    <a:lnB w="9525">
                      <a:solidFill>
                        <a:srgbClr val="DCE0EB"/>
                      </a:solidFill>
                    </a:lnB>
                    <a:solidFill>
                      <a:srgbClr val="EA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77800" marR="177800" marT="38100" marB="38100" anchor="ctr">
                    <a:lnL w="9525">
                      <a:solidFill>
                        <a:srgbClr val="DCE0EB"/>
                      </a:solidFill>
                    </a:lnL>
                    <a:lnR w="9525">
                      <a:solidFill>
                        <a:srgbClr val="DCE0EB"/>
                      </a:solidFill>
                    </a:lnR>
                    <a:lnT w="9525">
                      <a:solidFill>
                        <a:srgbClr val="DCE0EB"/>
                      </a:solidFill>
                    </a:lnT>
                    <a:lnB w="9525">
                      <a:solidFill>
                        <a:srgbClr val="DCE0EB"/>
                      </a:solidFill>
                    </a:lnB>
                    <a:solidFill>
                      <a:srgbClr val="EA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C1C1C"/>
                          </a:solidFill>
                          <a:latin typeface="VTB Omega UI"/>
                        </a:rPr>
                        <a:t>Запуск договора ВТБ × АНО</a:t>
                      </a:r>
                    </a:p>
                  </a:txBody>
                  <a:tcPr marL="177800" marR="177800" marT="38100" marB="38100" anchor="ctr">
                    <a:lnL w="9525">
                      <a:solidFill>
                        <a:srgbClr val="DCE0EB"/>
                      </a:solidFill>
                    </a:lnL>
                    <a:lnR w="9525">
                      <a:solidFill>
                        <a:srgbClr val="DCE0EB"/>
                      </a:solidFill>
                    </a:lnR>
                    <a:lnT w="9525">
                      <a:solidFill>
                        <a:srgbClr val="DCE0EB"/>
                      </a:solidFill>
                    </a:lnT>
                    <a:lnB w="9525">
                      <a:solidFill>
                        <a:srgbClr val="DC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C1C1C"/>
                          </a:solidFill>
                          <a:latin typeface="VTB Omega UI"/>
                        </a:rPr>
                        <a:t>Декабрь 2026</a:t>
                      </a:r>
                    </a:p>
                  </a:txBody>
                  <a:tcPr marL="177800" marR="177800" marT="38100" marB="38100" anchor="ctr">
                    <a:lnL w="9525">
                      <a:solidFill>
                        <a:srgbClr val="DCE0EB"/>
                      </a:solidFill>
                    </a:lnL>
                    <a:lnR w="9525">
                      <a:solidFill>
                        <a:srgbClr val="DCE0EB"/>
                      </a:solidFill>
                    </a:lnR>
                    <a:lnT w="9525">
                      <a:solidFill>
                        <a:srgbClr val="DCE0EB"/>
                      </a:solidFill>
                    </a:lnT>
                    <a:lnB w="9525">
                      <a:solidFill>
                        <a:srgbClr val="DC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77800" marR="177800" marT="38100" marB="38100" anchor="ctr">
                    <a:lnL w="9525">
                      <a:solidFill>
                        <a:srgbClr val="DCE0EB"/>
                      </a:solidFill>
                    </a:lnL>
                    <a:lnR w="9525">
                      <a:solidFill>
                        <a:srgbClr val="DCE0EB"/>
                      </a:solidFill>
                    </a:lnR>
                    <a:lnT w="9525">
                      <a:solidFill>
                        <a:srgbClr val="DCE0EB"/>
                      </a:solidFill>
                    </a:lnT>
                    <a:lnB w="9525">
                      <a:solidFill>
                        <a:srgbClr val="DCE0E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C1C1C"/>
                          </a:solidFill>
                          <a:latin typeface="VTB Omega UI"/>
                        </a:rPr>
                        <a:t>Заключение лицензионного договора ВТБ × АНО</a:t>
                      </a:r>
                    </a:p>
                  </a:txBody>
                  <a:tcPr marL="177800" marR="177800" marT="38100" marB="38100" anchor="ctr">
                    <a:lnL w="9525">
                      <a:solidFill>
                        <a:srgbClr val="DCE0EB"/>
                      </a:solidFill>
                    </a:lnL>
                    <a:lnR w="9525">
                      <a:solidFill>
                        <a:srgbClr val="DCE0EB"/>
                      </a:solidFill>
                    </a:lnR>
                    <a:lnT w="9525">
                      <a:solidFill>
                        <a:srgbClr val="DCE0EB"/>
                      </a:solidFill>
                    </a:lnT>
                    <a:lnB w="9525">
                      <a:solidFill>
                        <a:srgbClr val="DCE0EB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C1C1C"/>
                          </a:solidFill>
                          <a:latin typeface="VTB Omega UI"/>
                        </a:rPr>
                        <a:t>Февраль 2027</a:t>
                      </a:r>
                    </a:p>
                  </a:txBody>
                  <a:tcPr marL="177800" marR="177800" marT="38100" marB="38100" anchor="ctr">
                    <a:lnL w="9525">
                      <a:solidFill>
                        <a:srgbClr val="DCE0EB"/>
                      </a:solidFill>
                    </a:lnL>
                    <a:lnR w="9525">
                      <a:solidFill>
                        <a:srgbClr val="DCE0EB"/>
                      </a:solidFill>
                    </a:lnR>
                    <a:lnT w="9525">
                      <a:solidFill>
                        <a:srgbClr val="DCE0EB"/>
                      </a:solidFill>
                    </a:lnT>
                    <a:lnB w="9525">
                      <a:solidFill>
                        <a:srgbClr val="DCE0EB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77800" marR="177800" marT="38100" marB="38100" anchor="ctr">
                    <a:lnL w="9525">
                      <a:solidFill>
                        <a:srgbClr val="DCE0EB"/>
                      </a:solidFill>
                    </a:lnL>
                    <a:lnR w="9525">
                      <a:solidFill>
                        <a:srgbClr val="DCE0EB"/>
                      </a:solidFill>
                    </a:lnR>
                    <a:lnT w="9525">
                      <a:solidFill>
                        <a:srgbClr val="DCE0EB"/>
                      </a:solidFill>
                    </a:lnT>
                    <a:lnB w="9525">
                      <a:solidFill>
                        <a:srgbClr val="DCE0EB"/>
                      </a:solidFill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C1C1C"/>
                          </a:solidFill>
                          <a:latin typeface="VTB Omega UI"/>
                        </a:rPr>
                        <a:t>Согласование параметров сетевого договора с Финансовым университетом</a:t>
                      </a:r>
                    </a:p>
                  </a:txBody>
                  <a:tcPr marL="177800" marR="177800" marT="38100" marB="38100" anchor="ctr">
                    <a:lnL w="9525">
                      <a:solidFill>
                        <a:srgbClr val="DCE0EB"/>
                      </a:solidFill>
                    </a:lnL>
                    <a:lnR w="9525">
                      <a:solidFill>
                        <a:srgbClr val="DCE0EB"/>
                      </a:solidFill>
                    </a:lnR>
                    <a:lnT w="9525">
                      <a:solidFill>
                        <a:srgbClr val="DCE0EB"/>
                      </a:solidFill>
                    </a:lnT>
                    <a:lnB w="9525">
                      <a:solidFill>
                        <a:srgbClr val="DC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C1C1C"/>
                          </a:solidFill>
                          <a:latin typeface="VTB Omega UI"/>
                        </a:rPr>
                        <a:t>Февраль 2027</a:t>
                      </a:r>
                    </a:p>
                  </a:txBody>
                  <a:tcPr marL="177800" marR="177800" marT="38100" marB="38100" anchor="ctr">
                    <a:lnL w="9525">
                      <a:solidFill>
                        <a:srgbClr val="DCE0EB"/>
                      </a:solidFill>
                    </a:lnL>
                    <a:lnR w="9525">
                      <a:solidFill>
                        <a:srgbClr val="DCE0EB"/>
                      </a:solidFill>
                    </a:lnR>
                    <a:lnT w="9525">
                      <a:solidFill>
                        <a:srgbClr val="DCE0EB"/>
                      </a:solidFill>
                    </a:lnT>
                    <a:lnB w="9525">
                      <a:solidFill>
                        <a:srgbClr val="DC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77800" marR="177800" marT="38100" marB="38100" anchor="ctr">
                    <a:lnL w="9525">
                      <a:solidFill>
                        <a:srgbClr val="DCE0EB"/>
                      </a:solidFill>
                    </a:lnL>
                    <a:lnR w="9525">
                      <a:solidFill>
                        <a:srgbClr val="DCE0EB"/>
                      </a:solidFill>
                    </a:lnR>
                    <a:lnT w="9525">
                      <a:solidFill>
                        <a:srgbClr val="DCE0EB"/>
                      </a:solidFill>
                    </a:lnT>
                    <a:lnB w="9525">
                      <a:solidFill>
                        <a:srgbClr val="DCE0E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C1C1C"/>
                          </a:solidFill>
                          <a:latin typeface="VTB Omega UI"/>
                        </a:rPr>
                        <a:t>Предоставление доступа к онлайн-курсам на LMS-платформе ВТБ Образование</a:t>
                      </a:r>
                    </a:p>
                  </a:txBody>
                  <a:tcPr marL="177800" marR="177800" marT="38100" marB="38100" anchor="ctr">
                    <a:lnL w="9525">
                      <a:solidFill>
                        <a:srgbClr val="DCE0EB"/>
                      </a:solidFill>
                    </a:lnL>
                    <a:lnR w="9525">
                      <a:solidFill>
                        <a:srgbClr val="DCE0EB"/>
                      </a:solidFill>
                    </a:lnR>
                    <a:lnT w="9525">
                      <a:solidFill>
                        <a:srgbClr val="DCE0EB"/>
                      </a:solidFill>
                    </a:lnT>
                    <a:lnB w="9525">
                      <a:solidFill>
                        <a:srgbClr val="DCE0EB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C1C1C"/>
                          </a:solidFill>
                          <a:latin typeface="VTB Omega UI"/>
                        </a:rPr>
                        <a:t>С марта 2027</a:t>
                      </a:r>
                    </a:p>
                  </a:txBody>
                  <a:tcPr marL="177800" marR="177800" marT="38100" marB="38100" anchor="ctr">
                    <a:lnL w="9525">
                      <a:solidFill>
                        <a:srgbClr val="DCE0EB"/>
                      </a:solidFill>
                    </a:lnL>
                    <a:lnR w="9525">
                      <a:solidFill>
                        <a:srgbClr val="DCE0EB"/>
                      </a:solidFill>
                    </a:lnR>
                    <a:lnT w="9525">
                      <a:solidFill>
                        <a:srgbClr val="DCE0EB"/>
                      </a:solidFill>
                    </a:lnT>
                    <a:lnB w="9525">
                      <a:solidFill>
                        <a:srgbClr val="DCE0EB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77800" marR="177800" marT="38100" marB="38100" anchor="ctr">
                    <a:lnL w="9525">
                      <a:solidFill>
                        <a:srgbClr val="DCE0EB"/>
                      </a:solidFill>
                    </a:lnL>
                    <a:lnR w="9525">
                      <a:solidFill>
                        <a:srgbClr val="DCE0EB"/>
                      </a:solidFill>
                    </a:lnR>
                    <a:lnT w="9525">
                      <a:solidFill>
                        <a:srgbClr val="DCE0EB"/>
                      </a:solidFill>
                    </a:lnT>
                    <a:lnB w="9525">
                      <a:solidFill>
                        <a:srgbClr val="DCE0EB"/>
                      </a:solidFill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C1C1C"/>
                          </a:solidFill>
                          <a:latin typeface="VTB Omega UI"/>
                        </a:rPr>
                        <a:t>Проектирование синхронной образовательной программы</a:t>
                      </a:r>
                    </a:p>
                  </a:txBody>
                  <a:tcPr marL="177800" marR="177800" marT="38100" marB="38100" anchor="ctr">
                    <a:lnL w="9525">
                      <a:solidFill>
                        <a:srgbClr val="DCE0EB"/>
                      </a:solidFill>
                    </a:lnL>
                    <a:lnR w="9525">
                      <a:solidFill>
                        <a:srgbClr val="DCE0EB"/>
                      </a:solidFill>
                    </a:lnR>
                    <a:lnT w="9525">
                      <a:solidFill>
                        <a:srgbClr val="DCE0EB"/>
                      </a:solidFill>
                    </a:lnT>
                    <a:lnB w="9525">
                      <a:solidFill>
                        <a:srgbClr val="DC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C1C1C"/>
                          </a:solidFill>
                          <a:latin typeface="VTB Omega UI"/>
                        </a:rPr>
                        <a:t>Февраль – апрель 2027</a:t>
                      </a:r>
                    </a:p>
                  </a:txBody>
                  <a:tcPr marL="177800" marR="177800" marT="38100" marB="38100" anchor="ctr">
                    <a:lnL w="9525">
                      <a:solidFill>
                        <a:srgbClr val="DCE0EB"/>
                      </a:solidFill>
                    </a:lnL>
                    <a:lnR w="9525">
                      <a:solidFill>
                        <a:srgbClr val="DCE0EB"/>
                      </a:solidFill>
                    </a:lnR>
                    <a:lnT w="9525">
                      <a:solidFill>
                        <a:srgbClr val="DCE0EB"/>
                      </a:solidFill>
                    </a:lnT>
                    <a:lnB w="9525">
                      <a:solidFill>
                        <a:srgbClr val="DC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C1C1C"/>
                          </a:solidFill>
                          <a:latin typeface="VTB Omega UI"/>
                        </a:rPr>
                        <a:t>Расширенный</a:t>
                      </a:r>
                    </a:p>
                  </a:txBody>
                  <a:tcPr marL="177800" marR="177800" marT="38100" marB="38100" anchor="ctr">
                    <a:lnL w="9525">
                      <a:solidFill>
                        <a:srgbClr val="DCE0EB"/>
                      </a:solidFill>
                    </a:lnL>
                    <a:lnR w="9525">
                      <a:solidFill>
                        <a:srgbClr val="DCE0EB"/>
                      </a:solidFill>
                    </a:lnR>
                    <a:lnT w="9525">
                      <a:solidFill>
                        <a:srgbClr val="DCE0EB"/>
                      </a:solidFill>
                    </a:lnT>
                    <a:lnB w="9525">
                      <a:solidFill>
                        <a:srgbClr val="DCE0E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sz="1350" dirty="0">
                          <a:solidFill>
                            <a:srgbClr val="1C1C1C"/>
                          </a:solidFill>
                          <a:latin typeface="VTB Omega UI"/>
                        </a:rPr>
                        <a:t>Реализация </a:t>
                      </a:r>
                      <a:r>
                        <a:rPr sz="1350" dirty="0" err="1">
                          <a:solidFill>
                            <a:srgbClr val="1C1C1C"/>
                          </a:solidFill>
                          <a:latin typeface="VTB Omega UI"/>
                        </a:rPr>
                        <a:t>синхронной</a:t>
                      </a:r>
                      <a:r>
                        <a:rPr sz="1350" dirty="0">
                          <a:solidFill>
                            <a:srgbClr val="1C1C1C"/>
                          </a:solidFill>
                          <a:latin typeface="VTB Omega UI"/>
                        </a:rPr>
                        <a:t> </a:t>
                      </a:r>
                      <a:r>
                        <a:rPr sz="1350" dirty="0" err="1">
                          <a:solidFill>
                            <a:srgbClr val="1C1C1C"/>
                          </a:solidFill>
                          <a:latin typeface="VTB Omega UI"/>
                        </a:rPr>
                        <a:t>образовательной</a:t>
                      </a:r>
                      <a:r>
                        <a:rPr sz="1350" dirty="0">
                          <a:solidFill>
                            <a:srgbClr val="1C1C1C"/>
                          </a:solidFill>
                          <a:latin typeface="VTB Omega UI"/>
                        </a:rPr>
                        <a:t> </a:t>
                      </a:r>
                      <a:r>
                        <a:rPr sz="1350" dirty="0" err="1">
                          <a:solidFill>
                            <a:srgbClr val="1C1C1C"/>
                          </a:solidFill>
                          <a:latin typeface="VTB Omega UI"/>
                        </a:rPr>
                        <a:t>программы</a:t>
                      </a:r>
                      <a:endParaRPr sz="1350" dirty="0">
                        <a:solidFill>
                          <a:srgbClr val="1C1C1C"/>
                        </a:solidFill>
                        <a:latin typeface="VTB Omega UI"/>
                      </a:endParaRPr>
                    </a:p>
                  </a:txBody>
                  <a:tcPr marL="177800" marR="177800" marT="38100" marB="38100" anchor="ctr">
                    <a:lnL w="9525">
                      <a:solidFill>
                        <a:srgbClr val="DCE0EB"/>
                      </a:solidFill>
                    </a:lnL>
                    <a:lnR w="9525">
                      <a:solidFill>
                        <a:srgbClr val="DCE0EB"/>
                      </a:solidFill>
                    </a:lnR>
                    <a:lnT w="9525">
                      <a:solidFill>
                        <a:srgbClr val="DCE0EB"/>
                      </a:solidFill>
                    </a:lnT>
                    <a:lnB w="9525">
                      <a:solidFill>
                        <a:srgbClr val="DCE0EB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C1C1C"/>
                          </a:solidFill>
                          <a:latin typeface="VTB Omega UI"/>
                        </a:rPr>
                        <a:t>TBD</a:t>
                      </a:r>
                    </a:p>
                    <a:p>
                      <a:pPr algn="ctr"/>
                      <a:r>
                        <a:rPr sz="750">
                          <a:solidFill>
                            <a:srgbClr val="1C1C1C"/>
                          </a:solidFill>
                          <a:latin typeface="VTB Omega UI"/>
                        </a:rPr>
                        <a:t>по согласованию с Заказчиком</a:t>
                      </a:r>
                    </a:p>
                  </a:txBody>
                  <a:tcPr marL="177800" marR="177800" marT="38100" marB="38100" anchor="ctr">
                    <a:lnL w="9525">
                      <a:solidFill>
                        <a:srgbClr val="DCE0EB"/>
                      </a:solidFill>
                    </a:lnL>
                    <a:lnR w="9525">
                      <a:solidFill>
                        <a:srgbClr val="DCE0EB"/>
                      </a:solidFill>
                    </a:lnR>
                    <a:lnT w="9525">
                      <a:solidFill>
                        <a:srgbClr val="DCE0EB"/>
                      </a:solidFill>
                    </a:lnT>
                    <a:lnB w="9525">
                      <a:solidFill>
                        <a:srgbClr val="DCE0EB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C1C1C"/>
                          </a:solidFill>
                          <a:latin typeface="VTB Omega UI"/>
                        </a:rPr>
                        <a:t>Расширенный</a:t>
                      </a:r>
                    </a:p>
                  </a:txBody>
                  <a:tcPr marL="177800" marR="177800" marT="38100" marB="38100" anchor="ctr">
                    <a:lnL w="9525">
                      <a:solidFill>
                        <a:srgbClr val="DCE0EB"/>
                      </a:solidFill>
                    </a:lnL>
                    <a:lnR w="9525">
                      <a:solidFill>
                        <a:srgbClr val="DCE0EB"/>
                      </a:solidFill>
                    </a:lnR>
                    <a:lnT w="9525">
                      <a:solidFill>
                        <a:srgbClr val="DCE0EB"/>
                      </a:solidFill>
                    </a:lnT>
                    <a:lnB w="9525">
                      <a:solidFill>
                        <a:srgbClr val="DCE0EB"/>
                      </a:solidFill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C1C1C"/>
                          </a:solidFill>
                          <a:latin typeface="VTB Omega UI"/>
                        </a:rPr>
                        <a:t>Подведение итогов, анализ обратной связи, план на 2028 г.</a:t>
                      </a:r>
                    </a:p>
                  </a:txBody>
                  <a:tcPr marL="177800" marR="177800" marT="38100" marB="38100" anchor="ctr">
                    <a:lnL w="9525">
                      <a:solidFill>
                        <a:srgbClr val="DCE0EB"/>
                      </a:solidFill>
                    </a:lnL>
                    <a:lnR w="9525">
                      <a:solidFill>
                        <a:srgbClr val="DCE0EB"/>
                      </a:solidFill>
                    </a:lnR>
                    <a:lnT w="9525">
                      <a:solidFill>
                        <a:srgbClr val="DCE0EB"/>
                      </a:solidFill>
                    </a:lnT>
                    <a:lnB w="9525">
                      <a:solidFill>
                        <a:srgbClr val="DC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C1C1C"/>
                          </a:solidFill>
                          <a:latin typeface="VTB Omega UI"/>
                        </a:rPr>
                        <a:t>Сентябрь 2027</a:t>
                      </a:r>
                    </a:p>
                  </a:txBody>
                  <a:tcPr marL="177800" marR="177800" marT="38100" marB="38100" anchor="ctr">
                    <a:lnL w="9525">
                      <a:solidFill>
                        <a:srgbClr val="DCE0EB"/>
                      </a:solidFill>
                    </a:lnL>
                    <a:lnR w="9525">
                      <a:solidFill>
                        <a:srgbClr val="DCE0EB"/>
                      </a:solidFill>
                    </a:lnR>
                    <a:lnT w="9525">
                      <a:solidFill>
                        <a:srgbClr val="DCE0EB"/>
                      </a:solidFill>
                    </a:lnT>
                    <a:lnB w="9525">
                      <a:solidFill>
                        <a:srgbClr val="DC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marL="177800" marR="177800" marT="38100" marB="38100" anchor="ctr">
                    <a:lnL w="9525">
                      <a:solidFill>
                        <a:srgbClr val="DCE0EB"/>
                      </a:solidFill>
                    </a:lnL>
                    <a:lnR w="9525">
                      <a:solidFill>
                        <a:srgbClr val="DCE0EB"/>
                      </a:solidFill>
                    </a:lnR>
                    <a:lnT w="9525">
                      <a:solidFill>
                        <a:srgbClr val="DCE0EB"/>
                      </a:solidFill>
                    </a:lnT>
                    <a:lnB w="9525">
                      <a:solidFill>
                        <a:srgbClr val="DCE0E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2291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72C55C6C-C8A5-4D83-B0A0-6BD5765E9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66" y="3104914"/>
            <a:ext cx="5437198" cy="648172"/>
          </a:xfrm>
        </p:spPr>
        <p:txBody>
          <a:bodyPr wrap="square" lIns="0" tIns="0" rIns="0" bIns="0" anchor="t"/>
          <a:lstStyle/>
          <a:p>
            <a:pPr>
              <a:lnSpc>
                <a:spcPts val="5136"/>
              </a:lnSpc>
            </a:pPr>
            <a:r>
              <a:rPr sz="4800" dirty="0" err="1">
                <a:solidFill>
                  <a:srgbClr val="000000"/>
                </a:solidFill>
              </a:rPr>
              <a:t>Приложение</a:t>
            </a:r>
            <a:endParaRPr sz="4800" dirty="0">
              <a:solidFill>
                <a:srgbClr val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399423-E554-4BEA-C9E2-E77BB22FB3F3}"/>
              </a:ext>
            </a:extLst>
          </p:cNvPr>
          <p:cNvSpPr txBox="1"/>
          <p:nvPr/>
        </p:nvSpPr>
        <p:spPr>
          <a:xfrm>
            <a:off x="1414463" y="52006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US" dirty="0"/>
          </a:p>
        </p:txBody>
      </p:sp>
      <p:sp>
        <p:nvSpPr>
          <p:cNvPr id="11" name="Текст">
            <a:extLst>
              <a:ext uri="{FF2B5EF4-FFF2-40B4-BE49-F238E27FC236}">
                <a16:creationId xmlns:a16="http://schemas.microsoft.com/office/drawing/2014/main" id="{83014F59-46F4-87B6-F4B8-875688C01943}"/>
              </a:ext>
            </a:extLst>
          </p:cNvPr>
          <p:cNvSpPr txBox="1"/>
          <p:nvPr/>
        </p:nvSpPr>
        <p:spPr>
          <a:xfrm>
            <a:off x="520700" y="6007100"/>
            <a:ext cx="41910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50" dirty="0" err="1">
                <a:solidFill>
                  <a:srgbClr val="0A2896"/>
                </a:solidFill>
                <a:latin typeface="VTB Omega UI"/>
              </a:rPr>
              <a:t>Предложение</a:t>
            </a:r>
            <a:r>
              <a:rPr sz="1250" dirty="0">
                <a:solidFill>
                  <a:srgbClr val="0A2896"/>
                </a:solidFill>
                <a:latin typeface="VTB Omega UI"/>
              </a:rPr>
              <a:t> </a:t>
            </a:r>
            <a:r>
              <a:rPr sz="1250" dirty="0" err="1">
                <a:solidFill>
                  <a:srgbClr val="0A2896"/>
                </a:solidFill>
                <a:latin typeface="VTB Omega UI"/>
              </a:rPr>
              <a:t>для</a:t>
            </a:r>
            <a:r>
              <a:rPr sz="1250" dirty="0">
                <a:solidFill>
                  <a:srgbClr val="0A2896"/>
                </a:solidFill>
                <a:latin typeface="VTB Omega UI"/>
              </a:rPr>
              <a:t> </a:t>
            </a:r>
            <a:r>
              <a:rPr sz="1250" dirty="0" err="1">
                <a:solidFill>
                  <a:srgbClr val="0A2896"/>
                </a:solidFill>
                <a:latin typeface="VTB Omega UI"/>
              </a:rPr>
              <a:t>обсуждения</a:t>
            </a:r>
            <a:endParaRPr sz="1250" dirty="0">
              <a:solidFill>
                <a:srgbClr val="0A2896"/>
              </a:solidFill>
              <a:latin typeface="VTB Omega UI"/>
            </a:endParaRPr>
          </a:p>
          <a:p>
            <a:pPr algn="l">
              <a:lnSpc>
                <a:spcPts val="1500"/>
              </a:lnSpc>
            </a:pPr>
            <a:r>
              <a:rPr sz="1250" dirty="0" err="1">
                <a:solidFill>
                  <a:srgbClr val="1C1C1C"/>
                </a:solidFill>
                <a:latin typeface="VTB Omega UI"/>
              </a:rPr>
              <a:t>Октябрь</a:t>
            </a:r>
            <a:r>
              <a:rPr sz="1250" dirty="0">
                <a:solidFill>
                  <a:srgbClr val="1C1C1C"/>
                </a:solidFill>
                <a:latin typeface="VTB Omega UI"/>
              </a:rPr>
              <a:t> 2026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C17F376-56F2-A472-299E-DD5F770F1B68}"/>
              </a:ext>
            </a:extLst>
          </p:cNvPr>
          <p:cNvSpPr/>
          <p:nvPr/>
        </p:nvSpPr>
        <p:spPr>
          <a:xfrm rot="1151342">
            <a:off x="12531057" y="-546087"/>
            <a:ext cx="2359548" cy="1023666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US"/>
          </a:p>
        </p:txBody>
      </p:sp>
    </p:spTree>
    <p:extLst>
      <p:ext uri="{BB962C8B-B14F-4D97-AF65-F5344CB8AC3E}">
        <p14:creationId xmlns:p14="http://schemas.microsoft.com/office/powerpoint/2010/main" val="11094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арточка">
            <a:extLst>
              <a:ext uri="{FF2B5EF4-FFF2-40B4-BE49-F238E27FC236}">
                <a16:creationId xmlns:a16="http://schemas.microsoft.com/office/drawing/2014/main" id="{F570B140-9FEE-E3B2-FA4C-AE4134FBF767}"/>
              </a:ext>
            </a:extLst>
          </p:cNvPr>
          <p:cNvSpPr/>
          <p:nvPr/>
        </p:nvSpPr>
        <p:spPr>
          <a:xfrm>
            <a:off x="6894534" y="2402379"/>
            <a:ext cx="4916466" cy="3941669"/>
          </a:xfrm>
          <a:prstGeom prst="roundRect">
            <a:avLst>
              <a:gd name="adj" fmla="val 2222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85A43172-339A-4CCC-86BB-D02E8A58B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normAutofit/>
          </a:bodyPr>
          <a:lstStyle/>
          <a:p>
            <a:pPr>
              <a:lnSpc>
                <a:spcPts val="3100"/>
              </a:lnSpc>
            </a:pPr>
            <a:r>
              <a:rPr sz="2400" dirty="0">
                <a:solidFill>
                  <a:srgbClr val="000000"/>
                </a:solidFill>
              </a:rPr>
              <a:t>МСФО: </a:t>
            </a:r>
            <a:r>
              <a:rPr sz="2400" dirty="0" err="1">
                <a:solidFill>
                  <a:srgbClr val="000000"/>
                </a:solidFill>
              </a:rPr>
              <a:t>базовый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dirty="0" err="1">
                <a:solidFill>
                  <a:srgbClr val="000000"/>
                </a:solidFill>
              </a:rPr>
              <a:t>уровень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8A1335D-0971-44DA-9021-3CE509D3773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E9794C1B-C881-42F5-9B4F-0D6130829943}" type="slidenum">
              <a:rPr lang="ru-RU" smtClean="0"/>
              <a:pPr>
                <a:defRPr/>
              </a:pPr>
              <a:t>11</a:t>
            </a:fld>
            <a:endParaRPr lang="ru-RU" dirty="0"/>
          </a:p>
        </p:txBody>
      </p:sp>
      <p:sp>
        <p:nvSpPr>
          <p:cNvPr id="10" name="Текст"/>
          <p:cNvSpPr txBox="1"/>
          <p:nvPr/>
        </p:nvSpPr>
        <p:spPr>
          <a:xfrm>
            <a:off x="381000" y="850900"/>
            <a:ext cx="1143952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 err="1">
                <a:latin typeface="VTB Omega UI"/>
              </a:rPr>
              <a:t>Курс</a:t>
            </a:r>
            <a:r>
              <a:rPr sz="1200" dirty="0">
                <a:latin typeface="VTB Omega UI"/>
              </a:rPr>
              <a:t> «МСФО. </a:t>
            </a:r>
            <a:r>
              <a:rPr sz="1200" dirty="0" err="1">
                <a:latin typeface="VTB Omega UI"/>
              </a:rPr>
              <a:t>Базовый</a:t>
            </a:r>
            <a:r>
              <a:rPr sz="1200" dirty="0">
                <a:latin typeface="VTB Omega UI"/>
              </a:rPr>
              <a:t> </a:t>
            </a:r>
            <a:r>
              <a:rPr sz="1200" dirty="0" err="1">
                <a:latin typeface="VTB Omega UI"/>
              </a:rPr>
              <a:t>уровень</a:t>
            </a:r>
            <a:r>
              <a:rPr sz="1200" dirty="0">
                <a:latin typeface="VTB Omega UI"/>
              </a:rPr>
              <a:t>», </a:t>
            </a:r>
            <a:r>
              <a:rPr sz="1200" dirty="0" err="1">
                <a:latin typeface="VTB Omega UI"/>
              </a:rPr>
              <a:t>разработанный</a:t>
            </a:r>
            <a:r>
              <a:rPr sz="1200" dirty="0">
                <a:latin typeface="VTB Omega UI"/>
              </a:rPr>
              <a:t> </a:t>
            </a:r>
            <a:r>
              <a:rPr sz="1200" dirty="0" err="1">
                <a:latin typeface="VTB Omega UI"/>
              </a:rPr>
              <a:t>совместно</a:t>
            </a:r>
            <a:r>
              <a:rPr sz="1200" dirty="0">
                <a:latin typeface="VTB Omega UI"/>
              </a:rPr>
              <a:t> </a:t>
            </a:r>
            <a:r>
              <a:rPr sz="1200" dirty="0" err="1">
                <a:latin typeface="VTB Omega UI"/>
              </a:rPr>
              <a:t>экспертами</a:t>
            </a:r>
            <a:r>
              <a:rPr sz="1200" dirty="0">
                <a:latin typeface="VTB Omega UI"/>
              </a:rPr>
              <a:t> </a:t>
            </a:r>
            <a:r>
              <a:rPr sz="1200" dirty="0" err="1">
                <a:latin typeface="VTB Omega UI"/>
              </a:rPr>
              <a:t>банка</a:t>
            </a:r>
            <a:r>
              <a:rPr sz="1200" dirty="0">
                <a:latin typeface="VTB Omega UI"/>
              </a:rPr>
              <a:t> ВТБ </a:t>
            </a:r>
            <a:r>
              <a:rPr sz="1200" dirty="0" err="1">
                <a:latin typeface="VTB Omega UI"/>
              </a:rPr>
              <a:t>и</a:t>
            </a:r>
            <a:r>
              <a:rPr sz="1200" dirty="0">
                <a:latin typeface="VTB Omega UI"/>
              </a:rPr>
              <a:t> </a:t>
            </a:r>
            <a:r>
              <a:rPr sz="1200" dirty="0" err="1">
                <a:latin typeface="VTB Omega UI"/>
              </a:rPr>
              <a:t>преподавателями-практиками</a:t>
            </a:r>
            <a:r>
              <a:rPr sz="1200" dirty="0">
                <a:latin typeface="VTB Omega UI"/>
              </a:rPr>
              <a:t> ВТБ </a:t>
            </a:r>
            <a:r>
              <a:rPr sz="1200" dirty="0" err="1">
                <a:latin typeface="VTB Omega UI"/>
              </a:rPr>
              <a:t>Образование</a:t>
            </a:r>
            <a:r>
              <a:rPr sz="1200" dirty="0">
                <a:latin typeface="VTB Omega UI"/>
              </a:rPr>
              <a:t>, </a:t>
            </a:r>
            <a:r>
              <a:rPr sz="1200" dirty="0" err="1">
                <a:latin typeface="VTB Omega UI"/>
              </a:rPr>
              <a:t>предназначен</a:t>
            </a:r>
            <a:r>
              <a:rPr sz="1200" dirty="0">
                <a:latin typeface="VTB Omega UI"/>
              </a:rPr>
              <a:t> </a:t>
            </a:r>
            <a:r>
              <a:rPr sz="1200" dirty="0" err="1">
                <a:latin typeface="VTB Omega UI"/>
              </a:rPr>
              <a:t>для</a:t>
            </a:r>
            <a:r>
              <a:rPr sz="1200" dirty="0">
                <a:latin typeface="VTB Omega UI"/>
              </a:rPr>
              <a:t> </a:t>
            </a:r>
            <a:r>
              <a:rPr sz="1200" dirty="0" err="1">
                <a:latin typeface="VTB Omega UI"/>
              </a:rPr>
              <a:t>студентов</a:t>
            </a:r>
            <a:r>
              <a:rPr sz="1200" dirty="0">
                <a:latin typeface="VTB Omega UI"/>
              </a:rPr>
              <a:t> </a:t>
            </a:r>
            <a:r>
              <a:rPr sz="1200" dirty="0" err="1">
                <a:latin typeface="VTB Omega UI"/>
              </a:rPr>
              <a:t>вузов</a:t>
            </a:r>
            <a:r>
              <a:rPr sz="1200" dirty="0">
                <a:latin typeface="VTB Omega UI"/>
              </a:rPr>
              <a:t>, </a:t>
            </a:r>
            <a:r>
              <a:rPr sz="1200" dirty="0" err="1">
                <a:latin typeface="VTB Omega UI"/>
              </a:rPr>
              <a:t>начинающих</a:t>
            </a:r>
            <a:r>
              <a:rPr sz="1200" dirty="0">
                <a:latin typeface="VTB Omega UI"/>
              </a:rPr>
              <a:t> </a:t>
            </a:r>
            <a:r>
              <a:rPr sz="1200" dirty="0" err="1">
                <a:latin typeface="VTB Omega UI"/>
              </a:rPr>
              <a:t>освоение</a:t>
            </a:r>
            <a:r>
              <a:rPr sz="1200" dirty="0">
                <a:latin typeface="VTB Omega UI"/>
              </a:rPr>
              <a:t> </a:t>
            </a:r>
            <a:r>
              <a:rPr sz="1200" dirty="0" err="1">
                <a:latin typeface="VTB Omega UI"/>
              </a:rPr>
              <a:t>международных</a:t>
            </a:r>
            <a:r>
              <a:rPr sz="1200" dirty="0">
                <a:latin typeface="VTB Omega UI"/>
              </a:rPr>
              <a:t> </a:t>
            </a:r>
            <a:r>
              <a:rPr sz="1200" dirty="0" err="1">
                <a:latin typeface="VTB Omega UI"/>
              </a:rPr>
              <a:t>стандартов</a:t>
            </a:r>
            <a:r>
              <a:rPr sz="1200" dirty="0">
                <a:latin typeface="VTB Omega UI"/>
              </a:rPr>
              <a:t> </a:t>
            </a:r>
            <a:r>
              <a:rPr sz="1200" dirty="0" err="1">
                <a:latin typeface="VTB Omega UI"/>
              </a:rPr>
              <a:t>финансовой</a:t>
            </a:r>
            <a:r>
              <a:rPr sz="1200" dirty="0">
                <a:latin typeface="VTB Omega UI"/>
              </a:rPr>
              <a:t> </a:t>
            </a:r>
            <a:r>
              <a:rPr sz="1200" dirty="0" err="1">
                <a:latin typeface="VTB Omega UI"/>
              </a:rPr>
              <a:t>отчётности</a:t>
            </a:r>
            <a:r>
              <a:rPr sz="1200" dirty="0">
                <a:latin typeface="VTB Omega UI"/>
              </a:rPr>
              <a:t>. Программа </a:t>
            </a:r>
            <a:r>
              <a:rPr sz="1200" dirty="0" err="1">
                <a:latin typeface="VTB Omega UI"/>
              </a:rPr>
              <a:t>курса</a:t>
            </a:r>
            <a:r>
              <a:rPr sz="1200" dirty="0">
                <a:latin typeface="VTB Omega UI"/>
              </a:rPr>
              <a:t> </a:t>
            </a:r>
            <a:r>
              <a:rPr sz="1200" dirty="0" err="1">
                <a:latin typeface="VTB Omega UI"/>
              </a:rPr>
              <a:t>охватывает</a:t>
            </a:r>
            <a:r>
              <a:rPr sz="1200" dirty="0">
                <a:latin typeface="VTB Omega UI"/>
              </a:rPr>
              <a:t> </a:t>
            </a:r>
            <a:r>
              <a:rPr sz="1200" dirty="0" err="1">
                <a:latin typeface="VTB Omega UI"/>
              </a:rPr>
              <a:t>ключевые</a:t>
            </a:r>
            <a:r>
              <a:rPr sz="1200" dirty="0">
                <a:latin typeface="VTB Omega UI"/>
              </a:rPr>
              <a:t> </a:t>
            </a:r>
            <a:r>
              <a:rPr sz="1200" dirty="0" err="1">
                <a:latin typeface="VTB Omega UI"/>
              </a:rPr>
              <a:t>аспекты</a:t>
            </a:r>
            <a:r>
              <a:rPr sz="1200" dirty="0">
                <a:latin typeface="VTB Omega UI"/>
              </a:rPr>
              <a:t> МСФО, </a:t>
            </a:r>
            <a:r>
              <a:rPr sz="1200" dirty="0" err="1">
                <a:latin typeface="VTB Omega UI"/>
              </a:rPr>
              <a:t>формируя</a:t>
            </a:r>
            <a:r>
              <a:rPr sz="1200" dirty="0">
                <a:latin typeface="VTB Omega UI"/>
              </a:rPr>
              <a:t> </a:t>
            </a:r>
            <a:r>
              <a:rPr sz="1200" dirty="0" err="1">
                <a:latin typeface="VTB Omega UI"/>
              </a:rPr>
              <a:t>фундамент</a:t>
            </a:r>
            <a:r>
              <a:rPr sz="1200" dirty="0">
                <a:latin typeface="VTB Omega UI"/>
              </a:rPr>
              <a:t> </a:t>
            </a:r>
            <a:r>
              <a:rPr sz="1200" dirty="0" err="1">
                <a:latin typeface="VTB Omega UI"/>
              </a:rPr>
              <a:t>для</a:t>
            </a:r>
            <a:r>
              <a:rPr sz="1200" dirty="0">
                <a:latin typeface="VTB Omega UI"/>
              </a:rPr>
              <a:t> </a:t>
            </a:r>
            <a:r>
              <a:rPr sz="1200" dirty="0" err="1">
                <a:latin typeface="VTB Omega UI"/>
              </a:rPr>
              <a:t>дальнейшего</a:t>
            </a:r>
            <a:r>
              <a:rPr sz="1200" dirty="0">
                <a:latin typeface="VTB Omega UI"/>
              </a:rPr>
              <a:t> </a:t>
            </a:r>
            <a:r>
              <a:rPr sz="1200" dirty="0" err="1">
                <a:latin typeface="VTB Omega UI"/>
              </a:rPr>
              <a:t>углублённого</a:t>
            </a:r>
            <a:r>
              <a:rPr sz="1200" dirty="0">
                <a:latin typeface="VTB Omega UI"/>
              </a:rPr>
              <a:t> </a:t>
            </a:r>
            <a:r>
              <a:rPr sz="1200" dirty="0" err="1">
                <a:latin typeface="VTB Omega UI"/>
              </a:rPr>
              <a:t>изучения</a:t>
            </a:r>
            <a:r>
              <a:rPr sz="1200" dirty="0">
                <a:latin typeface="VTB Omega UI"/>
              </a:rPr>
              <a:t> </a:t>
            </a:r>
            <a:r>
              <a:rPr sz="1200" dirty="0" err="1">
                <a:latin typeface="VTB Omega UI"/>
              </a:rPr>
              <a:t>стандартов</a:t>
            </a:r>
            <a:r>
              <a:rPr sz="1200" dirty="0">
                <a:latin typeface="VTB Omega UI"/>
              </a:rPr>
              <a:t>.</a:t>
            </a:r>
          </a:p>
        </p:txBody>
      </p:sp>
      <p:sp>
        <p:nvSpPr>
          <p:cNvPr id="11" name="Карточка"/>
          <p:cNvSpPr/>
          <p:nvPr/>
        </p:nvSpPr>
        <p:spPr>
          <a:xfrm>
            <a:off x="381000" y="2408331"/>
            <a:ext cx="6350000" cy="3941669"/>
          </a:xfrm>
          <a:prstGeom prst="roundRect">
            <a:avLst>
              <a:gd name="adj" fmla="val 2222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Текст"/>
          <p:cNvSpPr txBox="1"/>
          <p:nvPr/>
        </p:nvSpPr>
        <p:spPr>
          <a:xfrm>
            <a:off x="635000" y="2619564"/>
            <a:ext cx="5842000" cy="225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ru-RU" sz="1400" dirty="0">
                <a:solidFill>
                  <a:srgbClr val="1C1C1C"/>
                </a:solidFill>
                <a:latin typeface="VTB Omega UI Medium"/>
              </a:rPr>
              <a:t>Содержание курса</a:t>
            </a:r>
            <a:endParaRPr sz="1400" dirty="0">
              <a:solidFill>
                <a:srgbClr val="1C1C1C"/>
              </a:solidFill>
              <a:latin typeface="VTB Omega UI Medium"/>
            </a:endParaRPr>
          </a:p>
        </p:txBody>
      </p:sp>
      <p:sp>
        <p:nvSpPr>
          <p:cNvPr id="13" name="Текст"/>
          <p:cNvSpPr txBox="1"/>
          <p:nvPr/>
        </p:nvSpPr>
        <p:spPr>
          <a:xfrm>
            <a:off x="635000" y="3056436"/>
            <a:ext cx="5842000" cy="2553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lnSpc>
                <a:spcPts val="1450"/>
              </a:lnSpc>
              <a:buFont typeface="+mj-lt"/>
              <a:buAutoNum type="arabicPeriod"/>
            </a:pPr>
            <a:r>
              <a:rPr sz="1200" dirty="0" err="1">
                <a:solidFill>
                  <a:srgbClr val="1C1C1C"/>
                </a:solidFill>
                <a:latin typeface="VTB Omega UI Medium" panose="020B0503040502020204" pitchFamily="34" charset="0"/>
              </a:rPr>
              <a:t>Концептуальные</a:t>
            </a:r>
            <a:r>
              <a:rPr sz="1200" dirty="0">
                <a:solidFill>
                  <a:srgbClr val="1C1C1C"/>
                </a:solidFill>
                <a:latin typeface="VTB Omega UI Medium" panose="020B0503040502020204" pitchFamily="34" charset="0"/>
              </a:rPr>
              <a:t> </a:t>
            </a:r>
            <a:r>
              <a:rPr sz="1200" dirty="0" err="1">
                <a:solidFill>
                  <a:srgbClr val="1C1C1C"/>
                </a:solidFill>
                <a:latin typeface="VTB Omega UI Medium" panose="020B0503040502020204" pitchFamily="34" charset="0"/>
              </a:rPr>
              <a:t>основы</a:t>
            </a:r>
            <a:r>
              <a:rPr sz="1200" dirty="0">
                <a:solidFill>
                  <a:srgbClr val="1C1C1C"/>
                </a:solidFill>
                <a:latin typeface="VTB Omega UI Medium" panose="020B0503040502020204" pitchFamily="34" charset="0"/>
              </a:rPr>
              <a:t> МСФО: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Структура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,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принципы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и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 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цели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международных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стандартов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,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качественные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характеристики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финансовой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отчётности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.</a:t>
            </a:r>
            <a:endParaRPr lang="ru-RU" sz="1200" dirty="0">
              <a:solidFill>
                <a:srgbClr val="1C1C1C"/>
              </a:solidFill>
              <a:latin typeface="VTB Omega UI" panose="020B0503040502020204" pitchFamily="34" charset="0"/>
            </a:endParaRPr>
          </a:p>
          <a:p>
            <a:pPr marL="228600" indent="-228600" algn="l">
              <a:lnSpc>
                <a:spcPts val="1450"/>
              </a:lnSpc>
              <a:spcBef>
                <a:spcPts val="500"/>
              </a:spcBef>
              <a:buFont typeface="+mj-lt"/>
              <a:buAutoNum type="arabicPeriod"/>
            </a:pPr>
            <a:r>
              <a:rPr sz="1200" dirty="0" err="1">
                <a:solidFill>
                  <a:srgbClr val="1C1C1C"/>
                </a:solidFill>
                <a:latin typeface="VTB Omega UI Medium" panose="020B0503040502020204" pitchFamily="34" charset="0"/>
              </a:rPr>
              <a:t>Нематериальные</a:t>
            </a:r>
            <a:r>
              <a:rPr sz="1200" dirty="0">
                <a:solidFill>
                  <a:srgbClr val="1C1C1C"/>
                </a:solidFill>
                <a:latin typeface="VTB Omega UI Medium" panose="020B0503040502020204" pitchFamily="34" charset="0"/>
              </a:rPr>
              <a:t> </a:t>
            </a:r>
            <a:r>
              <a:rPr sz="1200" dirty="0" err="1">
                <a:solidFill>
                  <a:srgbClr val="1C1C1C"/>
                </a:solidFill>
                <a:latin typeface="VTB Omega UI Medium" panose="020B0503040502020204" pitchFamily="34" charset="0"/>
              </a:rPr>
              <a:t>активы</a:t>
            </a:r>
            <a:r>
              <a:rPr sz="1200" dirty="0">
                <a:solidFill>
                  <a:srgbClr val="1C1C1C"/>
                </a:solidFill>
                <a:latin typeface="VTB Omega UI Medium" panose="020B0503040502020204" pitchFamily="34" charset="0"/>
              </a:rPr>
              <a:t>: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исследования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и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 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разработки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.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Признание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,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оценка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и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 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амортизация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 НМА,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учёт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затрат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на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 НИОКР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согласно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 IAS 38.</a:t>
            </a:r>
            <a:endParaRPr lang="ru-RU" sz="1200" dirty="0">
              <a:solidFill>
                <a:srgbClr val="1C1C1C"/>
              </a:solidFill>
              <a:latin typeface="VTB Omega UI" panose="020B0503040502020204" pitchFamily="34" charset="0"/>
            </a:endParaRPr>
          </a:p>
          <a:p>
            <a:pPr marL="228600" indent="-228600" algn="l">
              <a:lnSpc>
                <a:spcPts val="1450"/>
              </a:lnSpc>
              <a:spcBef>
                <a:spcPts val="500"/>
              </a:spcBef>
              <a:buFont typeface="+mj-lt"/>
              <a:buAutoNum type="arabicPeriod"/>
            </a:pPr>
            <a:r>
              <a:rPr sz="1200" dirty="0">
                <a:solidFill>
                  <a:srgbClr val="1C1C1C"/>
                </a:solidFill>
                <a:latin typeface="VTB Omega UI Medium" panose="020B0503040502020204" pitchFamily="34" charset="0"/>
              </a:rPr>
              <a:t>Концепция </a:t>
            </a:r>
            <a:r>
              <a:rPr sz="1200" dirty="0" err="1">
                <a:solidFill>
                  <a:srgbClr val="1C1C1C"/>
                </a:solidFill>
                <a:latin typeface="VTB Omega UI Medium" panose="020B0503040502020204" pitchFamily="34" charset="0"/>
              </a:rPr>
              <a:t>контроля</a:t>
            </a:r>
            <a:r>
              <a:rPr sz="1200" dirty="0">
                <a:solidFill>
                  <a:srgbClr val="1C1C1C"/>
                </a:solidFill>
                <a:latin typeface="VTB Omega UI Medium" panose="020B0503040502020204" pitchFamily="34" charset="0"/>
              </a:rPr>
              <a:t>. 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Критерии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определения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контроля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над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 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компанией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 (IFRS 10),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принципы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консолидации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отчётности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.</a:t>
            </a:r>
            <a:endParaRPr lang="ru-RU" sz="1200" dirty="0">
              <a:solidFill>
                <a:srgbClr val="1C1C1C"/>
              </a:solidFill>
              <a:latin typeface="VTB Omega UI" panose="020B0503040502020204" pitchFamily="34" charset="0"/>
            </a:endParaRPr>
          </a:p>
          <a:p>
            <a:pPr marL="228600" indent="-228600" algn="l">
              <a:lnSpc>
                <a:spcPts val="1450"/>
              </a:lnSpc>
              <a:spcBef>
                <a:spcPts val="500"/>
              </a:spcBef>
              <a:buFont typeface="+mj-lt"/>
              <a:buAutoNum type="arabicPeriod"/>
            </a:pPr>
            <a:r>
              <a:rPr sz="1200" dirty="0">
                <a:solidFill>
                  <a:srgbClr val="1C1C1C"/>
                </a:solidFill>
                <a:latin typeface="VTB Omega UI Medium" panose="020B0503040502020204" pitchFamily="34" charset="0"/>
              </a:rPr>
              <a:t>Консолидация </a:t>
            </a:r>
            <a:r>
              <a:rPr sz="1200" dirty="0" err="1">
                <a:solidFill>
                  <a:srgbClr val="1C1C1C"/>
                </a:solidFill>
                <a:latin typeface="VTB Omega UI Medium" panose="020B0503040502020204" pitchFamily="34" charset="0"/>
              </a:rPr>
              <a:t>бизнеса</a:t>
            </a:r>
            <a:r>
              <a:rPr sz="1200" dirty="0">
                <a:solidFill>
                  <a:srgbClr val="1C1C1C"/>
                </a:solidFill>
                <a:latin typeface="VTB Omega UI Medium" panose="020B0503040502020204" pitchFamily="34" charset="0"/>
              </a:rPr>
              <a:t>. 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Методы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объединения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бизнеса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 (IFRS 3),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учёт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гудвила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,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исключение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внутригрупповых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операций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.</a:t>
            </a:r>
            <a:endParaRPr lang="ru-RU" sz="1200" dirty="0">
              <a:solidFill>
                <a:srgbClr val="1C1C1C"/>
              </a:solidFill>
              <a:latin typeface="VTB Omega UI" panose="020B0503040502020204" pitchFamily="34" charset="0"/>
            </a:endParaRPr>
          </a:p>
          <a:p>
            <a:pPr marL="228600" indent="-228600" algn="l">
              <a:lnSpc>
                <a:spcPts val="1450"/>
              </a:lnSpc>
              <a:spcBef>
                <a:spcPts val="500"/>
              </a:spcBef>
              <a:buFont typeface="+mj-lt"/>
              <a:buAutoNum type="arabicPeriod"/>
            </a:pPr>
            <a:r>
              <a:rPr sz="1200" dirty="0">
                <a:solidFill>
                  <a:srgbClr val="1C1C1C"/>
                </a:solidFill>
                <a:latin typeface="VTB Omega UI Medium" panose="020B0503040502020204" pitchFamily="34" charset="0"/>
              </a:rPr>
              <a:t>Зависимые </a:t>
            </a:r>
            <a:r>
              <a:rPr sz="1200" dirty="0" err="1">
                <a:solidFill>
                  <a:srgbClr val="1C1C1C"/>
                </a:solidFill>
                <a:latin typeface="VTB Omega UI Medium" panose="020B0503040502020204" pitchFamily="34" charset="0"/>
              </a:rPr>
              <a:t>компании</a:t>
            </a:r>
            <a:r>
              <a:rPr sz="1200" dirty="0">
                <a:solidFill>
                  <a:srgbClr val="1C1C1C"/>
                </a:solidFill>
                <a:latin typeface="VTB Omega UI Medium" panose="020B0503040502020204" pitchFamily="34" charset="0"/>
              </a:rPr>
              <a:t> </a:t>
            </a:r>
            <a:r>
              <a:rPr sz="1200" dirty="0" err="1">
                <a:solidFill>
                  <a:srgbClr val="1C1C1C"/>
                </a:solidFill>
                <a:latin typeface="VTB Omega UI Medium" panose="020B0503040502020204" pitchFamily="34" charset="0"/>
              </a:rPr>
              <a:t>и</a:t>
            </a:r>
            <a:r>
              <a:rPr sz="1200" dirty="0">
                <a:solidFill>
                  <a:srgbClr val="1C1C1C"/>
                </a:solidFill>
                <a:latin typeface="VTB Omega UI Medium" panose="020B0503040502020204" pitchFamily="34" charset="0"/>
              </a:rPr>
              <a:t> </a:t>
            </a:r>
            <a:r>
              <a:rPr sz="1200" dirty="0" err="1">
                <a:solidFill>
                  <a:srgbClr val="1C1C1C"/>
                </a:solidFill>
                <a:latin typeface="VTB Omega UI Medium" panose="020B0503040502020204" pitchFamily="34" charset="0"/>
              </a:rPr>
              <a:t>совместная</a:t>
            </a:r>
            <a:r>
              <a:rPr sz="1200" dirty="0">
                <a:solidFill>
                  <a:srgbClr val="1C1C1C"/>
                </a:solidFill>
                <a:latin typeface="VTB Omega UI Medium" panose="020B0503040502020204" pitchFamily="34" charset="0"/>
              </a:rPr>
              <a:t> </a:t>
            </a:r>
            <a:r>
              <a:rPr sz="1200" dirty="0" err="1">
                <a:solidFill>
                  <a:srgbClr val="1C1C1C"/>
                </a:solidFill>
                <a:latin typeface="VTB Omega UI Medium" panose="020B0503040502020204" pitchFamily="34" charset="0"/>
              </a:rPr>
              <a:t>деятельность</a:t>
            </a:r>
            <a:r>
              <a:rPr sz="1200" dirty="0">
                <a:solidFill>
                  <a:srgbClr val="1C1C1C"/>
                </a:solidFill>
                <a:latin typeface="VTB Omega UI Medium" panose="020B0503040502020204" pitchFamily="34" charset="0"/>
              </a:rPr>
              <a:t>.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Учёт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инвестиций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в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 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ассоциированные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компании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 (IAS 28)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и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 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совместные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предприятия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 (IFRS 11),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метод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долевого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 </a:t>
            </a:r>
            <a:r>
              <a:rPr sz="1200" dirty="0" err="1">
                <a:solidFill>
                  <a:srgbClr val="1C1C1C"/>
                </a:solidFill>
                <a:latin typeface="VTB Omega UI" panose="020B0503040502020204" pitchFamily="34" charset="0"/>
              </a:rPr>
              <a:t>участия</a:t>
            </a:r>
            <a:r>
              <a:rPr sz="1200" dirty="0">
                <a:solidFill>
                  <a:srgbClr val="1C1C1C"/>
                </a:solidFill>
                <a:latin typeface="VTB Omega UI" panose="020B0503040502020204" pitchFamily="34" charset="0"/>
              </a:rPr>
              <a:t>.</a:t>
            </a:r>
          </a:p>
        </p:txBody>
      </p:sp>
      <p:sp>
        <p:nvSpPr>
          <p:cNvPr id="23" name="Текст"/>
          <p:cNvSpPr txBox="1"/>
          <p:nvPr/>
        </p:nvSpPr>
        <p:spPr>
          <a:xfrm>
            <a:off x="371474" y="1441960"/>
            <a:ext cx="39370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ru-RU" sz="1100" dirty="0">
                <a:solidFill>
                  <a:srgbClr val="4A5361"/>
                </a:solidFill>
                <a:latin typeface="VTB Omega UI"/>
              </a:rPr>
              <a:t>Продолжительность</a:t>
            </a:r>
          </a:p>
          <a:p>
            <a:r>
              <a:rPr lang="ru-RU" sz="1400" dirty="0">
                <a:solidFill>
                  <a:srgbClr val="1C1C1C"/>
                </a:solidFill>
                <a:latin typeface="VTB Omega UI Medium"/>
              </a:rPr>
              <a:t>24 ак. ч</a:t>
            </a:r>
          </a:p>
        </p:txBody>
      </p:sp>
      <p:sp>
        <p:nvSpPr>
          <p:cNvPr id="24" name="Текст"/>
          <p:cNvSpPr txBox="1"/>
          <p:nvPr/>
        </p:nvSpPr>
        <p:spPr>
          <a:xfrm>
            <a:off x="7112000" y="2629759"/>
            <a:ext cx="4699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ru-RU" sz="1400" dirty="0">
                <a:solidFill>
                  <a:srgbClr val="1C1C1C"/>
                </a:solidFill>
                <a:latin typeface="VTB Omega UI Medium"/>
              </a:rPr>
              <a:t>Особенности</a:t>
            </a:r>
          </a:p>
        </p:txBody>
      </p:sp>
      <p:sp>
        <p:nvSpPr>
          <p:cNvPr id="25" name="Текст"/>
          <p:cNvSpPr txBox="1"/>
          <p:nvPr/>
        </p:nvSpPr>
        <p:spPr>
          <a:xfrm>
            <a:off x="7112000" y="3055984"/>
            <a:ext cx="4445000" cy="1719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ts val="1450"/>
              </a:lnSpc>
              <a:buClr>
                <a:srgbClr val="1E4BD2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latin typeface="VTB Omega UI"/>
              </a:rPr>
              <a:t>Материал основан на </a:t>
            </a:r>
            <a:r>
              <a:rPr lang="ru-RU" sz="1200" dirty="0">
                <a:latin typeface="VTB Omega UI Medium"/>
              </a:rPr>
              <a:t>реальных бизнес-задачах</a:t>
            </a:r>
            <a:r>
              <a:rPr lang="ru-RU" sz="1200" dirty="0">
                <a:latin typeface="VTB Omega UI"/>
              </a:rPr>
              <a:t> из практики Банка</a:t>
            </a:r>
          </a:p>
          <a:p>
            <a:pPr marL="171450" indent="-171450" algn="l">
              <a:lnSpc>
                <a:spcPts val="1450"/>
              </a:lnSpc>
              <a:spcBef>
                <a:spcPts val="500"/>
              </a:spcBef>
              <a:buClr>
                <a:srgbClr val="1E4BD2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latin typeface="VTB Omega UI Medium"/>
              </a:rPr>
              <a:t>Круглосуточный доступ</a:t>
            </a:r>
            <a:r>
              <a:rPr lang="ru-RU" sz="1200" dirty="0">
                <a:latin typeface="VTB Omega UI"/>
              </a:rPr>
              <a:t> к материалам курсов на онлайн-платформе academy.vtb.ru</a:t>
            </a:r>
          </a:p>
          <a:p>
            <a:pPr marL="171450" indent="-171450" algn="l">
              <a:lnSpc>
                <a:spcPts val="1450"/>
              </a:lnSpc>
              <a:spcBef>
                <a:spcPts val="500"/>
              </a:spcBef>
              <a:buClr>
                <a:srgbClr val="1E4BD2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latin typeface="VTB Omega UI"/>
              </a:rPr>
              <a:t>Спикеры — </a:t>
            </a:r>
            <a:r>
              <a:rPr lang="ru-RU" sz="1200" dirty="0">
                <a:latin typeface="VTB Omega UI Medium"/>
              </a:rPr>
              <a:t>лидеры ВТБ</a:t>
            </a:r>
            <a:r>
              <a:rPr lang="ru-RU" sz="1200" dirty="0">
                <a:latin typeface="VTB Omega UI"/>
              </a:rPr>
              <a:t> с международными квалификациями </a:t>
            </a:r>
            <a:r>
              <a:rPr lang="ru-RU" sz="1200" dirty="0">
                <a:latin typeface="VTB Omega UI Medium"/>
              </a:rPr>
              <a:t>ACCA, CIMA</a:t>
            </a:r>
          </a:p>
          <a:p>
            <a:pPr marL="171450" indent="-171450" algn="l">
              <a:lnSpc>
                <a:spcPts val="1450"/>
              </a:lnSpc>
              <a:spcBef>
                <a:spcPts val="500"/>
              </a:spcBef>
              <a:buClr>
                <a:srgbClr val="1E4BD2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latin typeface="VTB Omega UI Medium"/>
              </a:rPr>
              <a:t>Сертификат о прохождении онлайн-интенсива</a:t>
            </a:r>
            <a:r>
              <a:rPr lang="ru-RU" sz="1200" dirty="0">
                <a:latin typeface="VTB Omega UI"/>
              </a:rPr>
              <a:t> для завершивших программу</a:t>
            </a:r>
          </a:p>
        </p:txBody>
      </p:sp>
    </p:spTree>
    <p:extLst>
      <p:ext uri="{BB962C8B-B14F-4D97-AF65-F5344CB8AC3E}">
        <p14:creationId xmlns:p14="http://schemas.microsoft.com/office/powerpoint/2010/main" val="4218655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8105B-AE9D-39B4-6854-8E9155F43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арточка">
            <a:extLst>
              <a:ext uri="{FF2B5EF4-FFF2-40B4-BE49-F238E27FC236}">
                <a16:creationId xmlns:a16="http://schemas.microsoft.com/office/drawing/2014/main" id="{17D735C4-0DF0-43C6-B077-C87196C9320E}"/>
              </a:ext>
            </a:extLst>
          </p:cNvPr>
          <p:cNvSpPr/>
          <p:nvPr/>
        </p:nvSpPr>
        <p:spPr>
          <a:xfrm>
            <a:off x="6894534" y="2402379"/>
            <a:ext cx="4916466" cy="3941669"/>
          </a:xfrm>
          <a:prstGeom prst="roundRect">
            <a:avLst>
              <a:gd name="adj" fmla="val 2222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E96BAF48-D51A-5BD7-4B40-DD42C7499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normAutofit/>
          </a:bodyPr>
          <a:lstStyle/>
          <a:p>
            <a:pPr>
              <a:lnSpc>
                <a:spcPts val="3100"/>
              </a:lnSpc>
            </a:pPr>
            <a:r>
              <a:rPr sz="2400" dirty="0">
                <a:solidFill>
                  <a:srgbClr val="000000"/>
                </a:solidFill>
              </a:rPr>
              <a:t>МСФО: </a:t>
            </a:r>
            <a:r>
              <a:rPr lang="ru-RU" sz="2400" dirty="0">
                <a:solidFill>
                  <a:srgbClr val="000000"/>
                </a:solidFill>
              </a:rPr>
              <a:t>финансовые инструменты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0C862938-B727-69EF-8525-11A934B1DB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E9794C1B-C881-42F5-9B4F-0D6130829943}" type="slidenum">
              <a:rPr lang="ru-RU" smtClean="0"/>
              <a:pPr>
                <a:defRPr/>
              </a:pPr>
              <a:t>12</a:t>
            </a:fld>
            <a:endParaRPr lang="ru-RU" dirty="0"/>
          </a:p>
        </p:txBody>
      </p:sp>
      <p:sp>
        <p:nvSpPr>
          <p:cNvPr id="10" name="Текст">
            <a:extLst>
              <a:ext uri="{FF2B5EF4-FFF2-40B4-BE49-F238E27FC236}">
                <a16:creationId xmlns:a16="http://schemas.microsoft.com/office/drawing/2014/main" id="{7FB8C7C7-2D9D-3400-3BEC-1DAF8537BC68}"/>
              </a:ext>
            </a:extLst>
          </p:cNvPr>
          <p:cNvSpPr txBox="1"/>
          <p:nvPr/>
        </p:nvSpPr>
        <p:spPr>
          <a:xfrm>
            <a:off x="381000" y="850900"/>
            <a:ext cx="1143952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US" sz="1200" dirty="0"/>
              <a:t>Курс «МСФО. Финансовые инструменты», разработанный совместно экспертами банка ВТБ и экспертами ВТБ Образование, предназначен для студентов вузов, желающих углублённо изучить международные стандарты финансовой отчётности. Программа курса фокусируется на ключевых аспектах учёта, классификации и оценки финансовых инструментов, сочетая теоретические основы с реальной практикой</a:t>
            </a:r>
            <a:endParaRPr sz="1200" dirty="0">
              <a:latin typeface="VTB Omega UI"/>
            </a:endParaRPr>
          </a:p>
        </p:txBody>
      </p:sp>
      <p:sp>
        <p:nvSpPr>
          <p:cNvPr id="11" name="Карточка">
            <a:extLst>
              <a:ext uri="{FF2B5EF4-FFF2-40B4-BE49-F238E27FC236}">
                <a16:creationId xmlns:a16="http://schemas.microsoft.com/office/drawing/2014/main" id="{DAE1D18A-C5B1-73CF-33EA-B5F3AAF83ABF}"/>
              </a:ext>
            </a:extLst>
          </p:cNvPr>
          <p:cNvSpPr/>
          <p:nvPr/>
        </p:nvSpPr>
        <p:spPr>
          <a:xfrm>
            <a:off x="381000" y="2408331"/>
            <a:ext cx="6350000" cy="3941669"/>
          </a:xfrm>
          <a:prstGeom prst="roundRect">
            <a:avLst>
              <a:gd name="adj" fmla="val 2222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Текст">
            <a:extLst>
              <a:ext uri="{FF2B5EF4-FFF2-40B4-BE49-F238E27FC236}">
                <a16:creationId xmlns:a16="http://schemas.microsoft.com/office/drawing/2014/main" id="{48F1453B-CFD9-F5AE-F953-6DAF44C35B17}"/>
              </a:ext>
            </a:extLst>
          </p:cNvPr>
          <p:cNvSpPr txBox="1"/>
          <p:nvPr/>
        </p:nvSpPr>
        <p:spPr>
          <a:xfrm>
            <a:off x="635000" y="2619564"/>
            <a:ext cx="5842000" cy="225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20"/>
              </a:lnSpc>
            </a:pPr>
            <a:r>
              <a:rPr lang="ru-RU" sz="1400" dirty="0">
                <a:solidFill>
                  <a:srgbClr val="1C1C1C"/>
                </a:solidFill>
                <a:latin typeface="VTB Omega UI Medium"/>
              </a:rPr>
              <a:t>Содержание курса</a:t>
            </a:r>
          </a:p>
        </p:txBody>
      </p:sp>
      <p:sp>
        <p:nvSpPr>
          <p:cNvPr id="13" name="Текст">
            <a:extLst>
              <a:ext uri="{FF2B5EF4-FFF2-40B4-BE49-F238E27FC236}">
                <a16:creationId xmlns:a16="http://schemas.microsoft.com/office/drawing/2014/main" id="{4186A83D-68DE-D823-4F3F-44668166A35C}"/>
              </a:ext>
            </a:extLst>
          </p:cNvPr>
          <p:cNvSpPr txBox="1"/>
          <p:nvPr/>
        </p:nvSpPr>
        <p:spPr>
          <a:xfrm>
            <a:off x="635000" y="3056436"/>
            <a:ext cx="5842000" cy="2809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lvl="0" indent="-171450">
              <a:lnSpc>
                <a:spcPts val="1450"/>
              </a:lnSpc>
              <a:buFont typeface="+mj-lt"/>
              <a:buAutoNum type="arabicPeriod"/>
            </a:pPr>
            <a:r>
              <a:rPr lang="ru-US" sz="1200" dirty="0">
                <a:latin typeface="VTB Omega UI Medium" panose="020B0503040502020204" pitchFamily="34" charset="0"/>
              </a:rPr>
              <a:t>IAS 32: </a:t>
            </a:r>
            <a:r>
              <a:rPr lang="ru-US" sz="1200" dirty="0"/>
              <a:t>Представление информации Принципы разделения инструментов на долевые и долговые, требования к раскрытию данных в отчетности.</a:t>
            </a:r>
          </a:p>
          <a:p>
            <a:pPr marL="171450" lvl="0" indent="-171450">
              <a:lnSpc>
                <a:spcPts val="1450"/>
              </a:lnSpc>
              <a:spcBef>
                <a:spcPts val="500"/>
              </a:spcBef>
              <a:buFont typeface="+mj-lt"/>
              <a:buAutoNum type="arabicPeriod"/>
            </a:pPr>
            <a:r>
              <a:rPr lang="ru-US" sz="1200" dirty="0">
                <a:latin typeface="VTB Omega UI Medium" panose="020B0503040502020204" pitchFamily="34" charset="0"/>
              </a:rPr>
              <a:t>IFRS 9:</a:t>
            </a:r>
            <a:r>
              <a:rPr lang="ru-US" sz="1200" dirty="0"/>
              <a:t> Классификация и оценка. Критерии категоризации активов и обязательств (амортизированная стоимость, FVTPL, FVOCI).</a:t>
            </a:r>
          </a:p>
          <a:p>
            <a:pPr marL="171450" lvl="0" indent="-171450">
              <a:lnSpc>
                <a:spcPts val="1450"/>
              </a:lnSpc>
              <a:spcBef>
                <a:spcPts val="500"/>
              </a:spcBef>
              <a:buFont typeface="+mj-lt"/>
              <a:buAutoNum type="arabicPeriod"/>
            </a:pPr>
            <a:r>
              <a:rPr lang="ru-US" sz="1200" dirty="0">
                <a:latin typeface="VTB Omega UI Medium" panose="020B0503040502020204" pitchFamily="34" charset="0"/>
              </a:rPr>
              <a:t>Последующая оценка и обесценение. </a:t>
            </a:r>
            <a:r>
              <a:rPr lang="ru-US" sz="1200" dirty="0"/>
              <a:t>Модель ожидаемых кредитных убытков (ECL), учет изменений стоимости активов.</a:t>
            </a:r>
          </a:p>
          <a:p>
            <a:pPr marL="171450" lvl="0" indent="-171450">
              <a:lnSpc>
                <a:spcPts val="1450"/>
              </a:lnSpc>
              <a:spcBef>
                <a:spcPts val="500"/>
              </a:spcBef>
              <a:buFont typeface="+mj-lt"/>
              <a:buAutoNum type="arabicPeriod"/>
            </a:pPr>
            <a:r>
              <a:rPr lang="ru-US" sz="1200" dirty="0">
                <a:latin typeface="VTB Omega UI Medium" panose="020B0503040502020204" pitchFamily="34" charset="0"/>
              </a:rPr>
              <a:t>Модификация финансовых инструментов. </a:t>
            </a:r>
            <a:r>
              <a:rPr lang="ru-US" sz="1200" dirty="0"/>
              <a:t>Учет реструктуризации долга и корректировки условий договоров.</a:t>
            </a:r>
          </a:p>
          <a:p>
            <a:pPr marL="171450" lvl="0" indent="-171450">
              <a:lnSpc>
                <a:spcPts val="1450"/>
              </a:lnSpc>
              <a:spcBef>
                <a:spcPts val="500"/>
              </a:spcBef>
              <a:buFont typeface="+mj-lt"/>
              <a:buAutoNum type="arabicPeriod"/>
            </a:pPr>
            <a:r>
              <a:rPr lang="ru-US" sz="1200" dirty="0">
                <a:latin typeface="VTB Omega UI Medium" panose="020B0503040502020204" pitchFamily="34" charset="0"/>
              </a:rPr>
              <a:t>IFRS 13: Справедливая стоимость. </a:t>
            </a:r>
            <a:r>
              <a:rPr lang="ru-US" sz="1200" dirty="0"/>
              <a:t>Методы оценки, иерархия данных для определения рыночной стоимости.</a:t>
            </a:r>
          </a:p>
          <a:p>
            <a:pPr marL="171450" lvl="0" indent="-171450">
              <a:lnSpc>
                <a:spcPts val="1450"/>
              </a:lnSpc>
              <a:spcBef>
                <a:spcPts val="500"/>
              </a:spcBef>
              <a:buFont typeface="+mj-lt"/>
              <a:buAutoNum type="arabicPeriod"/>
            </a:pPr>
            <a:r>
              <a:rPr lang="ru-US" sz="1200" dirty="0">
                <a:latin typeface="VTB Omega UI Medium" panose="020B0503040502020204" pitchFamily="34" charset="0"/>
              </a:rPr>
              <a:t>Производные инструменты. </a:t>
            </a:r>
            <a:r>
              <a:rPr lang="ru-US" sz="1200" dirty="0"/>
              <a:t>Основы учета форвардов, опционов, свопов и их роль в управлении рисками.</a:t>
            </a:r>
            <a:endParaRPr lang="ru-US" sz="1200" dirty="0">
              <a:effectLst/>
            </a:endParaRPr>
          </a:p>
        </p:txBody>
      </p:sp>
      <p:sp>
        <p:nvSpPr>
          <p:cNvPr id="23" name="Текст">
            <a:extLst>
              <a:ext uri="{FF2B5EF4-FFF2-40B4-BE49-F238E27FC236}">
                <a16:creationId xmlns:a16="http://schemas.microsoft.com/office/drawing/2014/main" id="{C0ACE20C-83CB-B54F-417D-C3261BA5253E}"/>
              </a:ext>
            </a:extLst>
          </p:cNvPr>
          <p:cNvSpPr txBox="1"/>
          <p:nvPr/>
        </p:nvSpPr>
        <p:spPr>
          <a:xfrm>
            <a:off x="371474" y="1441960"/>
            <a:ext cx="39370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ru-RU" sz="1100" dirty="0">
                <a:solidFill>
                  <a:srgbClr val="4A5361"/>
                </a:solidFill>
                <a:latin typeface="VTB Omega UI"/>
              </a:rPr>
              <a:t>Продолжительность</a:t>
            </a:r>
          </a:p>
          <a:p>
            <a:r>
              <a:rPr lang="ru-RU" sz="1400" dirty="0">
                <a:solidFill>
                  <a:srgbClr val="1C1C1C"/>
                </a:solidFill>
                <a:latin typeface="VTB Omega UI Medium"/>
              </a:rPr>
              <a:t>24 ак. ч</a:t>
            </a:r>
          </a:p>
        </p:txBody>
      </p:sp>
      <p:sp>
        <p:nvSpPr>
          <p:cNvPr id="24" name="Текст">
            <a:extLst>
              <a:ext uri="{FF2B5EF4-FFF2-40B4-BE49-F238E27FC236}">
                <a16:creationId xmlns:a16="http://schemas.microsoft.com/office/drawing/2014/main" id="{E53691EA-6213-105E-AA39-6B602A65FC12}"/>
              </a:ext>
            </a:extLst>
          </p:cNvPr>
          <p:cNvSpPr txBox="1"/>
          <p:nvPr/>
        </p:nvSpPr>
        <p:spPr>
          <a:xfrm>
            <a:off x="7112000" y="2629759"/>
            <a:ext cx="4699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ru-RU" sz="1400" dirty="0">
                <a:solidFill>
                  <a:srgbClr val="1C1C1C"/>
                </a:solidFill>
                <a:latin typeface="VTB Omega UI Medium"/>
              </a:rPr>
              <a:t>Особенности</a:t>
            </a:r>
          </a:p>
        </p:txBody>
      </p:sp>
      <p:sp>
        <p:nvSpPr>
          <p:cNvPr id="25" name="Текст">
            <a:extLst>
              <a:ext uri="{FF2B5EF4-FFF2-40B4-BE49-F238E27FC236}">
                <a16:creationId xmlns:a16="http://schemas.microsoft.com/office/drawing/2014/main" id="{B9E04AAF-4D9C-83A3-A6FF-B9E74D88D91C}"/>
              </a:ext>
            </a:extLst>
          </p:cNvPr>
          <p:cNvSpPr txBox="1"/>
          <p:nvPr/>
        </p:nvSpPr>
        <p:spPr>
          <a:xfrm>
            <a:off x="7112000" y="3055984"/>
            <a:ext cx="4445000" cy="1719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ts val="1450"/>
              </a:lnSpc>
              <a:buClr>
                <a:srgbClr val="1E4BD2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latin typeface="VTB Omega UI"/>
              </a:rPr>
              <a:t>Материал основан на </a:t>
            </a:r>
            <a:r>
              <a:rPr lang="ru-RU" sz="1200" dirty="0">
                <a:latin typeface="VTB Omega UI Medium"/>
              </a:rPr>
              <a:t>реальных бизнес-задачах</a:t>
            </a:r>
            <a:r>
              <a:rPr lang="ru-RU" sz="1200" dirty="0">
                <a:latin typeface="VTB Omega UI"/>
              </a:rPr>
              <a:t> из практики Банка</a:t>
            </a:r>
          </a:p>
          <a:p>
            <a:pPr marL="171450" indent="-171450" algn="l">
              <a:lnSpc>
                <a:spcPts val="1450"/>
              </a:lnSpc>
              <a:spcBef>
                <a:spcPts val="500"/>
              </a:spcBef>
              <a:buClr>
                <a:srgbClr val="1E4BD2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latin typeface="VTB Omega UI Medium"/>
              </a:rPr>
              <a:t>Круглосуточный доступ</a:t>
            </a:r>
            <a:r>
              <a:rPr lang="ru-RU" sz="1200" dirty="0">
                <a:latin typeface="VTB Omega UI"/>
              </a:rPr>
              <a:t> к материалам курсов на онлайн-платформе academy.vtb.ru</a:t>
            </a:r>
          </a:p>
          <a:p>
            <a:pPr marL="171450" indent="-171450" algn="l">
              <a:lnSpc>
                <a:spcPts val="1450"/>
              </a:lnSpc>
              <a:spcBef>
                <a:spcPts val="500"/>
              </a:spcBef>
              <a:buClr>
                <a:srgbClr val="1E4BD2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latin typeface="VTB Omega UI"/>
              </a:rPr>
              <a:t>Спикеры — </a:t>
            </a:r>
            <a:r>
              <a:rPr lang="ru-RU" sz="1200" dirty="0">
                <a:latin typeface="VTB Omega UI Medium"/>
              </a:rPr>
              <a:t>лидеры ВТБ</a:t>
            </a:r>
            <a:r>
              <a:rPr lang="ru-RU" sz="1200" dirty="0">
                <a:latin typeface="VTB Omega UI"/>
              </a:rPr>
              <a:t> с международными квалификациями </a:t>
            </a:r>
            <a:r>
              <a:rPr lang="ru-RU" sz="1200" dirty="0">
                <a:latin typeface="VTB Omega UI Medium"/>
              </a:rPr>
              <a:t>ACCA, CIMA</a:t>
            </a:r>
          </a:p>
          <a:p>
            <a:pPr marL="171450" indent="-171450" algn="l">
              <a:lnSpc>
                <a:spcPts val="1450"/>
              </a:lnSpc>
              <a:spcBef>
                <a:spcPts val="500"/>
              </a:spcBef>
              <a:buClr>
                <a:srgbClr val="1E4BD2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latin typeface="VTB Omega UI Medium"/>
              </a:rPr>
              <a:t>Сертификат о прохождении онлайн-интенсива</a:t>
            </a:r>
            <a:r>
              <a:rPr lang="ru-RU" sz="1200" dirty="0">
                <a:latin typeface="VTB Omega UI"/>
              </a:rPr>
              <a:t> для завершивших программу</a:t>
            </a:r>
          </a:p>
        </p:txBody>
      </p:sp>
    </p:spTree>
    <p:extLst>
      <p:ext uri="{BB962C8B-B14F-4D97-AF65-F5344CB8AC3E}">
        <p14:creationId xmlns:p14="http://schemas.microsoft.com/office/powerpoint/2010/main" val="512413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C7F50-EF3B-7FE5-10A6-657136C27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арточка">
            <a:extLst>
              <a:ext uri="{FF2B5EF4-FFF2-40B4-BE49-F238E27FC236}">
                <a16:creationId xmlns:a16="http://schemas.microsoft.com/office/drawing/2014/main" id="{F57F2381-B4E7-C2D5-DC22-997CB910F790}"/>
              </a:ext>
            </a:extLst>
          </p:cNvPr>
          <p:cNvSpPr/>
          <p:nvPr/>
        </p:nvSpPr>
        <p:spPr>
          <a:xfrm>
            <a:off x="6894534" y="2402379"/>
            <a:ext cx="4916466" cy="3941669"/>
          </a:xfrm>
          <a:prstGeom prst="roundRect">
            <a:avLst>
              <a:gd name="adj" fmla="val 2222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64129A5C-FC20-B022-9B55-BCF2B9670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normAutofit/>
          </a:bodyPr>
          <a:lstStyle/>
          <a:p>
            <a:pPr>
              <a:lnSpc>
                <a:spcPts val="3100"/>
              </a:lnSpc>
            </a:pPr>
            <a:r>
              <a:rPr lang="ru-RU" sz="2400" dirty="0">
                <a:solidFill>
                  <a:srgbClr val="000000"/>
                </a:solidFill>
              </a:rPr>
              <a:t>Управленческая отчетность в банках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B6515BAB-8DAD-C384-CD9B-498F27E9281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E9794C1B-C881-42F5-9B4F-0D6130829943}" type="slidenum">
              <a:rPr lang="ru-RU" smtClean="0"/>
              <a:pPr>
                <a:defRPr/>
              </a:pPr>
              <a:t>13</a:t>
            </a:fld>
            <a:endParaRPr lang="ru-RU" dirty="0"/>
          </a:p>
        </p:txBody>
      </p:sp>
      <p:sp>
        <p:nvSpPr>
          <p:cNvPr id="10" name="Текст">
            <a:extLst>
              <a:ext uri="{FF2B5EF4-FFF2-40B4-BE49-F238E27FC236}">
                <a16:creationId xmlns:a16="http://schemas.microsoft.com/office/drawing/2014/main" id="{69B64973-C9B2-AE4F-C854-37D599707ABA}"/>
              </a:ext>
            </a:extLst>
          </p:cNvPr>
          <p:cNvSpPr txBox="1"/>
          <p:nvPr/>
        </p:nvSpPr>
        <p:spPr>
          <a:xfrm>
            <a:off x="381000" y="850900"/>
            <a:ext cx="1143952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US" sz="1200" dirty="0"/>
              <a:t>Курс «Управленческая отчётность в банке», разработанный совместно экспертами банка ВТБ и экспертами ВТБ Образование, предназначен для студентов вузов, стремящихся освоить ключевые инструменты и методы формирования аналитической отчётности в современных бизнес-реалиях. Программа курса фокусируется на практических аспектах сбора, анализа и интерпретации данных для принятия решений.</a:t>
            </a:r>
            <a:endParaRPr sz="1200" dirty="0">
              <a:solidFill>
                <a:srgbClr val="4A5361"/>
              </a:solidFill>
              <a:latin typeface="VTB Omega UI"/>
            </a:endParaRPr>
          </a:p>
        </p:txBody>
      </p:sp>
      <p:sp>
        <p:nvSpPr>
          <p:cNvPr id="11" name="Карточка">
            <a:extLst>
              <a:ext uri="{FF2B5EF4-FFF2-40B4-BE49-F238E27FC236}">
                <a16:creationId xmlns:a16="http://schemas.microsoft.com/office/drawing/2014/main" id="{A6617BEA-6851-1C6A-CA95-A123AF2F35E2}"/>
              </a:ext>
            </a:extLst>
          </p:cNvPr>
          <p:cNvSpPr/>
          <p:nvPr/>
        </p:nvSpPr>
        <p:spPr>
          <a:xfrm>
            <a:off x="381000" y="2408331"/>
            <a:ext cx="6350000" cy="3941669"/>
          </a:xfrm>
          <a:prstGeom prst="roundRect">
            <a:avLst>
              <a:gd name="adj" fmla="val 2222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Текст">
            <a:extLst>
              <a:ext uri="{FF2B5EF4-FFF2-40B4-BE49-F238E27FC236}">
                <a16:creationId xmlns:a16="http://schemas.microsoft.com/office/drawing/2014/main" id="{1584E312-E4D9-944B-3FDA-AC9C74B767FB}"/>
              </a:ext>
            </a:extLst>
          </p:cNvPr>
          <p:cNvSpPr txBox="1"/>
          <p:nvPr/>
        </p:nvSpPr>
        <p:spPr>
          <a:xfrm>
            <a:off x="635000" y="2619564"/>
            <a:ext cx="5842000" cy="225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20"/>
              </a:lnSpc>
            </a:pPr>
            <a:r>
              <a:rPr lang="ru-RU" sz="1400" dirty="0">
                <a:solidFill>
                  <a:srgbClr val="1C1C1C"/>
                </a:solidFill>
                <a:latin typeface="VTB Omega UI Medium"/>
              </a:rPr>
              <a:t>Содержание курса</a:t>
            </a:r>
          </a:p>
        </p:txBody>
      </p:sp>
      <p:sp>
        <p:nvSpPr>
          <p:cNvPr id="13" name="Текст">
            <a:extLst>
              <a:ext uri="{FF2B5EF4-FFF2-40B4-BE49-F238E27FC236}">
                <a16:creationId xmlns:a16="http://schemas.microsoft.com/office/drawing/2014/main" id="{A2717314-37CC-39F6-1D8F-66D0DA92A4F1}"/>
              </a:ext>
            </a:extLst>
          </p:cNvPr>
          <p:cNvSpPr txBox="1"/>
          <p:nvPr/>
        </p:nvSpPr>
        <p:spPr>
          <a:xfrm>
            <a:off x="635000" y="3056436"/>
            <a:ext cx="5842000" cy="2553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lvl="0" indent="-171450">
              <a:lnSpc>
                <a:spcPts val="1450"/>
              </a:lnSpc>
              <a:buFont typeface="+mj-lt"/>
              <a:buAutoNum type="arabicPeriod"/>
            </a:pPr>
            <a:r>
              <a:rPr lang="ru-US" sz="1200" dirty="0">
                <a:latin typeface="VTB Omega UI Medium" panose="020B0503040502020204" pitchFamily="34" charset="0"/>
              </a:rPr>
              <a:t>Введение в управленческую отчетность. </a:t>
            </a:r>
            <a:r>
              <a:rPr lang="ru-US" sz="1200" dirty="0"/>
              <a:t>Цели, принципы и структура управленческой отчетности, различия между финансовой и управленческой отчетностью.</a:t>
            </a:r>
          </a:p>
          <a:p>
            <a:pPr marL="171450" lvl="0" indent="-171450">
              <a:lnSpc>
                <a:spcPts val="1450"/>
              </a:lnSpc>
              <a:spcBef>
                <a:spcPts val="500"/>
              </a:spcBef>
              <a:buFont typeface="+mj-lt"/>
              <a:buAutoNum type="arabicPeriod"/>
            </a:pPr>
            <a:r>
              <a:rPr lang="ru-US" sz="1200" dirty="0">
                <a:latin typeface="VTB Omega UI Medium" panose="020B0503040502020204" pitchFamily="34" charset="0"/>
              </a:rPr>
              <a:t>Аллокация расходов. </a:t>
            </a:r>
            <a:r>
              <a:rPr lang="ru-US" sz="1200" dirty="0"/>
              <a:t>Методы распределения затрат по центрам ответственности, драйверы затрат и их применение в расчетах.</a:t>
            </a:r>
          </a:p>
          <a:p>
            <a:pPr marL="171450" lvl="0" indent="-171450">
              <a:lnSpc>
                <a:spcPts val="1450"/>
              </a:lnSpc>
              <a:spcBef>
                <a:spcPts val="500"/>
              </a:spcBef>
              <a:buFont typeface="+mj-lt"/>
              <a:buAutoNum type="arabicPeriod"/>
            </a:pPr>
            <a:r>
              <a:rPr lang="ru-US" sz="1200" dirty="0">
                <a:latin typeface="VTB Omega UI Medium" panose="020B0503040502020204" pitchFamily="34" charset="0"/>
              </a:rPr>
              <a:t>Трансфертное ценообразование. </a:t>
            </a:r>
            <a:r>
              <a:rPr lang="ru-US" sz="1200" dirty="0"/>
              <a:t>Принципы установления цен внутри компании, налоговые и управленческие аспекты трансфертного ценообразования.</a:t>
            </a:r>
          </a:p>
          <a:p>
            <a:pPr marL="171450" lvl="0" indent="-171450">
              <a:lnSpc>
                <a:spcPts val="1450"/>
              </a:lnSpc>
              <a:spcBef>
                <a:spcPts val="500"/>
              </a:spcBef>
              <a:buFont typeface="+mj-lt"/>
              <a:buAutoNum type="arabicPeriod"/>
            </a:pPr>
            <a:r>
              <a:rPr lang="ru-US" sz="1200" dirty="0">
                <a:latin typeface="VTB Omega UI Medium" panose="020B0503040502020204" pitchFamily="34" charset="0"/>
              </a:rPr>
              <a:t>Показатели эффективности (KPI). </a:t>
            </a:r>
            <a:r>
              <a:rPr lang="ru-US" sz="1200" dirty="0"/>
              <a:t>Разработка и внедрение ключевых метрик для оценки бизнес-процессов, персонала и подразделений.</a:t>
            </a:r>
          </a:p>
          <a:p>
            <a:pPr marL="171450" lvl="0" indent="-171450">
              <a:lnSpc>
                <a:spcPts val="1450"/>
              </a:lnSpc>
              <a:spcBef>
                <a:spcPts val="500"/>
              </a:spcBef>
              <a:buFont typeface="+mj-lt"/>
              <a:buAutoNum type="arabicPeriod"/>
            </a:pPr>
            <a:r>
              <a:rPr lang="ru-US" sz="1200" dirty="0">
                <a:latin typeface="VTB Omega UI Medium" panose="020B0503040502020204" pitchFamily="34" charset="0"/>
              </a:rPr>
              <a:t>Качество данных. </a:t>
            </a:r>
            <a:r>
              <a:rPr lang="ru-US" sz="1200" dirty="0"/>
              <a:t>Инструменты проверки достоверности данных, управление рисками ошибок и искажений в отчетности.</a:t>
            </a:r>
            <a:endParaRPr lang="ru-US" sz="1200" dirty="0">
              <a:effectLst/>
            </a:endParaRPr>
          </a:p>
        </p:txBody>
      </p:sp>
      <p:sp>
        <p:nvSpPr>
          <p:cNvPr id="23" name="Текст">
            <a:extLst>
              <a:ext uri="{FF2B5EF4-FFF2-40B4-BE49-F238E27FC236}">
                <a16:creationId xmlns:a16="http://schemas.microsoft.com/office/drawing/2014/main" id="{CDA526EC-8920-69CE-3985-278921DF73D1}"/>
              </a:ext>
            </a:extLst>
          </p:cNvPr>
          <p:cNvSpPr txBox="1"/>
          <p:nvPr/>
        </p:nvSpPr>
        <p:spPr>
          <a:xfrm>
            <a:off x="371474" y="1441960"/>
            <a:ext cx="39370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ru-RU" sz="1100" dirty="0">
                <a:solidFill>
                  <a:srgbClr val="4A5361"/>
                </a:solidFill>
                <a:latin typeface="VTB Omega UI"/>
              </a:rPr>
              <a:t>Продолжительность</a:t>
            </a:r>
          </a:p>
          <a:p>
            <a:r>
              <a:rPr lang="ru-RU" sz="1400" dirty="0">
                <a:solidFill>
                  <a:srgbClr val="1C1C1C"/>
                </a:solidFill>
                <a:latin typeface="VTB Omega UI Medium"/>
              </a:rPr>
              <a:t>24 ак. ч</a:t>
            </a:r>
          </a:p>
        </p:txBody>
      </p:sp>
      <p:sp>
        <p:nvSpPr>
          <p:cNvPr id="24" name="Текст">
            <a:extLst>
              <a:ext uri="{FF2B5EF4-FFF2-40B4-BE49-F238E27FC236}">
                <a16:creationId xmlns:a16="http://schemas.microsoft.com/office/drawing/2014/main" id="{B4E5FDC9-A797-F93A-2A71-4EEAC14A0231}"/>
              </a:ext>
            </a:extLst>
          </p:cNvPr>
          <p:cNvSpPr txBox="1"/>
          <p:nvPr/>
        </p:nvSpPr>
        <p:spPr>
          <a:xfrm>
            <a:off x="7112000" y="2629759"/>
            <a:ext cx="4699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ru-RU" sz="1400" dirty="0">
                <a:solidFill>
                  <a:srgbClr val="1C1C1C"/>
                </a:solidFill>
                <a:latin typeface="VTB Omega UI Medium"/>
              </a:rPr>
              <a:t>Особенности</a:t>
            </a:r>
          </a:p>
        </p:txBody>
      </p:sp>
      <p:sp>
        <p:nvSpPr>
          <p:cNvPr id="25" name="Текст">
            <a:extLst>
              <a:ext uri="{FF2B5EF4-FFF2-40B4-BE49-F238E27FC236}">
                <a16:creationId xmlns:a16="http://schemas.microsoft.com/office/drawing/2014/main" id="{C7D8E2E7-6440-35D2-96C7-EC0214AB4F1B}"/>
              </a:ext>
            </a:extLst>
          </p:cNvPr>
          <p:cNvSpPr txBox="1"/>
          <p:nvPr/>
        </p:nvSpPr>
        <p:spPr>
          <a:xfrm>
            <a:off x="7112000" y="3055984"/>
            <a:ext cx="4445000" cy="1719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ts val="1450"/>
              </a:lnSpc>
              <a:buClr>
                <a:srgbClr val="1E4BD2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latin typeface="VTB Omega UI"/>
              </a:rPr>
              <a:t>Материал основан на </a:t>
            </a:r>
            <a:r>
              <a:rPr lang="ru-RU" sz="1200" dirty="0">
                <a:latin typeface="VTB Omega UI Medium"/>
              </a:rPr>
              <a:t>реальных бизнес-задачах</a:t>
            </a:r>
            <a:r>
              <a:rPr lang="ru-RU" sz="1200" dirty="0">
                <a:latin typeface="VTB Omega UI"/>
              </a:rPr>
              <a:t> из практики Банка</a:t>
            </a:r>
          </a:p>
          <a:p>
            <a:pPr marL="171450" indent="-171450" algn="l">
              <a:lnSpc>
                <a:spcPts val="1450"/>
              </a:lnSpc>
              <a:spcBef>
                <a:spcPts val="500"/>
              </a:spcBef>
              <a:buClr>
                <a:srgbClr val="1E4BD2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latin typeface="VTB Omega UI Medium"/>
              </a:rPr>
              <a:t>Круглосуточный доступ</a:t>
            </a:r>
            <a:r>
              <a:rPr lang="ru-RU" sz="1200" dirty="0">
                <a:latin typeface="VTB Omega UI"/>
              </a:rPr>
              <a:t> к материалам курсов на онлайн-платформе academy.vtb.ru</a:t>
            </a:r>
          </a:p>
          <a:p>
            <a:pPr marL="171450" indent="-171450" algn="l">
              <a:lnSpc>
                <a:spcPts val="1450"/>
              </a:lnSpc>
              <a:spcBef>
                <a:spcPts val="500"/>
              </a:spcBef>
              <a:buClr>
                <a:srgbClr val="1E4BD2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latin typeface="VTB Omega UI"/>
              </a:rPr>
              <a:t>Спикеры — </a:t>
            </a:r>
            <a:r>
              <a:rPr lang="ru-RU" sz="1200" dirty="0">
                <a:latin typeface="VTB Omega UI Medium"/>
              </a:rPr>
              <a:t>лидеры ВТБ</a:t>
            </a:r>
            <a:r>
              <a:rPr lang="ru-RU" sz="1200" dirty="0">
                <a:latin typeface="VTB Omega UI"/>
              </a:rPr>
              <a:t> с международными квалификациями </a:t>
            </a:r>
            <a:r>
              <a:rPr lang="ru-RU" sz="1200" dirty="0">
                <a:latin typeface="VTB Omega UI Medium"/>
              </a:rPr>
              <a:t>ACCA, CIMA</a:t>
            </a:r>
          </a:p>
          <a:p>
            <a:pPr marL="171450" indent="-171450" algn="l">
              <a:lnSpc>
                <a:spcPts val="1450"/>
              </a:lnSpc>
              <a:spcBef>
                <a:spcPts val="500"/>
              </a:spcBef>
              <a:buClr>
                <a:srgbClr val="1E4BD2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latin typeface="VTB Omega UI Medium"/>
              </a:rPr>
              <a:t>Сертификат о прохождении онлайн-интенсива</a:t>
            </a:r>
            <a:r>
              <a:rPr lang="ru-RU" sz="1200" dirty="0">
                <a:latin typeface="VTB Omega UI"/>
              </a:rPr>
              <a:t> для завершивших программу</a:t>
            </a:r>
          </a:p>
        </p:txBody>
      </p:sp>
    </p:spTree>
    <p:extLst>
      <p:ext uri="{BB962C8B-B14F-4D97-AF65-F5344CB8AC3E}">
        <p14:creationId xmlns:p14="http://schemas.microsoft.com/office/powerpoint/2010/main" val="4075314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11C67-AD7B-3E78-585C-80075C39B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арточка">
            <a:extLst>
              <a:ext uri="{FF2B5EF4-FFF2-40B4-BE49-F238E27FC236}">
                <a16:creationId xmlns:a16="http://schemas.microsoft.com/office/drawing/2014/main" id="{B4A6825C-D00E-4901-51E9-3E470A50DCC5}"/>
              </a:ext>
            </a:extLst>
          </p:cNvPr>
          <p:cNvSpPr/>
          <p:nvPr/>
        </p:nvSpPr>
        <p:spPr>
          <a:xfrm>
            <a:off x="6894534" y="2161079"/>
            <a:ext cx="4916466" cy="4103594"/>
          </a:xfrm>
          <a:prstGeom prst="roundRect">
            <a:avLst>
              <a:gd name="adj" fmla="val 2222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3964551D-5833-172A-26C9-1325F8D8C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370687"/>
            <a:ext cx="8772526" cy="369332"/>
          </a:xfrm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3100"/>
              </a:lnSpc>
            </a:pPr>
            <a:r>
              <a:rPr lang="ru-RU" sz="2400" dirty="0">
                <a:solidFill>
                  <a:srgbClr val="000000"/>
                </a:solidFill>
              </a:rPr>
              <a:t>Цифровые финансовые активы: банковский взгляд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0FA96D8-C1E1-2026-BFAF-64B96D16EF8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E9794C1B-C881-42F5-9B4F-0D6130829943}" type="slidenum">
              <a:rPr lang="ru-RU" smtClean="0"/>
              <a:pPr>
                <a:defRPr/>
              </a:pPr>
              <a:t>14</a:t>
            </a:fld>
            <a:endParaRPr lang="ru-RU" dirty="0"/>
          </a:p>
        </p:txBody>
      </p:sp>
      <p:sp>
        <p:nvSpPr>
          <p:cNvPr id="10" name="Текст">
            <a:extLst>
              <a:ext uri="{FF2B5EF4-FFF2-40B4-BE49-F238E27FC236}">
                <a16:creationId xmlns:a16="http://schemas.microsoft.com/office/drawing/2014/main" id="{18F6ADD3-61C9-0359-502E-997FF22A8628}"/>
              </a:ext>
            </a:extLst>
          </p:cNvPr>
          <p:cNvSpPr txBox="1"/>
          <p:nvPr/>
        </p:nvSpPr>
        <p:spPr>
          <a:xfrm>
            <a:off x="381000" y="918987"/>
            <a:ext cx="1143952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US" sz="1200" dirty="0"/>
              <a:t>Курс «Цифровые финансовые активы. Банковский взгляд», разработанный экспертами банка ВТБ, предназначен для студентов вузов, которые хотят разобраться, как работает рынок цифровых финансовых активов и как с этим инструментом работают банкиры.</a:t>
            </a:r>
            <a:endParaRPr sz="1200" dirty="0">
              <a:solidFill>
                <a:srgbClr val="4A5361"/>
              </a:solidFill>
              <a:latin typeface="VTB Omega UI"/>
            </a:endParaRPr>
          </a:p>
        </p:txBody>
      </p:sp>
      <p:sp>
        <p:nvSpPr>
          <p:cNvPr id="11" name="Карточка">
            <a:extLst>
              <a:ext uri="{FF2B5EF4-FFF2-40B4-BE49-F238E27FC236}">
                <a16:creationId xmlns:a16="http://schemas.microsoft.com/office/drawing/2014/main" id="{0A99A904-8BA4-08E1-5C6E-E4B8D65764AF}"/>
              </a:ext>
            </a:extLst>
          </p:cNvPr>
          <p:cNvSpPr/>
          <p:nvPr/>
        </p:nvSpPr>
        <p:spPr>
          <a:xfrm>
            <a:off x="381000" y="2167031"/>
            <a:ext cx="6350000" cy="4103594"/>
          </a:xfrm>
          <a:prstGeom prst="roundRect">
            <a:avLst>
              <a:gd name="adj" fmla="val 2222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Текст">
            <a:extLst>
              <a:ext uri="{FF2B5EF4-FFF2-40B4-BE49-F238E27FC236}">
                <a16:creationId xmlns:a16="http://schemas.microsoft.com/office/drawing/2014/main" id="{8C04773C-5915-8E98-256B-F7D996AF8D1B}"/>
              </a:ext>
            </a:extLst>
          </p:cNvPr>
          <p:cNvSpPr txBox="1"/>
          <p:nvPr/>
        </p:nvSpPr>
        <p:spPr>
          <a:xfrm>
            <a:off x="635000" y="2378264"/>
            <a:ext cx="5842000" cy="225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20"/>
              </a:lnSpc>
            </a:pPr>
            <a:r>
              <a:rPr lang="ru-RU" sz="1400" dirty="0">
                <a:solidFill>
                  <a:srgbClr val="1C1C1C"/>
                </a:solidFill>
                <a:latin typeface="VTB Omega UI Medium"/>
              </a:rPr>
              <a:t>Содержание курса</a:t>
            </a:r>
          </a:p>
        </p:txBody>
      </p:sp>
      <p:sp>
        <p:nvSpPr>
          <p:cNvPr id="13" name="Текст">
            <a:extLst>
              <a:ext uri="{FF2B5EF4-FFF2-40B4-BE49-F238E27FC236}">
                <a16:creationId xmlns:a16="http://schemas.microsoft.com/office/drawing/2014/main" id="{1D65A204-0EC2-E02E-FA9A-40E721CD0D37}"/>
              </a:ext>
            </a:extLst>
          </p:cNvPr>
          <p:cNvSpPr txBox="1"/>
          <p:nvPr/>
        </p:nvSpPr>
        <p:spPr>
          <a:xfrm>
            <a:off x="635000" y="2815136"/>
            <a:ext cx="5842000" cy="3139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lvl="0" indent="-228600">
              <a:buFont typeface="+mj-lt"/>
              <a:buAutoNum type="arabicPeriod"/>
            </a:pPr>
            <a:r>
              <a:rPr lang="ru-US" sz="1200" dirty="0">
                <a:latin typeface="VTB Omega UI Medium" panose="020B0503040502020204" pitchFamily="34" charset="0"/>
              </a:rPr>
              <a:t>Введение в ЦФА. Регулирование и правовой статус ЦФА. </a:t>
            </a:r>
            <a:r>
              <a:rPr lang="ru-US" sz="1200" dirty="0"/>
              <a:t>Что такое ЦФА, какие законы регулируют рынок и каков правовой статус активов.</a:t>
            </a:r>
          </a:p>
          <a:p>
            <a:pPr marL="228600" lvl="0" indent="-228600">
              <a:buFont typeface="+mj-lt"/>
              <a:buAutoNum type="arabicPeriod"/>
            </a:pPr>
            <a:r>
              <a:rPr lang="ru-US" sz="1200" dirty="0">
                <a:latin typeface="VTB Omega UI Medium" panose="020B0503040502020204" pitchFamily="34" charset="0"/>
              </a:rPr>
              <a:t>Технологическая основа ЦФА. </a:t>
            </a:r>
            <a:r>
              <a:rPr lang="ru-US" sz="1200" dirty="0"/>
              <a:t>Технологии, на которых строится выпуск и обращение цифровых финансовых активов.</a:t>
            </a:r>
          </a:p>
          <a:p>
            <a:pPr marL="228600" lvl="0" indent="-228600">
              <a:buFont typeface="+mj-lt"/>
              <a:buAutoNum type="arabicPeriod"/>
            </a:pPr>
            <a:r>
              <a:rPr lang="ru-US" sz="1200" dirty="0">
                <a:latin typeface="VTB Omega UI Medium" panose="020B0503040502020204" pitchFamily="34" charset="0"/>
              </a:rPr>
              <a:t>Бухгалтерский учёт ЦФА в кредитной организации. </a:t>
            </a:r>
            <a:r>
              <a:rPr lang="ru-US" sz="1200" dirty="0"/>
              <a:t>Порядок отражения операций с ЦФА в учёте банка.</a:t>
            </a:r>
          </a:p>
          <a:p>
            <a:pPr marL="228600" lvl="0" indent="-228600">
              <a:buFont typeface="+mj-lt"/>
              <a:buAutoNum type="arabicPeriod"/>
            </a:pPr>
            <a:r>
              <a:rPr lang="ru-US" sz="1200" dirty="0">
                <a:latin typeface="VTB Omega UI Medium" panose="020B0503040502020204" pitchFamily="34" charset="0"/>
              </a:rPr>
              <a:t>Налоговое регулирование ЦФА. </a:t>
            </a:r>
            <a:r>
              <a:rPr lang="ru-US" sz="1200" dirty="0"/>
              <a:t>Налоговые аспекты сделок с цифровыми финансовыми активами.</a:t>
            </a:r>
          </a:p>
          <a:p>
            <a:pPr marL="228600" lvl="0" indent="-228600">
              <a:buFont typeface="+mj-lt"/>
              <a:buAutoNum type="arabicPeriod"/>
            </a:pPr>
            <a:r>
              <a:rPr lang="ru-US" sz="1200" dirty="0">
                <a:latin typeface="VTB Omega UI Medium" panose="020B0503040502020204" pitchFamily="34" charset="0"/>
              </a:rPr>
              <a:t>Отчётность ЦФА по международным стандартам. </a:t>
            </a:r>
            <a:r>
              <a:rPr lang="ru-US" sz="1200" dirty="0"/>
              <a:t>Отражение операций с ЦФА в отчётности по международным стандартам.</a:t>
            </a:r>
          </a:p>
          <a:p>
            <a:pPr marL="228600" lvl="0" indent="-228600">
              <a:buFont typeface="+mj-lt"/>
              <a:buAutoNum type="arabicPeriod"/>
            </a:pPr>
            <a:r>
              <a:rPr lang="ru-US" sz="1200" dirty="0">
                <a:latin typeface="VTB Omega UI Medium" panose="020B0503040502020204" pitchFamily="34" charset="0"/>
              </a:rPr>
              <a:t>Инвестиции в цифровые активы: основы. </a:t>
            </a:r>
            <a:r>
              <a:rPr lang="ru-US" sz="1200" dirty="0"/>
              <a:t>Возможности использования ЦФА как объекта инвестирования.</a:t>
            </a:r>
          </a:p>
          <a:p>
            <a:pPr marL="228600" lvl="0" indent="-228600">
              <a:buFont typeface="+mj-lt"/>
              <a:buAutoNum type="arabicPeriod"/>
            </a:pPr>
            <a:r>
              <a:rPr lang="ru-US" sz="1200" dirty="0">
                <a:latin typeface="VTB Omega UI Medium" panose="020B0503040502020204" pitchFamily="34" charset="0"/>
              </a:rPr>
              <a:t>Риски и безопасность работы с цифровыми активами. </a:t>
            </a:r>
            <a:r>
              <a:rPr lang="ru-US" sz="1200" dirty="0"/>
              <a:t>Основные риски, связанные с ЦФА, и подходы к безопасной работе с ними.</a:t>
            </a:r>
          </a:p>
          <a:p>
            <a:pPr marL="228600" lvl="0" indent="-228600">
              <a:buFont typeface="+mj-lt"/>
              <a:buAutoNum type="arabicPeriod"/>
            </a:pPr>
            <a:r>
              <a:rPr lang="ru-US" sz="1200" dirty="0">
                <a:latin typeface="VTB Omega UI Medium" panose="020B0503040502020204" pitchFamily="34" charset="0"/>
              </a:rPr>
              <a:t>Перспективы развития цифровых активов. </a:t>
            </a:r>
            <a:r>
              <a:rPr lang="ru-US" sz="1200" dirty="0"/>
              <a:t>Направления и перспективы развития рынка цифровых активов.</a:t>
            </a:r>
            <a:endParaRPr lang="ru-US" sz="1200" dirty="0">
              <a:effectLst/>
            </a:endParaRPr>
          </a:p>
        </p:txBody>
      </p:sp>
      <p:sp>
        <p:nvSpPr>
          <p:cNvPr id="23" name="Текст">
            <a:extLst>
              <a:ext uri="{FF2B5EF4-FFF2-40B4-BE49-F238E27FC236}">
                <a16:creationId xmlns:a16="http://schemas.microsoft.com/office/drawing/2014/main" id="{3B3446E3-7268-89D2-A86A-A21C5341EAA4}"/>
              </a:ext>
            </a:extLst>
          </p:cNvPr>
          <p:cNvSpPr txBox="1"/>
          <p:nvPr/>
        </p:nvSpPr>
        <p:spPr>
          <a:xfrm>
            <a:off x="371474" y="1288319"/>
            <a:ext cx="39370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ru-RU" sz="1100" dirty="0">
                <a:solidFill>
                  <a:srgbClr val="4A5361"/>
                </a:solidFill>
                <a:latin typeface="VTB Omega UI"/>
              </a:rPr>
              <a:t>Продолжительность</a:t>
            </a:r>
          </a:p>
          <a:p>
            <a:r>
              <a:rPr lang="ru-RU" sz="1400" dirty="0">
                <a:solidFill>
                  <a:srgbClr val="1C1C1C"/>
                </a:solidFill>
                <a:latin typeface="VTB Omega UI Medium"/>
              </a:rPr>
              <a:t>24 ак. ч</a:t>
            </a:r>
          </a:p>
        </p:txBody>
      </p:sp>
      <p:sp>
        <p:nvSpPr>
          <p:cNvPr id="24" name="Текст">
            <a:extLst>
              <a:ext uri="{FF2B5EF4-FFF2-40B4-BE49-F238E27FC236}">
                <a16:creationId xmlns:a16="http://schemas.microsoft.com/office/drawing/2014/main" id="{4819FAD7-AF39-F459-6019-A70A24BAAB1E}"/>
              </a:ext>
            </a:extLst>
          </p:cNvPr>
          <p:cNvSpPr txBox="1"/>
          <p:nvPr/>
        </p:nvSpPr>
        <p:spPr>
          <a:xfrm>
            <a:off x="7112000" y="2388459"/>
            <a:ext cx="4699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ru-RU" sz="1400" dirty="0">
                <a:solidFill>
                  <a:srgbClr val="1C1C1C"/>
                </a:solidFill>
                <a:latin typeface="VTB Omega UI Medium"/>
              </a:rPr>
              <a:t>Особенности</a:t>
            </a:r>
          </a:p>
        </p:txBody>
      </p:sp>
      <p:sp>
        <p:nvSpPr>
          <p:cNvPr id="25" name="Текст">
            <a:extLst>
              <a:ext uri="{FF2B5EF4-FFF2-40B4-BE49-F238E27FC236}">
                <a16:creationId xmlns:a16="http://schemas.microsoft.com/office/drawing/2014/main" id="{3328F44A-C6DF-03A4-F45E-25C16E892F8B}"/>
              </a:ext>
            </a:extLst>
          </p:cNvPr>
          <p:cNvSpPr txBox="1"/>
          <p:nvPr/>
        </p:nvSpPr>
        <p:spPr>
          <a:xfrm>
            <a:off x="7112000" y="2814684"/>
            <a:ext cx="4445000" cy="1719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ts val="1450"/>
              </a:lnSpc>
              <a:buClr>
                <a:srgbClr val="1E4BD2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latin typeface="VTB Omega UI"/>
              </a:rPr>
              <a:t>Материал основан на </a:t>
            </a:r>
            <a:r>
              <a:rPr lang="ru-RU" sz="1200" dirty="0">
                <a:latin typeface="VTB Omega UI Medium"/>
              </a:rPr>
              <a:t>реальных бизнес-задачах</a:t>
            </a:r>
            <a:r>
              <a:rPr lang="ru-RU" sz="1200" dirty="0">
                <a:latin typeface="VTB Omega UI"/>
              </a:rPr>
              <a:t> из практики Банка</a:t>
            </a:r>
          </a:p>
          <a:p>
            <a:pPr marL="171450" indent="-171450" algn="l">
              <a:lnSpc>
                <a:spcPts val="1450"/>
              </a:lnSpc>
              <a:spcBef>
                <a:spcPts val="500"/>
              </a:spcBef>
              <a:buClr>
                <a:srgbClr val="1E4BD2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latin typeface="VTB Omega UI Medium"/>
              </a:rPr>
              <a:t>Круглосуточный доступ</a:t>
            </a:r>
            <a:r>
              <a:rPr lang="ru-RU" sz="1200" dirty="0">
                <a:latin typeface="VTB Omega UI"/>
              </a:rPr>
              <a:t> к материалам курсов на онлайн-платформе academy.vtb.ru</a:t>
            </a:r>
          </a:p>
          <a:p>
            <a:pPr marL="171450" indent="-171450" algn="l">
              <a:lnSpc>
                <a:spcPts val="1450"/>
              </a:lnSpc>
              <a:spcBef>
                <a:spcPts val="500"/>
              </a:spcBef>
              <a:buClr>
                <a:srgbClr val="1E4BD2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latin typeface="VTB Omega UI"/>
              </a:rPr>
              <a:t>Спикеры — </a:t>
            </a:r>
            <a:r>
              <a:rPr lang="ru-RU" sz="1200" dirty="0">
                <a:latin typeface="VTB Omega UI Medium"/>
              </a:rPr>
              <a:t>лидеры ВТБ</a:t>
            </a:r>
            <a:r>
              <a:rPr lang="ru-RU" sz="1200" dirty="0">
                <a:latin typeface="VTB Omega UI"/>
              </a:rPr>
              <a:t> с международными квалификациями </a:t>
            </a:r>
            <a:r>
              <a:rPr lang="ru-RU" sz="1200" dirty="0">
                <a:latin typeface="VTB Omega UI Medium"/>
              </a:rPr>
              <a:t>ACCA, CIMA</a:t>
            </a:r>
          </a:p>
          <a:p>
            <a:pPr marL="171450" indent="-171450" algn="l">
              <a:lnSpc>
                <a:spcPts val="1450"/>
              </a:lnSpc>
              <a:spcBef>
                <a:spcPts val="500"/>
              </a:spcBef>
              <a:buClr>
                <a:srgbClr val="1E4BD2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latin typeface="VTB Omega UI Medium"/>
              </a:rPr>
              <a:t>Сертификат о прохождении онлайн-интенсива</a:t>
            </a:r>
            <a:r>
              <a:rPr lang="ru-RU" sz="1200" dirty="0">
                <a:latin typeface="VTB Omega UI"/>
              </a:rPr>
              <a:t> для завершивших программу</a:t>
            </a:r>
          </a:p>
        </p:txBody>
      </p:sp>
    </p:spTree>
    <p:extLst>
      <p:ext uri="{BB962C8B-B14F-4D97-AF65-F5344CB8AC3E}">
        <p14:creationId xmlns:p14="http://schemas.microsoft.com/office/powerpoint/2010/main" val="1906736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C5E59-B38D-8EA2-BF37-54B3F898D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арточка">
            <a:extLst>
              <a:ext uri="{FF2B5EF4-FFF2-40B4-BE49-F238E27FC236}">
                <a16:creationId xmlns:a16="http://schemas.microsoft.com/office/drawing/2014/main" id="{3A6B0B93-A93E-EA97-B2EC-808C20A10F26}"/>
              </a:ext>
            </a:extLst>
          </p:cNvPr>
          <p:cNvSpPr/>
          <p:nvPr/>
        </p:nvSpPr>
        <p:spPr>
          <a:xfrm>
            <a:off x="7112000" y="1902025"/>
            <a:ext cx="4699000" cy="4432987"/>
          </a:xfrm>
          <a:prstGeom prst="roundRect">
            <a:avLst>
              <a:gd name="adj" fmla="val 2222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060DD3B-D2FF-990D-E296-49FDD4AF6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normAutofit/>
          </a:bodyPr>
          <a:lstStyle/>
          <a:p>
            <a:pPr>
              <a:lnSpc>
                <a:spcPts val="3100"/>
              </a:lnSpc>
            </a:pPr>
            <a:r>
              <a:rPr lang="ru-RU" sz="2400" dirty="0">
                <a:solidFill>
                  <a:srgbClr val="000000"/>
                </a:solidFill>
              </a:rPr>
              <a:t>Финансовое</a:t>
            </a:r>
            <a:r>
              <a:rPr lang="ru-RU" sz="2800" dirty="0">
                <a:solidFill>
                  <a:srgbClr val="000000"/>
                </a:solidFill>
              </a:rPr>
              <a:t> моделирование в банках</a:t>
            </a:r>
            <a:endParaRPr sz="2800" dirty="0">
              <a:solidFill>
                <a:srgbClr val="000000"/>
              </a:solidFill>
            </a:endParaRP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5F156A3B-87FA-1445-8A8E-982F72DE5D3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E9794C1B-C881-42F5-9B4F-0D6130829943}" type="slidenum">
              <a:rPr lang="ru-RU" smtClean="0"/>
              <a:pPr>
                <a:defRPr/>
              </a:pPr>
              <a:t>15</a:t>
            </a:fld>
            <a:endParaRPr lang="ru-RU" dirty="0"/>
          </a:p>
        </p:txBody>
      </p:sp>
      <p:sp>
        <p:nvSpPr>
          <p:cNvPr id="10" name="Текст">
            <a:extLst>
              <a:ext uri="{FF2B5EF4-FFF2-40B4-BE49-F238E27FC236}">
                <a16:creationId xmlns:a16="http://schemas.microsoft.com/office/drawing/2014/main" id="{9A7618DA-69D9-68ED-C493-DEDA5DA1865C}"/>
              </a:ext>
            </a:extLst>
          </p:cNvPr>
          <p:cNvSpPr txBox="1"/>
          <p:nvPr/>
        </p:nvSpPr>
        <p:spPr>
          <a:xfrm>
            <a:off x="381000" y="850900"/>
            <a:ext cx="1143952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US" sz="1200" dirty="0"/>
              <a:t>Курс «Финансовое моделирование в банках» разработан совместно экспертами банка ВТБ и ВТБ Образование. Он предназначен для студентов вузов, которые хотят освоить построение и применение финансовых моделей в реальной практике. </a:t>
            </a:r>
            <a:endParaRPr sz="1200" dirty="0">
              <a:solidFill>
                <a:srgbClr val="4A5361"/>
              </a:solidFill>
              <a:latin typeface="VTB Omega UI"/>
            </a:endParaRPr>
          </a:p>
        </p:txBody>
      </p:sp>
      <p:sp>
        <p:nvSpPr>
          <p:cNvPr id="11" name="Карточка">
            <a:extLst>
              <a:ext uri="{FF2B5EF4-FFF2-40B4-BE49-F238E27FC236}">
                <a16:creationId xmlns:a16="http://schemas.microsoft.com/office/drawing/2014/main" id="{E7BA39FC-708D-E883-73AA-9C7D8BBB944B}"/>
              </a:ext>
            </a:extLst>
          </p:cNvPr>
          <p:cNvSpPr/>
          <p:nvPr/>
        </p:nvSpPr>
        <p:spPr>
          <a:xfrm>
            <a:off x="380999" y="1907977"/>
            <a:ext cx="6612467" cy="4432987"/>
          </a:xfrm>
          <a:prstGeom prst="roundRect">
            <a:avLst>
              <a:gd name="adj" fmla="val 2222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Текст">
            <a:extLst>
              <a:ext uri="{FF2B5EF4-FFF2-40B4-BE49-F238E27FC236}">
                <a16:creationId xmlns:a16="http://schemas.microsoft.com/office/drawing/2014/main" id="{E0573163-DCDC-4584-6A49-7312E0ACE42F}"/>
              </a:ext>
            </a:extLst>
          </p:cNvPr>
          <p:cNvSpPr txBox="1"/>
          <p:nvPr/>
        </p:nvSpPr>
        <p:spPr>
          <a:xfrm>
            <a:off x="635000" y="2119210"/>
            <a:ext cx="5842000" cy="225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20"/>
              </a:lnSpc>
            </a:pPr>
            <a:r>
              <a:rPr lang="ru-RU" sz="1400" dirty="0">
                <a:solidFill>
                  <a:srgbClr val="1C1C1C"/>
                </a:solidFill>
                <a:latin typeface="VTB Omega UI Medium"/>
              </a:rPr>
              <a:t>Содержание курса</a:t>
            </a:r>
          </a:p>
        </p:txBody>
      </p:sp>
      <p:sp>
        <p:nvSpPr>
          <p:cNvPr id="13" name="Текст">
            <a:extLst>
              <a:ext uri="{FF2B5EF4-FFF2-40B4-BE49-F238E27FC236}">
                <a16:creationId xmlns:a16="http://schemas.microsoft.com/office/drawing/2014/main" id="{F6C6C59C-936E-37D8-FDCE-5BB0A2DCE2E7}"/>
              </a:ext>
            </a:extLst>
          </p:cNvPr>
          <p:cNvSpPr txBox="1"/>
          <p:nvPr/>
        </p:nvSpPr>
        <p:spPr>
          <a:xfrm>
            <a:off x="635000" y="2555630"/>
            <a:ext cx="6096000" cy="3528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7175" lvl="0" indent="-257175">
              <a:lnSpc>
                <a:spcPts val="1450"/>
              </a:lnSpc>
              <a:buFont typeface="+mj-lt"/>
              <a:buAutoNum type="arabicPeriod"/>
            </a:pPr>
            <a:r>
              <a:rPr lang="ru-US" sz="1200" dirty="0">
                <a:latin typeface="VTB Omega UI Medium" panose="020B0503040502020204" pitchFamily="34" charset="0"/>
              </a:rPr>
              <a:t>Введение в финмоделирование</a:t>
            </a:r>
            <a:r>
              <a:rPr lang="ru-US" sz="1200" dirty="0">
                <a:latin typeface="VTB Omega UI" panose="020B0503040502020204" pitchFamily="34" charset="0"/>
              </a:rPr>
              <a:t>. общая логика построения моделей.</a:t>
            </a:r>
          </a:p>
          <a:p>
            <a:pPr marL="257175" lvl="0" indent="-257175">
              <a:lnSpc>
                <a:spcPts val="1450"/>
              </a:lnSpc>
              <a:spcBef>
                <a:spcPts val="400"/>
              </a:spcBef>
              <a:buFont typeface="+mj-lt"/>
              <a:buAutoNum type="arabicPeriod"/>
            </a:pPr>
            <a:r>
              <a:rPr lang="ru-US" sz="1200" dirty="0">
                <a:latin typeface="VTB Omega UI Medium" panose="020B0503040502020204" pitchFamily="34" charset="0"/>
              </a:rPr>
              <a:t>Финансовое прогнозирование: вводная часть.</a:t>
            </a:r>
            <a:r>
              <a:rPr lang="ru-US" sz="1200" dirty="0">
                <a:latin typeface="VTB Omega UI" panose="020B0503040502020204" pitchFamily="34" charset="0"/>
              </a:rPr>
              <a:t> Основные подходы к прогнозированию финансовых показателей.</a:t>
            </a:r>
          </a:p>
          <a:p>
            <a:pPr marL="257175" lvl="0" indent="-257175">
              <a:lnSpc>
                <a:spcPts val="1450"/>
              </a:lnSpc>
              <a:spcBef>
                <a:spcPts val="400"/>
              </a:spcBef>
              <a:buFont typeface="+mj-lt"/>
              <a:buAutoNum type="arabicPeriod"/>
            </a:pPr>
            <a:r>
              <a:rPr lang="ru-US" sz="1200" dirty="0">
                <a:latin typeface="VTB Omega UI Medium" panose="020B0503040502020204" pitchFamily="34" charset="0"/>
              </a:rPr>
              <a:t>Структура финансовой модели: практикум. </a:t>
            </a:r>
            <a:r>
              <a:rPr lang="ru-US" sz="1200" dirty="0">
                <a:latin typeface="VTB Omega UI" panose="020B0503040502020204" pitchFamily="34" charset="0"/>
              </a:rPr>
              <a:t>Разбор устройства модели, ключевых допущений и взаимосвязей между блоками.</a:t>
            </a:r>
          </a:p>
          <a:p>
            <a:pPr marL="257175" lvl="0" indent="-257175">
              <a:lnSpc>
                <a:spcPts val="1450"/>
              </a:lnSpc>
              <a:spcBef>
                <a:spcPts val="400"/>
              </a:spcBef>
              <a:buFont typeface="+mj-lt"/>
              <a:buAutoNum type="arabicPeriod"/>
            </a:pPr>
            <a:r>
              <a:rPr lang="ru-US" sz="1200" dirty="0">
                <a:latin typeface="VTB Omega UI Medium" panose="020B0503040502020204" pitchFamily="34" charset="0"/>
              </a:rPr>
              <a:t>Источники данных: практикум. </a:t>
            </a:r>
            <a:r>
              <a:rPr lang="ru-US" sz="1200" dirty="0">
                <a:latin typeface="VTB Omega UI" panose="020B0503040502020204" pitchFamily="34" charset="0"/>
              </a:rPr>
              <a:t>Работа с источниками данных.</a:t>
            </a:r>
          </a:p>
          <a:p>
            <a:pPr marL="257175" lvl="0" indent="-257175">
              <a:lnSpc>
                <a:spcPts val="1450"/>
              </a:lnSpc>
              <a:spcBef>
                <a:spcPts val="400"/>
              </a:spcBef>
              <a:buFont typeface="+mj-lt"/>
              <a:buAutoNum type="arabicPeriod"/>
            </a:pPr>
            <a:r>
              <a:rPr lang="ru-US" sz="1200" dirty="0">
                <a:latin typeface="VTB Omega UI Medium" panose="020B0503040502020204" pitchFamily="34" charset="0"/>
              </a:rPr>
              <a:t>Денежные потоки и инвестиционные показатели: вводная часть. </a:t>
            </a:r>
            <a:r>
              <a:rPr lang="ru-US" sz="1200" dirty="0">
                <a:latin typeface="VTB Omega UI" panose="020B0503040502020204" pitchFamily="34" charset="0"/>
              </a:rPr>
              <a:t>Анализ денежных потоков и оценка эффективности проектов.</a:t>
            </a:r>
          </a:p>
          <a:p>
            <a:pPr marL="257175" lvl="0" indent="-257175">
              <a:lnSpc>
                <a:spcPts val="1450"/>
              </a:lnSpc>
              <a:spcBef>
                <a:spcPts val="400"/>
              </a:spcBef>
              <a:buFont typeface="+mj-lt"/>
              <a:buAutoNum type="arabicPeriod"/>
            </a:pPr>
            <a:r>
              <a:rPr lang="ru-US" sz="1200" dirty="0">
                <a:latin typeface="VTB Omega UI Medium" panose="020B0503040502020204" pitchFamily="34" charset="0"/>
              </a:rPr>
              <a:t>Финансовый анализ: общий подход. </a:t>
            </a:r>
            <a:r>
              <a:rPr lang="ru-US" sz="1200" dirty="0">
                <a:latin typeface="VTB Omega UI" panose="020B0503040502020204" pitchFamily="34" charset="0"/>
              </a:rPr>
              <a:t>Методика анализа финансового состояния компании.</a:t>
            </a:r>
          </a:p>
          <a:p>
            <a:pPr marL="257175" lvl="0" indent="-257175">
              <a:lnSpc>
                <a:spcPts val="1450"/>
              </a:lnSpc>
              <a:spcBef>
                <a:spcPts val="400"/>
              </a:spcBef>
              <a:buFont typeface="+mj-lt"/>
              <a:buAutoNum type="arabicPeriod"/>
            </a:pPr>
            <a:r>
              <a:rPr lang="ru-US" sz="1200" dirty="0">
                <a:latin typeface="VTB Omega UI Medium" panose="020B0503040502020204" pitchFamily="34" charset="0"/>
              </a:rPr>
              <a:t>Оценка компаний: общий подход. </a:t>
            </a:r>
            <a:r>
              <a:rPr lang="ru-US" sz="1200" dirty="0">
                <a:latin typeface="VTB Omega UI" panose="020B0503040502020204" pitchFamily="34" charset="0"/>
              </a:rPr>
              <a:t>Основные методы оценки стоимости.</a:t>
            </a:r>
          </a:p>
          <a:p>
            <a:pPr marL="257175" lvl="0" indent="-257175">
              <a:lnSpc>
                <a:spcPts val="1450"/>
              </a:lnSpc>
              <a:spcBef>
                <a:spcPts val="400"/>
              </a:spcBef>
              <a:buFont typeface="+mj-lt"/>
              <a:buAutoNum type="arabicPeriod"/>
            </a:pPr>
            <a:r>
              <a:rPr lang="ru-US" sz="1200" dirty="0">
                <a:latin typeface="VTB Omega UI Medium" panose="020B0503040502020204" pitchFamily="34" charset="0"/>
              </a:rPr>
              <a:t>Оценка компаний: практикум. </a:t>
            </a:r>
            <a:r>
              <a:rPr lang="ru-US" sz="1200" dirty="0">
                <a:latin typeface="VTB Omega UI" panose="020B0503040502020204" pitchFamily="34" charset="0"/>
              </a:rPr>
              <a:t>Применение методов оценки.</a:t>
            </a:r>
          </a:p>
          <a:p>
            <a:pPr marL="257175" lvl="0" indent="-257175">
              <a:lnSpc>
                <a:spcPts val="1450"/>
              </a:lnSpc>
              <a:spcBef>
                <a:spcPts val="400"/>
              </a:spcBef>
              <a:buFont typeface="+mj-lt"/>
              <a:buAutoNum type="arabicPeriod"/>
            </a:pPr>
            <a:r>
              <a:rPr lang="ru-US" sz="1200" dirty="0">
                <a:latin typeface="VTB Omega UI Medium" panose="020B0503040502020204" pitchFamily="34" charset="0"/>
              </a:rPr>
              <a:t>Введение в финмоделирование финансовых организаций. </a:t>
            </a:r>
            <a:r>
              <a:rPr lang="ru-US" sz="1200" dirty="0">
                <a:latin typeface="VTB Omega UI" panose="020B0503040502020204" pitchFamily="34" charset="0"/>
              </a:rPr>
              <a:t>Особенности моделей банков и других кредитных организаций.</a:t>
            </a:r>
          </a:p>
          <a:p>
            <a:pPr marL="257175" lvl="0" indent="-257175">
              <a:lnSpc>
                <a:spcPts val="1450"/>
              </a:lnSpc>
              <a:spcBef>
                <a:spcPts val="400"/>
              </a:spcBef>
              <a:buFont typeface="+mj-lt"/>
              <a:buAutoNum type="arabicPeriod"/>
            </a:pPr>
            <a:r>
              <a:rPr lang="ru-US" sz="1200" dirty="0">
                <a:latin typeface="VTB Omega UI Medium" panose="020B0503040502020204" pitchFamily="34" charset="0"/>
              </a:rPr>
              <a:t>Финансовый анализ кредитных организаций. </a:t>
            </a:r>
            <a:r>
              <a:rPr lang="ru-US" sz="1200" dirty="0">
                <a:latin typeface="VTB Omega UI" panose="020B0503040502020204" pitchFamily="34" charset="0"/>
              </a:rPr>
              <a:t>Ключевые показатели и методы анализа деятельности банков.</a:t>
            </a:r>
            <a:endParaRPr lang="ru-US" sz="1200" dirty="0">
              <a:effectLst/>
              <a:latin typeface="VTB Omega UI" panose="020B0503040502020204" pitchFamily="34" charset="0"/>
            </a:endParaRPr>
          </a:p>
        </p:txBody>
      </p:sp>
      <p:sp>
        <p:nvSpPr>
          <p:cNvPr id="23" name="Текст">
            <a:extLst>
              <a:ext uri="{FF2B5EF4-FFF2-40B4-BE49-F238E27FC236}">
                <a16:creationId xmlns:a16="http://schemas.microsoft.com/office/drawing/2014/main" id="{164D9502-2F60-D172-E6AE-DC6C9B92CA4D}"/>
              </a:ext>
            </a:extLst>
          </p:cNvPr>
          <p:cNvSpPr txBox="1"/>
          <p:nvPr/>
        </p:nvSpPr>
        <p:spPr>
          <a:xfrm>
            <a:off x="380999" y="1145886"/>
            <a:ext cx="39370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ru-RU" sz="1100" dirty="0">
                <a:solidFill>
                  <a:srgbClr val="4A5361"/>
                </a:solidFill>
                <a:latin typeface="VTB Omega UI"/>
              </a:rPr>
              <a:t>Продолжительность</a:t>
            </a:r>
          </a:p>
          <a:p>
            <a:pPr algn="l">
              <a:buNone/>
            </a:pPr>
            <a:r>
              <a:rPr lang="ru-RU" sz="1400" dirty="0">
                <a:solidFill>
                  <a:srgbClr val="1C1C1C"/>
                </a:solidFill>
                <a:latin typeface="VTB Omega UI Medium"/>
              </a:rPr>
              <a:t>48 ак. ч</a:t>
            </a:r>
          </a:p>
        </p:txBody>
      </p:sp>
      <p:sp>
        <p:nvSpPr>
          <p:cNvPr id="24" name="Текст">
            <a:extLst>
              <a:ext uri="{FF2B5EF4-FFF2-40B4-BE49-F238E27FC236}">
                <a16:creationId xmlns:a16="http://schemas.microsoft.com/office/drawing/2014/main" id="{A9E4E221-B195-9A0B-ED2F-E954B317A444}"/>
              </a:ext>
            </a:extLst>
          </p:cNvPr>
          <p:cNvSpPr txBox="1"/>
          <p:nvPr/>
        </p:nvSpPr>
        <p:spPr>
          <a:xfrm>
            <a:off x="7366000" y="2129405"/>
            <a:ext cx="4699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ru-RU" sz="1400" dirty="0">
                <a:solidFill>
                  <a:srgbClr val="1C1C1C"/>
                </a:solidFill>
                <a:latin typeface="VTB Omega UI Medium"/>
              </a:rPr>
              <a:t>Особенности</a:t>
            </a:r>
          </a:p>
        </p:txBody>
      </p:sp>
      <p:sp>
        <p:nvSpPr>
          <p:cNvPr id="25" name="Текст">
            <a:extLst>
              <a:ext uri="{FF2B5EF4-FFF2-40B4-BE49-F238E27FC236}">
                <a16:creationId xmlns:a16="http://schemas.microsoft.com/office/drawing/2014/main" id="{0B9CBC26-132A-57D3-341E-BCB33F42B048}"/>
              </a:ext>
            </a:extLst>
          </p:cNvPr>
          <p:cNvSpPr txBox="1"/>
          <p:nvPr/>
        </p:nvSpPr>
        <p:spPr>
          <a:xfrm>
            <a:off x="7366000" y="2555630"/>
            <a:ext cx="4445000" cy="1719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ts val="1450"/>
              </a:lnSpc>
              <a:buClr>
                <a:srgbClr val="1E4BD2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latin typeface="VTB Omega UI"/>
              </a:rPr>
              <a:t>Материал основан на </a:t>
            </a:r>
            <a:r>
              <a:rPr lang="ru-RU" sz="1200" dirty="0">
                <a:latin typeface="VTB Omega UI Medium"/>
              </a:rPr>
              <a:t>реальных бизнес-задачах</a:t>
            </a:r>
            <a:r>
              <a:rPr lang="ru-RU" sz="1200" dirty="0">
                <a:latin typeface="VTB Omega UI"/>
              </a:rPr>
              <a:t> из практики Банка</a:t>
            </a:r>
          </a:p>
          <a:p>
            <a:pPr marL="171450" indent="-171450" algn="l">
              <a:lnSpc>
                <a:spcPts val="1450"/>
              </a:lnSpc>
              <a:spcBef>
                <a:spcPts val="500"/>
              </a:spcBef>
              <a:buClr>
                <a:srgbClr val="1E4BD2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latin typeface="VTB Omega UI Medium"/>
              </a:rPr>
              <a:t>Круглосуточный доступ</a:t>
            </a:r>
            <a:r>
              <a:rPr lang="ru-RU" sz="1200" dirty="0">
                <a:latin typeface="VTB Omega UI"/>
              </a:rPr>
              <a:t> к материалам курсов на онлайн-платформе academy.vtb.ru</a:t>
            </a:r>
          </a:p>
          <a:p>
            <a:pPr marL="171450" indent="-171450" algn="l">
              <a:lnSpc>
                <a:spcPts val="1450"/>
              </a:lnSpc>
              <a:spcBef>
                <a:spcPts val="500"/>
              </a:spcBef>
              <a:buClr>
                <a:srgbClr val="1E4BD2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latin typeface="VTB Omega UI"/>
              </a:rPr>
              <a:t>Спикеры — </a:t>
            </a:r>
            <a:r>
              <a:rPr lang="ru-RU" sz="1200" dirty="0">
                <a:latin typeface="VTB Omega UI Medium"/>
              </a:rPr>
              <a:t>лидеры ВТБ</a:t>
            </a:r>
            <a:r>
              <a:rPr lang="ru-RU" sz="1200" dirty="0">
                <a:latin typeface="VTB Omega UI"/>
              </a:rPr>
              <a:t> с международными квалификациями </a:t>
            </a:r>
            <a:r>
              <a:rPr lang="ru-RU" sz="1200" dirty="0">
                <a:latin typeface="VTB Omega UI Medium"/>
              </a:rPr>
              <a:t>ACCA, CIMA</a:t>
            </a:r>
          </a:p>
          <a:p>
            <a:pPr marL="171450" indent="-171450" algn="l">
              <a:lnSpc>
                <a:spcPts val="1450"/>
              </a:lnSpc>
              <a:spcBef>
                <a:spcPts val="500"/>
              </a:spcBef>
              <a:buClr>
                <a:srgbClr val="1E4BD2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latin typeface="VTB Omega UI Medium"/>
              </a:rPr>
              <a:t>Сертификат о прохождении онлайн-интенсива</a:t>
            </a:r>
            <a:r>
              <a:rPr lang="ru-RU" sz="1200" dirty="0">
                <a:latin typeface="VTB Omega UI"/>
              </a:rPr>
              <a:t> для завершивших программу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86306-239C-A36B-1CCD-46795220046A}"/>
              </a:ext>
            </a:extLst>
          </p:cNvPr>
          <p:cNvSpPr txBox="1"/>
          <p:nvPr/>
        </p:nvSpPr>
        <p:spPr>
          <a:xfrm>
            <a:off x="-304800" y="211755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US"/>
          </a:p>
        </p:txBody>
      </p:sp>
    </p:spTree>
    <p:extLst>
      <p:ext uri="{BB962C8B-B14F-4D97-AF65-F5344CB8AC3E}">
        <p14:creationId xmlns:p14="http://schemas.microsoft.com/office/powerpoint/2010/main" val="1976818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85A43172-339A-4CCC-86BB-D02E8A58B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normAutofit fontScale="90000"/>
          </a:bodyPr>
          <a:lstStyle/>
          <a:p>
            <a:pPr>
              <a:lnSpc>
                <a:spcPts val="4428"/>
              </a:lnSpc>
            </a:pPr>
            <a:r>
              <a:rPr sz="4000">
                <a:solidFill>
                  <a:srgbClr val="000000"/>
                </a:solidFill>
              </a:rPr>
              <a:t>Контакты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8A1335D-0971-44DA-9021-3CE509D3773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E9794C1B-C881-42F5-9B4F-0D6130829943}" type="slidenum">
              <a:rPr lang="ru-RU" smtClean="0"/>
              <a:pPr>
                <a:defRPr/>
              </a:pPr>
              <a:t>16</a:t>
            </a:fld>
            <a:endParaRPr lang="ru-RU" dirty="0"/>
          </a:p>
        </p:txBody>
      </p:sp>
      <p:pic>
        <p:nvPicPr>
          <p:cNvPr id="10" name="Picture 9" descr="card_01.jpg"/>
          <p:cNvPicPr>
            <a:picLocks noChangeAspect="1"/>
          </p:cNvPicPr>
          <p:nvPr/>
        </p:nvPicPr>
        <p:blipFill>
          <a:blip r:embed="rId2"/>
          <a:srcRect t="8195" b="12292"/>
          <a:stretch>
            <a:fillRect/>
          </a:stretch>
        </p:blipFill>
        <p:spPr>
          <a:xfrm>
            <a:off x="381000" y="1371600"/>
            <a:ext cx="11430000" cy="2419350"/>
          </a:xfrm>
          <a:prstGeom prst="roundRect">
            <a:avLst>
              <a:gd name="adj" fmla="val 3149"/>
            </a:avLst>
          </a:prstGeom>
        </p:spPr>
      </p:pic>
      <p:sp>
        <p:nvSpPr>
          <p:cNvPr id="11" name="Текст"/>
          <p:cNvSpPr txBox="1"/>
          <p:nvPr/>
        </p:nvSpPr>
        <p:spPr>
          <a:xfrm>
            <a:off x="635000" y="1727200"/>
            <a:ext cx="109220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sz="2800">
                <a:solidFill>
                  <a:srgbClr val="FFFFFF"/>
                </a:solidFill>
                <a:latin typeface="VTB Omega UI"/>
              </a:rPr>
              <a:t>Иван Иванов</a:t>
            </a:r>
          </a:p>
        </p:txBody>
      </p:sp>
      <p:sp>
        <p:nvSpPr>
          <p:cNvPr id="12" name="Текст"/>
          <p:cNvSpPr txBox="1"/>
          <p:nvPr/>
        </p:nvSpPr>
        <p:spPr>
          <a:xfrm>
            <a:off x="635000" y="2159000"/>
            <a:ext cx="10922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800">
                <a:solidFill>
                  <a:srgbClr val="FFFFFF"/>
                </a:solidFill>
                <a:latin typeface="VTB Omega UI"/>
              </a:rPr>
              <a:t>Директор по управлению проектами</a:t>
            </a:r>
          </a:p>
        </p:txBody>
      </p:sp>
      <p:grpSp>
        <p:nvGrpSpPr>
          <p:cNvPr id="13" name="Иконка mail"/>
          <p:cNvGrpSpPr/>
          <p:nvPr/>
        </p:nvGrpSpPr>
        <p:grpSpPr>
          <a:xfrm>
            <a:off x="635000" y="3281333"/>
            <a:ext cx="304800" cy="257233"/>
            <a:chOff x="5439458" y="2075704"/>
            <a:chExt cx="613854" cy="518058"/>
          </a:xfrm>
        </p:grpSpPr>
        <p:grpSp>
          <p:nvGrpSpPr>
            <p:cNvPr id="99" name="Группа 98">
              <a:extLst>
                <a:ext uri="{FF2B5EF4-FFF2-40B4-BE49-F238E27FC236}">
                  <a16:creationId xmlns:a16="http://schemas.microsoft.com/office/drawing/2014/main" id="{49513053-C561-45B2-AA5B-998E409C392C}"/>
                </a:ext>
              </a:extLst>
            </p:cNvPr>
            <p:cNvGrpSpPr/>
            <p:nvPr/>
          </p:nvGrpSpPr>
          <p:grpSpPr>
            <a:xfrm>
              <a:off x="5439458" y="2075704"/>
              <a:ext cx="613854" cy="518058"/>
              <a:chOff x="5439458" y="2075704"/>
              <a:chExt cx="613854" cy="518058"/>
            </a:xfrm>
          </p:grpSpPr>
          <p:pic>
            <p:nvPicPr>
              <p:cNvPr id="22" name="Rectangle 9 (Stroke) [Figma I9887:101621;7965:11749]" descr="Rectangle 9 (Stroke). градиент"/>
              <p:cNvPicPr>
                <a:picLocks noChangeAspect="1"/>
              </p:cNvPicPr>
              <p:nvPr/>
            </p:nvPicPr>
            <p:blipFill>
              <a:blip r:embed="rId3">
                <a:lum bright="100000"/>
              </a:blip>
              <a:stretch>
                <a:fillRect/>
              </a:stretch>
            </p:blipFill>
            <p:spPr>
              <a:xfrm>
                <a:off x="5443011" y="2109834"/>
                <a:ext cx="525235" cy="237375"/>
              </a:xfrm>
              <a:prstGeom prst="rect">
                <a:avLst/>
              </a:prstGeom>
            </p:spPr>
          </p:pic>
          <p:pic>
            <p:nvPicPr>
              <p:cNvPr id="23" name="Rectangle 8 (Stroke) [Figma I9887:101621;7965:11750]" descr="Rectangle 8 (Stroke). векторный контур"/>
              <p:cNvPicPr>
                <a:picLocks noChangeAspect="1"/>
              </p:cNvPicPr>
              <p:nvPr/>
            </p:nvPicPr>
            <p:blipFill>
              <a:blip r:embed="rId4">
                <a:lum bright="100000"/>
              </a:blip>
              <a:stretch>
                <a:fillRect/>
              </a:stretch>
            </p:blipFill>
            <p:spPr>
              <a:xfrm>
                <a:off x="5439458" y="2075704"/>
                <a:ext cx="613854" cy="518058"/>
              </a:xfrm>
              <a:prstGeom prst="rect">
                <a:avLst/>
              </a:prstGeom>
            </p:spPr>
          </p:pic>
        </p:grpSp>
      </p:grpSp>
      <p:sp>
        <p:nvSpPr>
          <p:cNvPr id="100" name="Текст"/>
          <p:cNvSpPr txBox="1"/>
          <p:nvPr/>
        </p:nvSpPr>
        <p:spPr>
          <a:xfrm>
            <a:off x="1066800" y="3282950"/>
            <a:ext cx="3302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600">
                <a:solidFill>
                  <a:srgbClr val="FFFFFF"/>
                </a:solidFill>
                <a:latin typeface="VTB Omega UI"/>
              </a:rPr>
              <a:t>ivan.ivanov@example.com</a:t>
            </a:r>
          </a:p>
        </p:txBody>
      </p:sp>
      <p:sp>
        <p:nvSpPr>
          <p:cNvPr id="101" name="Карточка"/>
          <p:cNvSpPr/>
          <p:nvPr/>
        </p:nvSpPr>
        <p:spPr>
          <a:xfrm>
            <a:off x="381000" y="3917950"/>
            <a:ext cx="11430000" cy="2419350"/>
          </a:xfrm>
          <a:prstGeom prst="roundRect">
            <a:avLst>
              <a:gd name="adj" fmla="val 3149"/>
            </a:avLst>
          </a:prstGeom>
          <a:solidFill>
            <a:srgbClr val="EA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" name="Текст"/>
          <p:cNvSpPr txBox="1"/>
          <p:nvPr/>
        </p:nvSpPr>
        <p:spPr>
          <a:xfrm>
            <a:off x="635000" y="4273550"/>
            <a:ext cx="109220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sz="2800">
                <a:solidFill>
                  <a:srgbClr val="1C1C1C"/>
                </a:solidFill>
                <a:latin typeface="VTB Omega UI"/>
              </a:rPr>
              <a:t>Иван Иванов</a:t>
            </a:r>
          </a:p>
        </p:txBody>
      </p:sp>
      <p:sp>
        <p:nvSpPr>
          <p:cNvPr id="103" name="Текст"/>
          <p:cNvSpPr txBox="1"/>
          <p:nvPr/>
        </p:nvSpPr>
        <p:spPr>
          <a:xfrm>
            <a:off x="635000" y="4705350"/>
            <a:ext cx="10922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800">
                <a:solidFill>
                  <a:srgbClr val="4A5361"/>
                </a:solidFill>
                <a:latin typeface="VTB Omega UI"/>
              </a:rPr>
              <a:t>Менеджер проектов</a:t>
            </a:r>
          </a:p>
        </p:txBody>
      </p:sp>
      <p:grpSp>
        <p:nvGrpSpPr>
          <p:cNvPr id="104" name="Иконка mail"/>
          <p:cNvGrpSpPr/>
          <p:nvPr/>
        </p:nvGrpSpPr>
        <p:grpSpPr>
          <a:xfrm>
            <a:off x="635000" y="5827683"/>
            <a:ext cx="304800" cy="257233"/>
            <a:chOff x="5439458" y="2075704"/>
            <a:chExt cx="613854" cy="518058"/>
          </a:xfrm>
        </p:grpSpPr>
        <p:grpSp>
          <p:nvGrpSpPr>
            <p:cNvPr id="105" name="Группа 98">
              <a:extLst>
                <a:ext uri="{FF2B5EF4-FFF2-40B4-BE49-F238E27FC236}">
                  <a16:creationId xmlns:a16="http://schemas.microsoft.com/office/drawing/2014/main" id="{49513053-C561-45B2-AA5B-998E409C392C}"/>
                </a:ext>
              </a:extLst>
            </p:cNvPr>
            <p:cNvGrpSpPr/>
            <p:nvPr/>
          </p:nvGrpSpPr>
          <p:grpSpPr>
            <a:xfrm>
              <a:off x="5439458" y="2075704"/>
              <a:ext cx="613854" cy="518058"/>
              <a:chOff x="5439458" y="2075704"/>
              <a:chExt cx="613854" cy="518058"/>
            </a:xfrm>
          </p:grpSpPr>
          <p:pic>
            <p:nvPicPr>
              <p:cNvPr id="106" name="Rectangle 9 (Stroke) [Figma I9887:101621;7965:11749]" descr="Rectangle 9 (Stroke). градиент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443011" y="2109834"/>
                <a:ext cx="525235" cy="237375"/>
              </a:xfrm>
              <a:prstGeom prst="rect">
                <a:avLst/>
              </a:prstGeom>
            </p:spPr>
          </p:pic>
          <p:pic>
            <p:nvPicPr>
              <p:cNvPr id="107" name="Rectangle 8 (Stroke) [Figma I9887:101621;7965:11750]" descr="Rectangle 8 (Stroke). векторный контур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439458" y="2075704"/>
                <a:ext cx="613854" cy="518058"/>
              </a:xfrm>
              <a:prstGeom prst="rect">
                <a:avLst/>
              </a:prstGeom>
            </p:spPr>
          </p:pic>
        </p:grpSp>
      </p:grpSp>
      <p:sp>
        <p:nvSpPr>
          <p:cNvPr id="108" name="Текст"/>
          <p:cNvSpPr txBox="1"/>
          <p:nvPr/>
        </p:nvSpPr>
        <p:spPr>
          <a:xfrm>
            <a:off x="1066800" y="5829300"/>
            <a:ext cx="3302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600">
                <a:solidFill>
                  <a:srgbClr val="0A2896"/>
                </a:solidFill>
                <a:latin typeface="VTB Omega UI"/>
              </a:rPr>
              <a:t>ivan.ivanov@example.com</a:t>
            </a:r>
          </a:p>
        </p:txBody>
      </p:sp>
    </p:spTree>
    <p:extLst>
      <p:ext uri="{BB962C8B-B14F-4D97-AF65-F5344CB8AC3E}">
        <p14:creationId xmlns:p14="http://schemas.microsoft.com/office/powerpoint/2010/main" val="3730791419"/>
      </p:ext>
    </p:extLst>
  </p:cSld>
  <p:clrMapOvr>
    <a:masterClrMapping/>
  </p:clrMapOvr>
</p:sld>
</file>

<file path=ppt/theme/theme1.xml><?xml version="1.0" encoding="utf-8"?>
<a:theme xmlns:a="http://schemas.openxmlformats.org/drawingml/2006/main" name="1_ВТБ Образование">
  <a:themeElements>
    <a:clrScheme name="01_ВТБ Образование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1E4BD2"/>
      </a:accent1>
      <a:accent2>
        <a:srgbClr val="00AAFF"/>
      </a:accent2>
      <a:accent3>
        <a:srgbClr val="0A2896"/>
      </a:accent3>
      <a:accent4>
        <a:srgbClr val="00AAFF"/>
      </a:accent4>
      <a:accent5>
        <a:srgbClr val="DCE0EB"/>
      </a:accent5>
      <a:accent6>
        <a:srgbClr val="F4F6FA"/>
      </a:accent6>
      <a:hlink>
        <a:srgbClr val="F4F6FA"/>
      </a:hlink>
      <a:folHlink>
        <a:srgbClr val="DCE0EB"/>
      </a:folHlink>
    </a:clrScheme>
    <a:fontScheme name="Office">
      <a:majorFont>
        <a:latin typeface="VTB Omega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TB Omega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ВТБ Образование [1793180042970]">
  <a:themeElements>
    <a:clrScheme name="01_ВТБ Образование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1E4BD2"/>
      </a:accent1>
      <a:accent2>
        <a:srgbClr val="00AAFF"/>
      </a:accent2>
      <a:accent3>
        <a:srgbClr val="0A2896"/>
      </a:accent3>
      <a:accent4>
        <a:srgbClr val="00AAFF"/>
      </a:accent4>
      <a:accent5>
        <a:srgbClr val="DCE0EB"/>
      </a:accent5>
      <a:accent6>
        <a:srgbClr val="F4F6FA"/>
      </a:accent6>
      <a:hlink>
        <a:srgbClr val="F4F6FA"/>
      </a:hlink>
      <a:folHlink>
        <a:srgbClr val="DCE0EB"/>
      </a:folHlink>
    </a:clrScheme>
    <a:fontScheme name="Office">
      <a:majorFont>
        <a:latin typeface="VTB Omega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TB Omega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VTB Omega U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TB Omega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VTB Omega U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TB Omega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2842</TotalTime>
  <Words>1865</Words>
  <Application>Microsoft Macintosh PowerPoint</Application>
  <PresentationFormat>Широкоэкранный</PresentationFormat>
  <Paragraphs>239</Paragraphs>
  <Slides>16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VTB Omega UI</vt:lpstr>
      <vt:lpstr>VTB Omega UI Medium</vt:lpstr>
      <vt:lpstr>1_ВТБ Образование</vt:lpstr>
      <vt:lpstr>1_ВТБ Образование [1793180042970]</vt:lpstr>
      <vt:lpstr>Школа отчётности и финансовых данных 2.0: образовательная программа для стажёров банка в 2027 г.</vt:lpstr>
      <vt:lpstr>Изменения в трудовом законодательстве РФ приводят к трансформации модели стажировки в банке в 2027 году</vt:lpstr>
      <vt:lpstr>Школа отчетности и финансовых данных — совместный образовательный проект ВТБ Образование и Финансового департамента</vt:lpstr>
      <vt:lpstr>Спикеры ШОиФД — лидеры Финансового департамента и других подразделений ВТБ</vt:lpstr>
      <vt:lpstr>Слушатели высоко оценивают содержание, платформу и поддержку Школы отчётности и финансовых данных</vt:lpstr>
      <vt:lpstr>Опыт команды ВТБ Образование позволяет выстраивать целостный образовательный продукт из лекций спикеров ВТБ</vt:lpstr>
      <vt:lpstr>Базовый формат:</vt:lpstr>
      <vt:lpstr>Расширенный формат:</vt:lpstr>
      <vt:lpstr>Принятие решения в 4 квартале 2026 г. позволят запустить образовательную программу в 2 квартале 2027 г.</vt:lpstr>
      <vt:lpstr>Приложение</vt:lpstr>
      <vt:lpstr>МСФО: базовый уровень</vt:lpstr>
      <vt:lpstr>МСФО: финансовые инструменты</vt:lpstr>
      <vt:lpstr>Управленческая отчетность в банках</vt:lpstr>
      <vt:lpstr>Цифровые финансовые активы: банковский взгляд</vt:lpstr>
      <vt:lpstr>Финансовое моделирование в банках</vt:lpstr>
      <vt:lpstr>Контакты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Эталон ШОиФД 2.0 (обезличен)</dc:title>
  <dc:subject>Editable export from Figma</dc:subject>
  <dc:creator/>
  <cp:lastModifiedBy/>
  <cp:revision>1</cp:revision>
  <dcterms:created xsi:type="dcterms:W3CDTF">2026-08-18T12:20:00Z</dcterms:created>
  <dcterms:modified xsi:type="dcterms:W3CDTF">2026-10-28T21:24:55Z</dcterms:modified>
</cp:coreProperties>
</file>